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  <p:sldMasterId id="2147483660" r:id="rId2"/>
  </p:sldMasterIdLst>
  <p:notesMasterIdLst>
    <p:notesMasterId r:id="rId24"/>
  </p:notesMasterIdLst>
  <p:sldIdLst>
    <p:sldId id="260" r:id="rId3"/>
    <p:sldId id="278" r:id="rId29"/>
    <p:sldId id="279" r:id="rId30"/>
    <p:sldId id="280" r:id="rId31"/>
    <p:sldId id="288" r:id="rId39"/>
    <p:sldId id="287" r:id="rId38"/>
    <p:sldId id="281" r:id="rId32"/>
    <p:sldId id="282" r:id="rId33"/>
    <p:sldId id="291" r:id="rId42"/>
    <p:sldId id="283" r:id="rId34"/>
    <p:sldId id="284" r:id="rId35"/>
    <p:sldId id="292" r:id="rId43"/>
    <p:sldId id="285" r:id="rId36"/>
    <p:sldId id="289" r:id="rId40"/>
    <p:sldId id="290" r:id="rId41"/>
    <p:sldId id="286" r:id="rId3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ED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6014" autoAdjust="0"/>
    <p:restoredTop sz="94660"/>
  </p:normalViewPr>
  <p:slideViewPr>
    <p:cSldViewPr snapToGrid="0" showGuides="1">
      <p:cViewPr varScale="1">
        <p:scale>
          <a:sx n="71" d="100"/>
          <a:sy n="71" d="100"/>
        </p:scale>
        <p:origin x="756" y="66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DC01305-19E7-4782-B941-09E80DE4569E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D73E0B-056B-4491-865D-67CF282AB9E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4868310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Добрый день! Меня зовут Григорий Чеботарь. Тема моего доклада: безопасность при эксплуатации альтернативной энергетики, а именно солнечных панелей и ветряков, и риски для персонала. Я покажу, где на таких объектах опасно, как защититься, и разберу плакат: схему солнечной станции, опасности при обслуживании и знаки безопасности.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Возобновляемая энергетика быстро растёт: по оценкам, около 30 % мировой выработки электроэнергии приходится на возобновляемые источники, если считать гидроэнергетику. Но «зелёная» не значит безопасная. В цепях солнечных станций напряжение постоянного тока достигает 1500 вольт. Башня ветроустановки поднимается на 80–120 метров. Оборудование служит 25–30 лет, и всё это время его обслуживают люди. Поэтому в докладе: карта рисков, солнечные станции, ветроустановки, электробезопасность, работа на высоте, средства защиты, знаки и действия при аварии.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карта рисков по типам объектов. Солнечная станция: постоянное напряжение до 1500 В, дуговой разряд, пожар, жара и падение с крыши. Главная мера: отключить, проверить отсутствие напряжения и использовать страховку. Ветроустановка: высота, вращающиеся части, обледенение лопастей, молния и пожар в гондоле. Меры: остановить и заблокировать установку, допуск к работе на высоте, запретная зона. Накопители энергии: литиевые аккумуляторы могут гореть и выделять токсичный дым, поэтому нужны контроль температуры и вентиляция. Подстанции и кабели: высокое напряжение, шаговое напряжение и обратное питание. Вывод: опасность создают электричество, высота и огонь, а не сама технология.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Особенность солнечной станции в том, что панель нельзя выключить: пока на неё падает свет, она вырабатывает напряжение. Выключатель отключает только часть цепи. Второе: на постоянном токе дуга при плохом контакте горит устойчиво и быстро приводит к пожару. Третье: работы на крышах и полях связаны с падением, скользкой поверхностью, острыми кромками рам и жарой. Четвёртое: электроустановку под напряжением нельзя тушить водой. Справа типичные параметры: напряжение строки 600–1500 В, нагрев модуля на солнце до 70–85 градусов, срок службы 25–30 лет. Точные значения зависят от проекта и указаны в паспорте.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Ветроустановка: башня 80–120 метров, ротор диаметром 100–170 метров, скорость конца лопасти до 300 километров в час. Рабочее место находится в тесной гондоле наверху. Опасности: падение с высоты, вращающиеся части, внезапный запуск, куски льда с лопастей, молния и пожар в гондоле, где путь эвакуации один. Меры: остановить и заблокировать установку до начала работ, работать только по допуску и вдвоём, не приближаться к башне при обледенении и не подниматься при грозе и сильном ветре.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Накопители энергии. Литиевые аккумуляторы опасны тепловым разгоном: перегрев, перезаряд или повреждение запускают цепную реакцию, ячейки загораются одна за другой, а батарея может вспыхнуть повторно уже после тушения. При горении выделяются едкие и горючие газы, в том числе фтороводород, поэтому без изолирующих средств защиты дыхания в помещение не входят. Отключённая батарея остаётся под напряжением, а короткое замыкание даёт огромные токи и дугу. Меры: контроль температуры и напряжения модулей, автоматическое пожаротушение, разделение секций, дистанция между контейнерами, план реагирования и обучение.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Электротравмы самые тяжёлые. Риски: дуговой разряд на постоянном токе, обратное питание из сети или от панелей, остаточный заряд конденсаторов инверторов, влага и повреждённая изоляция. Меры: наряд-допуск, отключение и блокировка с замком и биркой на каждом разъединителе, проверка отсутствия напряжения прибором и правильные СИЗ: диэлектрический инструмент и перчатки. Золотое правило: считать всё находящимся под напряжением, пока вы сами не убедились в обратном.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Работа на высоте включает три задачи. Первая: предотвратить падение. Это ограждения, анкерные линии, привязь с двумя лонжами и осмотр СИЗ перед подъёмом. Вторая: подготовить спасение, потому что повисание в привязи опасно уже через несколько минут. Нужны набор для эвакуации, обученная группа и план спасения для каждого объекта. Третья: учесть погоду. При сильном ветре, грозе, льде и жаре подъём запрещают в пределах, указанных в инструкции. Допуск к высоте означает обучение, медосмотр, исправные СИЗ и страхующего напарника.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Допуск персонала. Для работы с электроустановками нужна группа по электробезопасности, от второй до пятой, она присваивается по результатам проверки знаний. Для работ на высоте нужны обучение, медосмотр и группа допуска: первая, вторая или третья. Инструктажи бывают вводный, первичный, повторный, внеплановый и целевой перед опасными работами. В ветроэнергетике применяют курсы GWO по высоте, спасению с башни, первой помощи и пожарной безопасности. Периодические медосмотры исключают работу при противопоказаниях.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таблице СИЗ по частям тела. Голова: каска с подбородочным ремнём. Падение: страховочная привязь, лонжи и анкерные точки. Руки: диэлектрические перчатки, а для рам панелей ещё и перчатки от пореза. Ноги: диэлектрические боты или нескользящая обувь с жёстким носком. Лицо и тело: щиток или очки от дуги и огнестойкая одежда. Погода: головной убор, очки от солнца и запас воды. Внизу про знаки по ГОСТ Р 12.4.026: жёлтые предупреждают, синие предписывают, красные запрещают, зелёные показывают путь эвакуации.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Безопасная работа идёт по порядку. Первое: наряд-допуск, инструктаж, ответственный и страхующий. Второе: оценка условий: ветер, гроза, обледенение, жара, освещение. Третье: отключение и блокировка, на разъединители вешают замок и бирку. Четвёртое: проверка прибором, что напряжения нет. Помните, что панели днём остаются под напряжением. Пятое: выполнение работ вдвоём, со связью и страховкой. Шестое: закрытие наряда: собрать людей, снять блокировки и включать только по команде ответственного.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Типичные ошибки. Первое: работа без отключения и проверки напряжения ведёт к поражению током и дуге. Второе: снятие чужой блокировки на минуту может подать напряжение на людей, поэтому блокировку снимает только тот, кто её установил. Третье: работа в одиночку, когда некому помочь. Четвёртое: отказ от страховки ненадолго, а падение происходит именно в этот момент. Пятое: спешка и усталость приводят к пропуску шагов, помогают планирование времени и чек-лист. Шестое: игнорирование погоды, поэтому смотрят прогноз и мерят ветер.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Плакат собирает главное. Слева состав солнечной станции и опасный узел на каждом этапе: панели с постоянным током до 1500 вольт, инвертор с зарядом конденсаторов, трансформатор с высоким напряжением и подстанция с обратным питанием. В центре четыре группы опасностей при работах: падение, электричество, огонь и погода. Справа знаки безопасности четырёх цветов: предупреждающие, предписывающие, запрещающие и эвакуационные. Внизу девиз: отключи, проверь, заблокируй, пристегнись.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При аварии. Поражение током: обесточить цепь или отстранить человека предметом из диэлектрика, не прикасаться к пострадавшему под напряжением, при отсутствии дыхания начать реанимацию. При падении без необходимости не перемещать пострадавшего. Пожар: сообщить диспетчеру и позвонить в 112, электроустановку под напряжением водой не тушить, от литиевых батарей держаться дальше из-за дыма, эвакуироваться по указанному пути. Диспетчеру назвать объект, место и число пострадавших.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Итоги. Первое: главные риски на объектах ВИЭ: электричество, высота и огонь. Второе: постоянный ток на панелях опасен, пока на них падает свет. Третье: работы только по наряду, с блокировкой и проверкой отсутствия напряжения. Четвёртое: высота требует допуска, СИЗ и плана спасения. Пятое: нужно знать знаки безопасности и порядок действий при аварии. Чистая энергия безопасна, когда безопасна работа с ней. Спасибо за внимание!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Использованы правила по охране труда при эксплуатации электроустановок (приказ 903н), правила по охране труда при работе на высоте (приказ 782н), ГОСТ Р 12.4.026-2015 по знакам безопасности, международные стандарты МЭК и требования GWO к обучению, а также инструкции производителей. Числовые параметры ориентировочные и зависят от конкретного объекта.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776599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095043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643887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8035218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5939105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4643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21145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840364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8957960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83287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84094276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 slide" type="blank">
  <p:cSld name="Blank slide">
    <p:spTree>
      <p:nvGrpSpPr>
        <p:cNvPr id="1" name="Shape 19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115790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>
  <p:cSld name="Title only">
    <p:spTree>
      <p:nvGrpSpPr>
        <p:cNvPr id="1" name="Shape 19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6" name="Google Shape;1996;p34"/>
          <p:cNvSpPr txBox="1">
            <a:spLocks noGrp="1"/>
          </p:cNvSpPr>
          <p:nvPr>
            <p:ph type="title"/>
          </p:nvPr>
        </p:nvSpPr>
        <p:spPr>
          <a:xfrm>
            <a:off x="1397800" y="431800"/>
            <a:ext cx="9396400" cy="643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40858239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ACC429D-32CD-436D-B3F7-74D0C90C7685}" type="datetimeFigureOut">
              <a:rPr lang="ru-RU" smtClean="0"/>
              <a:t>29.08.2025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AF7E73-0034-42F3-845B-2D45F76D957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408050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2A47"/>
        </a:solidFill>
        <a:effectLst/>
      </p:bgPr>
    </p:bg>
    <p:spTree>
      <p:nvGrpSpPr>
        <p:cNvPr id="1" name="Shape 19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2" name="Google Shape;1992;p32"/>
          <p:cNvSpPr txBox="1">
            <a:spLocks noGrp="1"/>
          </p:cNvSpPr>
          <p:nvPr>
            <p:ph type="title"/>
          </p:nvPr>
        </p:nvSpPr>
        <p:spPr>
          <a:xfrm>
            <a:off x="1424133" y="1244600"/>
            <a:ext cx="9396400" cy="64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1pPr>
            <a:lvl2pPr lvl="1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2pPr>
            <a:lvl3pPr lvl="2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3pPr>
            <a:lvl4pPr lvl="3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4pPr>
            <a:lvl5pPr lvl="4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5pPr>
            <a:lvl6pPr lvl="5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6pPr>
            <a:lvl7pPr lvl="6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7pPr>
            <a:lvl8pPr lvl="7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8pPr>
            <a:lvl9pPr lvl="8" algn="ctr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400"/>
              <a:buNone/>
              <a:defRPr sz="2400"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1993" name="Google Shape;1993;p32"/>
          <p:cNvSpPr txBox="1">
            <a:spLocks noGrp="1"/>
          </p:cNvSpPr>
          <p:nvPr>
            <p:ph type="body" idx="1"/>
          </p:nvPr>
        </p:nvSpPr>
        <p:spPr>
          <a:xfrm>
            <a:off x="1424133" y="2260600"/>
            <a:ext cx="9396400" cy="333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lvl="1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lvl="2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lvl="3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lvl="4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lvl="5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lvl="6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●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lvl="7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○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lvl="8" indent="-298450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5D74"/>
              </a:buClr>
              <a:buSzPts val="1100"/>
              <a:buFont typeface="Proxima Nova"/>
              <a:buChar char="■"/>
              <a:defRPr sz="1100">
                <a:solidFill>
                  <a:srgbClr val="435D74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882743138"/>
      </p:ext>
    </p:extLst>
  </p:cSld>
  <p:clrMap bg1="lt1" tx1="dk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867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0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1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3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4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6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9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19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18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Relationship Id="rId6" Type="http://schemas.openxmlformats.org/officeDocument/2006/relationships/image" Target="../media/image19.png"/><Relationship Id="rId7" Type="http://schemas.openxmlformats.org/officeDocument/2006/relationships/image" Target="../media/image20.png"/><Relationship Id="rId8" Type="http://schemas.openxmlformats.org/officeDocument/2006/relationships/image" Target="../media/image21.png"/><Relationship Id="rId9" Type="http://schemas.openxmlformats.org/officeDocument/2006/relationships/image" Target="../media/image22.png"/><Relationship Id="rId10" Type="http://schemas.openxmlformats.org/officeDocument/2006/relationships/image" Target="../media/image23.png"/><Relationship Id="rId11" Type="http://schemas.openxmlformats.org/officeDocument/2006/relationships/image" Target="../media/image3.png"/><Relationship Id="rId12" Type="http://schemas.openxmlformats.org/officeDocument/2006/relationships/notesSlide" Target="../notesSlides/notesSlide2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8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2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Прямоугольник 1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ru-RU" sz="2400">
                <a:latin typeface="Times New Roman" panose="02020603050405020304" pitchFamily="18" charset="0"/>
                <a:cs typeface="Times New Roman" panose="02020603050405020304" pitchFamily="18" charset="0"/>
              </a:rPr>
              <a:t>ПРЕЗЕНТАЦИЯ</a:t>
            </a:r>
            <a:r>
              <a:rPr lang="ru-RU"/>
              <a:t> </a:t>
            </a:r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по дисциплине</a:t>
            </a:r>
          </a:p>
          <a:p>
            <a:pPr algn="ctr"/>
            <a:r>
              <a:rPr lang="ru-RU"/>
              <a:t>«Безопасность жизнедеятельности»</a:t>
            </a:r>
          </a:p>
          <a:p>
            <a:pPr algn="ctr"/>
            <a:endParaRPr lang="ru-RU"/>
          </a:p>
          <a:p>
            <a:pPr algn="ctr"/>
            <a:r>
              <a:rPr lang="ru-RU">
                <a:latin typeface="Times New Roman" panose="02020603050405020304" pitchFamily="18" charset="0"/>
                <a:cs typeface="Times New Roman" panose="02020603050405020304" pitchFamily="18" charset="0"/>
              </a:rPr>
              <a:t>на тему</a:t>
            </a:r>
          </a:p>
          <a:p>
            <a:pPr algn="ctr"/>
            <a:r>
              <a:rPr lang="ru-RU"/>
              <a:t>«Безопасность при эксплуатации альтернативной энергетики: солнечные панели, ветряки, риски для персонала»</a:t>
            </a:r>
          </a:p>
          <a:p>
            <a:pPr algn="ctr"/>
            <a:endParaRPr lang="ru-RU" dirty="0"/>
          </a:p>
        </p:txBody>
      </p:sp>
      <p:pic>
        <p:nvPicPr>
          <p:cNvPr id="6" name="Рисунок 5"/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5972" y="192523"/>
            <a:ext cx="7617667" cy="2381842"/>
          </a:xfrm>
          <a:prstGeom prst="rect">
            <a:avLst/>
          </a:prstGeom>
        </p:spPr>
      </p:pic>
      <p:pic>
        <p:nvPicPr>
          <p:cNvPr id="4" name="Рисунок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19543" y="544078"/>
            <a:ext cx="4614297" cy="1770191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C46193D2-C5AA-C648-1208-9618951538E2}"/>
              </a:ext>
            </a:extLst>
          </p:cNvPr>
          <p:cNvSpPr txBox="1"/>
          <p:nvPr/>
        </p:nvSpPr>
        <p:spPr>
          <a:xfrm>
            <a:off x="535972" y="4578588"/>
            <a:ext cx="6101696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Выполнил: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студент группы 202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Чеботарь Григорий</a:t>
            </a:r>
          </a:p>
          <a:p>
            <a:r>
              <a:rPr lang="ru-RU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/>
            </a:r>
            <a:endParaRPr lang="ru-RU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4513118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 advClick="0" advTm="10000">
        <p:fade/>
      </p:transition>
    </mc:Choice>
    <mc:Fallback xmlns="">
      <p:transition spd="med" advClick="0" advTm="10000">
        <p:fade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1500" fill="hold"/>
                                        <p:tgtEl>
                                          <p:spTgt spid="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Почему безопасность «зелёной» энергетики важна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Карточка 1"/>
          <p:cNvSpPr/>
          <p:nvPr/>
        </p:nvSpPr>
        <p:spPr>
          <a:xfrm>
            <a:off x="59436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Показатель 1"/>
          <p:cNvSpPr txBox="1"/>
          <p:nvPr/>
        </p:nvSpPr>
        <p:spPr>
          <a:xfrm>
            <a:off x="68580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≈ 30 %</a:t>
            </a:r>
          </a:p>
        </p:txBody>
      </p:sp>
      <p:sp>
        <p:nvSpPr>
          <p:cNvPr id="12" name="Метка 1"/>
          <p:cNvSpPr/>
          <p:nvPr/>
        </p:nvSpPr>
        <p:spPr>
          <a:xfrm>
            <a:off x="73152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Описание 1"/>
          <p:cNvSpPr txBox="1"/>
          <p:nvPr/>
        </p:nvSpPr>
        <p:spPr>
          <a:xfrm>
            <a:off x="68580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мировой выработки электроэнергии приходится на возобновляемые источники (включая гидро), и доля растёт</a:t>
            </a:r>
          </a:p>
        </p:txBody>
      </p:sp>
      <p:sp>
        <p:nvSpPr>
          <p:cNvPr id="14" name="Карточка 2"/>
          <p:cNvSpPr/>
          <p:nvPr/>
        </p:nvSpPr>
        <p:spPr>
          <a:xfrm>
            <a:off x="347472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Показатель 2"/>
          <p:cNvSpPr txBox="1"/>
          <p:nvPr/>
        </p:nvSpPr>
        <p:spPr>
          <a:xfrm>
            <a:off x="356616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до 1500 В</a:t>
            </a:r>
          </a:p>
        </p:txBody>
      </p:sp>
      <p:sp>
        <p:nvSpPr>
          <p:cNvPr id="16" name="Метка 2"/>
          <p:cNvSpPr/>
          <p:nvPr/>
        </p:nvSpPr>
        <p:spPr>
          <a:xfrm>
            <a:off x="3611879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Описание 2"/>
          <p:cNvSpPr txBox="1"/>
          <p:nvPr/>
        </p:nvSpPr>
        <p:spPr>
          <a:xfrm>
            <a:off x="356616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постоянного напряжения в цепях солнечных станций: опасно даже без подключения к сети</a:t>
            </a:r>
          </a:p>
        </p:txBody>
      </p:sp>
      <p:sp>
        <p:nvSpPr>
          <p:cNvPr id="18" name="Карточка 3"/>
          <p:cNvSpPr/>
          <p:nvPr/>
        </p:nvSpPr>
        <p:spPr>
          <a:xfrm>
            <a:off x="635508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Показатель 3"/>
          <p:cNvSpPr txBox="1"/>
          <p:nvPr/>
        </p:nvSpPr>
        <p:spPr>
          <a:xfrm>
            <a:off x="644652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80–120 м</a:t>
            </a:r>
          </a:p>
        </p:txBody>
      </p:sp>
      <p:sp>
        <p:nvSpPr>
          <p:cNvPr id="20" name="Метка 3"/>
          <p:cNvSpPr/>
          <p:nvPr/>
        </p:nvSpPr>
        <p:spPr>
          <a:xfrm>
            <a:off x="649224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Описание 3"/>
          <p:cNvSpPr txBox="1"/>
          <p:nvPr/>
        </p:nvSpPr>
        <p:spPr>
          <a:xfrm>
            <a:off x="644652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высота башни современной ветроустановки: работа идёт на большой высоте</a:t>
            </a:r>
          </a:p>
        </p:txBody>
      </p:sp>
      <p:sp>
        <p:nvSpPr>
          <p:cNvPr id="22" name="Карточка 4"/>
          <p:cNvSpPr/>
          <p:nvPr/>
        </p:nvSpPr>
        <p:spPr>
          <a:xfrm>
            <a:off x="9235440" y="1691640"/>
            <a:ext cx="2651760" cy="251460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Показатель 4"/>
          <p:cNvSpPr txBox="1"/>
          <p:nvPr/>
        </p:nvSpPr>
        <p:spPr>
          <a:xfrm>
            <a:off x="9326880" y="1828800"/>
            <a:ext cx="2468879" cy="8229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/>
            <a:r>
              <a:rPr sz="3400" b="1">
                <a:solidFill>
                  <a:srgbClr val="2B2B2B"/>
                </a:solidFill>
                <a:latin typeface="Calibri"/>
              </a:rPr>
              <a:t>25–30 лет</a:t>
            </a:r>
          </a:p>
        </p:txBody>
      </p:sp>
      <p:sp>
        <p:nvSpPr>
          <p:cNvPr id="24" name="Метка 4"/>
          <p:cNvSpPr/>
          <p:nvPr/>
        </p:nvSpPr>
        <p:spPr>
          <a:xfrm>
            <a:off x="9372600" y="2697480"/>
            <a:ext cx="502920" cy="109728"/>
          </a:xfrm>
          <a:prstGeom prst="rect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Описание 4"/>
          <p:cNvSpPr txBox="1"/>
          <p:nvPr/>
        </p:nvSpPr>
        <p:spPr>
          <a:xfrm>
            <a:off x="9326880" y="2926080"/>
            <a:ext cx="2468879" cy="11887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срок службы оборудования: персонал обслуживает его десятилетиями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" y="4526280"/>
            <a:ext cx="548640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ПЛАН ДОКЛАДА</a:t>
            </a:r>
          </a:p>
        </p:txBody>
      </p:sp>
      <p:sp>
        <p:nvSpPr>
          <p:cNvPr id="27" name="План 1"/>
          <p:cNvSpPr/>
          <p:nvPr/>
        </p:nvSpPr>
        <p:spPr>
          <a:xfrm>
            <a:off x="594360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1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Карта рисков</a:t>
            </a:r>
          </a:p>
        </p:txBody>
      </p:sp>
      <p:sp>
        <p:nvSpPr>
          <p:cNvPr id="28" name="План 2"/>
          <p:cNvSpPr/>
          <p:nvPr/>
        </p:nvSpPr>
        <p:spPr>
          <a:xfrm>
            <a:off x="2450591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2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Солнечные станции</a:t>
            </a:r>
          </a:p>
        </p:txBody>
      </p:sp>
      <p:sp>
        <p:nvSpPr>
          <p:cNvPr id="29" name="План 3"/>
          <p:cNvSpPr/>
          <p:nvPr/>
        </p:nvSpPr>
        <p:spPr>
          <a:xfrm>
            <a:off x="4306824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3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Ветряки и накопители</a:t>
            </a:r>
          </a:p>
        </p:txBody>
      </p:sp>
      <p:sp>
        <p:nvSpPr>
          <p:cNvPr id="30" name="План 4"/>
          <p:cNvSpPr/>
          <p:nvPr/>
        </p:nvSpPr>
        <p:spPr>
          <a:xfrm>
            <a:off x="6163056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4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Электробезопасность</a:t>
            </a:r>
          </a:p>
        </p:txBody>
      </p:sp>
      <p:sp>
        <p:nvSpPr>
          <p:cNvPr id="31" name="План 5"/>
          <p:cNvSpPr/>
          <p:nvPr/>
        </p:nvSpPr>
        <p:spPr>
          <a:xfrm>
            <a:off x="8019288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5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Высота, допуск, СИЗ</a:t>
            </a:r>
          </a:p>
        </p:txBody>
      </p:sp>
      <p:sp>
        <p:nvSpPr>
          <p:cNvPr id="32" name="План 6"/>
          <p:cNvSpPr/>
          <p:nvPr/>
        </p:nvSpPr>
        <p:spPr>
          <a:xfrm>
            <a:off x="9875519" y="5029200"/>
            <a:ext cx="1719072" cy="109728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27432" bIns="27432"/>
          <a:lstStyle/>
          <a:p>
            <a:pPr algn="ctr"/>
            <a:r>
              <a:rPr sz="2200" b="1">
                <a:solidFill>
                  <a:srgbClr val="FFED00"/>
                </a:solidFill>
                <a:latin typeface="Calibri"/>
              </a:rPr>
              <a:t>6</a:t>
            </a:r>
          </a:p>
          <a:p>
            <a:pPr algn="ctr"/>
            <a:r>
              <a:rPr sz="1300" b="0">
                <a:solidFill>
                  <a:srgbClr val="FFFFFF"/>
                </a:solidFill>
                <a:latin typeface="Calibri"/>
              </a:rPr>
              <a:t>Порядок и аварии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Карта рисков: что опасно на объектах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Карта рисков"/>
          <p:cNvGraphicFramePr>
            <a:graphicFrameLocks noGrp="1"/>
          </p:cNvGraphicFramePr>
          <p:nvPr/>
        </p:nvGraphicFramePr>
        <p:xfrm>
          <a:off x="594360" y="1691640"/>
          <a:ext cx="11018520" cy="400507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457200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Объект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Основные опасности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Главная мера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Солнечная станция (поле, крыша)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Постоянное напряжение до 1500 В, дуговой разряд, пожар модулей и кабелей, нагрев поверхностей в жару, падение с крыши и скольжение по мокрым панелям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Отключение цепей, проверка отсутствия напряжения прибором, страховка, работа только по наряду и в паре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Ветроустановка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Высота башни 80–120 м, вращающиеся части и внезапный запуск, обледенение лопастей, молния, пожар в гондоле, тесные рабочие места и один путь эвакуации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Остановка и блокировка установки, допуск к работе на высоте, запретная зона при обледенении, план спасения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Накопители энергии (аккумуляторы)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Тепловой разгон литиевых батарей, пожар с выделением токсичного дыма, большие токи короткого замыкания, электролит и газы при повреждении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Контроль температуры, вентиляция, автоматическое пожаротушение, дистанция между секциями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88696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Подстанция и кабельные линии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Высокое напряжение, шаговое напряжение при замыкании на землю, обратное питание из сети, повреждение кабелей техникой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Допуск по группе электробезопасности, заземление, диэлектрические СИЗ, ограждение зон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Пояснение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Опасность определяют не «зелёные» технологии, а электричество, высота и огонь на объекте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Солнечные станции: главные опасности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Угроза 1"/>
          <p:cNvSpPr/>
          <p:nvPr/>
        </p:nvSpPr>
        <p:spPr>
          <a:xfrm>
            <a:off x="59436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Ток не отключить</a:t>
            </a:r>
          </a:p>
        </p:txBody>
      </p:sp>
      <p:sp>
        <p:nvSpPr>
          <p:cNvPr id="13" name="Угроза 1 описание"/>
          <p:cNvSpPr txBox="1"/>
          <p:nvPr/>
        </p:nvSpPr>
        <p:spPr>
          <a:xfrm>
            <a:off x="73152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Пока на панель падает свет, она вырабатывает напряжение. Выключатель отключает только часть цепи, кабели постоянного тока остаются под напряжением</a:t>
            </a:r>
          </a:p>
        </p:txBody>
      </p:sp>
      <p:sp>
        <p:nvSpPr>
          <p:cNvPr id="14" name="Угроза 2"/>
          <p:cNvSpPr/>
          <p:nvPr/>
        </p:nvSpPr>
        <p:spPr>
          <a:xfrm>
            <a:off x="3977640" y="169164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14223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187452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Дуга и пожар</a:t>
            </a:r>
          </a:p>
        </p:txBody>
      </p:sp>
      <p:sp>
        <p:nvSpPr>
          <p:cNvPr id="17" name="Угроза 2 описание"/>
          <p:cNvSpPr txBox="1"/>
          <p:nvPr/>
        </p:nvSpPr>
        <p:spPr>
          <a:xfrm>
            <a:off x="4114800" y="246888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Плохой контакт разъёма даёт дуговой разряд. На постоянном токе дуга горит устойчиво, пока есть питание, и быстро поджигает кабели и модули</a:t>
            </a:r>
          </a:p>
        </p:txBody>
      </p:sp>
      <p:sp>
        <p:nvSpPr>
          <p:cNvPr id="18" name="Угроза 3"/>
          <p:cNvSpPr/>
          <p:nvPr/>
        </p:nvSpPr>
        <p:spPr>
          <a:xfrm>
            <a:off x="59436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895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8016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Крыши и поля</a:t>
            </a:r>
          </a:p>
        </p:txBody>
      </p:sp>
      <p:sp>
        <p:nvSpPr>
          <p:cNvPr id="21" name="Угроза 3 описание"/>
          <p:cNvSpPr txBox="1"/>
          <p:nvPr/>
        </p:nvSpPr>
        <p:spPr>
          <a:xfrm>
            <a:off x="73152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Падение с кровли, скользкая мокрая или заснеженная поверхность, острые кромки рам, тепловой удар в жару. Модуль нельзя использовать как опору</a:t>
            </a:r>
          </a:p>
        </p:txBody>
      </p:sp>
      <p:sp>
        <p:nvSpPr>
          <p:cNvPr id="22" name="Угроза 4"/>
          <p:cNvSpPr/>
          <p:nvPr/>
        </p:nvSpPr>
        <p:spPr>
          <a:xfrm>
            <a:off x="3977640" y="4023360"/>
            <a:ext cx="3200400" cy="214884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4142232" y="418795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63440" y="4206240"/>
            <a:ext cx="24231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Тушение</a:t>
            </a:r>
          </a:p>
        </p:txBody>
      </p:sp>
      <p:sp>
        <p:nvSpPr>
          <p:cNvPr id="25" name="Угроза 4 описание"/>
          <p:cNvSpPr txBox="1"/>
          <p:nvPr/>
        </p:nvSpPr>
        <p:spPr>
          <a:xfrm>
            <a:off x="4114800" y="4800600"/>
            <a:ext cx="29260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400" b="0">
                <a:solidFill>
                  <a:srgbClr val="4B4B4B"/>
                </a:solidFill>
                <a:latin typeface="Calibri"/>
              </a:rPr>
              <a:t>Воду на электроустановку под напряжением подавать нельзя. Нужны углекислотные и порошковые средства, а тушить нужно с безопасной дистанции</a:t>
            </a:r>
          </a:p>
        </p:txBody>
      </p:sp>
      <p:sp>
        <p:nvSpPr>
          <p:cNvPr id="26" name="Заголовок таблицы"/>
          <p:cNvSpPr txBox="1"/>
          <p:nvPr/>
        </p:nvSpPr>
        <p:spPr>
          <a:xfrm>
            <a:off x="7498079" y="1645920"/>
            <a:ext cx="4114800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500" b="1">
                <a:solidFill>
                  <a:srgbClr val="2B2B2B"/>
                </a:solidFill>
                <a:latin typeface="Calibri"/>
              </a:rPr>
              <a:t>Типичные параметры</a:t>
            </a:r>
          </a:p>
        </p:txBody>
      </p:sp>
      <p:graphicFrame>
        <p:nvGraphicFramePr>
          <p:cNvPr id="27" name="Параметры СЭС"/>
          <p:cNvGraphicFramePr>
            <a:graphicFrameLocks noGrp="1"/>
          </p:cNvGraphicFramePr>
          <p:nvPr/>
        </p:nvGraphicFramePr>
        <p:xfrm>
          <a:off x="7498079" y="2103120"/>
          <a:ext cx="4114800" cy="27249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Значение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Напряжение строки (DC)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600–1500 В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Нагрев модуля на солнце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до 70–85 °C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Срок службы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25–30 лет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1">
                          <a:solidFill>
                            <a:srgbClr val="2B2B2B"/>
                          </a:solidFill>
                          <a:latin typeface="Calibri"/>
                        </a:rPr>
                        <a:t>Опасная зона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2B2B2B"/>
                          </a:solidFill>
                          <a:latin typeface="Calibri"/>
                        </a:rPr>
                        <a:t>вся цепь до инвертора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8" name="Пояснение таблицы"/>
          <p:cNvSpPr txBox="1"/>
          <p:nvPr/>
        </p:nvSpPr>
        <p:spPr>
          <a:xfrm>
            <a:off x="7498079" y="4983480"/>
            <a:ext cx="411480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200" b="0">
                <a:solidFill>
                  <a:srgbClr val="4B4B4B"/>
                </a:solidFill>
                <a:latin typeface="Calibri"/>
              </a:rPr>
              <a:t>Значения ориентировочные и зависят от проекта станции. Перед работой уточняйте данные в паспорте объекта.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Электробезопасность: главный источник тяжёлых травм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Риски"/>
          <p:cNvSpPr/>
          <p:nvPr/>
        </p:nvSpPr>
        <p:spPr>
          <a:xfrm>
            <a:off x="59436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FFFFFF"/>
                </a:solidFill>
                <a:latin typeface="Calibri"/>
              </a:rPr>
              <a:t>Риски</a:t>
            </a:r>
          </a:p>
        </p:txBody>
      </p:sp>
      <p:sp>
        <p:nvSpPr>
          <p:cNvPr id="11" name="Риски 1"/>
          <p:cNvSpPr/>
          <p:nvPr/>
        </p:nvSpPr>
        <p:spPr>
          <a:xfrm>
            <a:off x="59436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Риски 1 текст"/>
          <p:cNvSpPr txBox="1"/>
          <p:nvPr/>
        </p:nvSpPr>
        <p:spPr>
          <a:xfrm>
            <a:off x="73152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Дуговой разряд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на постоянном токе дуга горит устойчиво и не гаснет сама, ожоги и пожар</a:t>
            </a:r>
          </a:p>
        </p:txBody>
      </p:sp>
      <p:sp>
        <p:nvSpPr>
          <p:cNvPr id="13" name="Риски 2"/>
          <p:cNvSpPr/>
          <p:nvPr/>
        </p:nvSpPr>
        <p:spPr>
          <a:xfrm>
            <a:off x="59436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Риски 2 текст"/>
          <p:cNvSpPr txBox="1"/>
          <p:nvPr/>
        </p:nvSpPr>
        <p:spPr>
          <a:xfrm>
            <a:off x="73152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Обратное питание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напряжение может прийти из сети или от соседних панелей при отключении</a:t>
            </a:r>
          </a:p>
        </p:txBody>
      </p:sp>
      <p:sp>
        <p:nvSpPr>
          <p:cNvPr id="15" name="Риски 3"/>
          <p:cNvSpPr/>
          <p:nvPr/>
        </p:nvSpPr>
        <p:spPr>
          <a:xfrm>
            <a:off x="59436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Риски 3 текст"/>
          <p:cNvSpPr txBox="1"/>
          <p:nvPr/>
        </p:nvSpPr>
        <p:spPr>
          <a:xfrm>
            <a:off x="73152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Остаточный заряд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конденсаторы инвертора держат опасное напряжение ещё несколько минут</a:t>
            </a:r>
          </a:p>
        </p:txBody>
      </p:sp>
      <p:sp>
        <p:nvSpPr>
          <p:cNvPr id="17" name="Риски 4"/>
          <p:cNvSpPr/>
          <p:nvPr/>
        </p:nvSpPr>
        <p:spPr>
          <a:xfrm>
            <a:off x="59436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Риски 4 текст"/>
          <p:cNvSpPr txBox="1"/>
          <p:nvPr/>
        </p:nvSpPr>
        <p:spPr>
          <a:xfrm>
            <a:off x="73152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Влага и повреждения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мокрый кабель, трещины изоляции и неисправные разъёмы дают утечку тока</a:t>
            </a:r>
          </a:p>
        </p:txBody>
      </p:sp>
      <p:sp>
        <p:nvSpPr>
          <p:cNvPr id="19" name="Меры"/>
          <p:cNvSpPr/>
          <p:nvPr/>
        </p:nvSpPr>
        <p:spPr>
          <a:xfrm>
            <a:off x="6217920" y="1691640"/>
            <a:ext cx="5394960" cy="54864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27432" bIns="27432"/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Меры</a:t>
            </a:r>
          </a:p>
        </p:txBody>
      </p:sp>
      <p:sp>
        <p:nvSpPr>
          <p:cNvPr id="20" name="Меры 1"/>
          <p:cNvSpPr/>
          <p:nvPr/>
        </p:nvSpPr>
        <p:spPr>
          <a:xfrm>
            <a:off x="6217920" y="2377440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Меры 1 текст"/>
          <p:cNvSpPr txBox="1"/>
          <p:nvPr/>
        </p:nvSpPr>
        <p:spPr>
          <a:xfrm>
            <a:off x="6355080" y="2377440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Наряд-допуск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работы по документу, с назначенным ответственным и допуском бригады</a:t>
            </a:r>
          </a:p>
        </p:txBody>
      </p:sp>
      <p:sp>
        <p:nvSpPr>
          <p:cNvPr id="22" name="Меры 2"/>
          <p:cNvSpPr/>
          <p:nvPr/>
        </p:nvSpPr>
        <p:spPr>
          <a:xfrm>
            <a:off x="6217920" y="3127248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Меры 2 текст"/>
          <p:cNvSpPr txBox="1"/>
          <p:nvPr/>
        </p:nvSpPr>
        <p:spPr>
          <a:xfrm>
            <a:off x="6355080" y="3127248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Отключение и блокировка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замок и бирка на каждом разъединителе, ключ остаётся у исполнителя</a:t>
            </a:r>
          </a:p>
        </p:txBody>
      </p:sp>
      <p:sp>
        <p:nvSpPr>
          <p:cNvPr id="24" name="Меры 3"/>
          <p:cNvSpPr/>
          <p:nvPr/>
        </p:nvSpPr>
        <p:spPr>
          <a:xfrm>
            <a:off x="6217920" y="3877056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Меры 3 текст"/>
          <p:cNvSpPr txBox="1"/>
          <p:nvPr/>
        </p:nvSpPr>
        <p:spPr>
          <a:xfrm>
            <a:off x="6355080" y="3877056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Проверка напряжения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исправным прибором до касания, затем заземление и ограждение зоны</a:t>
            </a:r>
          </a:p>
        </p:txBody>
      </p:sp>
      <p:sp>
        <p:nvSpPr>
          <p:cNvPr id="26" name="Меры 4"/>
          <p:cNvSpPr/>
          <p:nvPr/>
        </p:nvSpPr>
        <p:spPr>
          <a:xfrm>
            <a:off x="6217920" y="4626864"/>
            <a:ext cx="5394960" cy="658368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Меры 4 текст"/>
          <p:cNvSpPr txBox="1"/>
          <p:nvPr/>
        </p:nvSpPr>
        <p:spPr>
          <a:xfrm>
            <a:off x="6355080" y="4626864"/>
            <a:ext cx="5120640" cy="658368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400" b="1">
                <a:solidFill>
                  <a:srgbClr val="2B2B2B"/>
                </a:solidFill>
                <a:latin typeface="Calibri"/>
              </a:rPr>
              <a:t>Правильные СИЗ — </a:t>
            </a:r>
            <a:r>
              <a:rPr sz="1400" b="0">
                <a:solidFill>
                  <a:srgbClr val="4B4B4B"/>
                </a:solidFill>
                <a:latin typeface="Calibri"/>
              </a:rPr>
              <a:t>диэлектрические перчатки и боты, изолированный инструмент, щиток от дуги</a:t>
            </a:r>
          </a:p>
        </p:txBody>
      </p:sp>
      <p:sp>
        <p:nvSpPr>
          <p:cNvPr id="28" name="Правило"/>
          <p:cNvSpPr/>
          <p:nvPr/>
        </p:nvSpPr>
        <p:spPr>
          <a:xfrm>
            <a:off x="594360" y="5486400"/>
            <a:ext cx="11018520" cy="7772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500" b="1">
                <a:solidFill>
                  <a:srgbClr val="FFED00"/>
                </a:solidFill>
                <a:latin typeface="Calibri"/>
              </a:rPr>
              <a:t>Золотое правило: </a:t>
            </a:r>
            <a:r>
              <a:rPr sz="1500" b="0">
                <a:solidFill>
                  <a:srgbClr val="FFFFFF"/>
                </a:solidFill>
                <a:latin typeface="Calibri"/>
              </a:rPr>
              <a:t>всё под напряжением, пока вы сами не проверили, что его нет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Работа на высоте: крыши, башни, опоры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Блок 1"/>
          <p:cNvSpPr/>
          <p:nvPr/>
        </p:nvSpPr>
        <p:spPr>
          <a:xfrm>
            <a:off x="5943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680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2" name="Блок 1 заголовок"/>
          <p:cNvSpPr txBox="1"/>
          <p:nvPr/>
        </p:nvSpPr>
        <p:spPr>
          <a:xfrm>
            <a:off x="13716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Предотвратить падение</a:t>
            </a:r>
          </a:p>
        </p:txBody>
      </p:sp>
      <p:sp>
        <p:nvSpPr>
          <p:cNvPr id="13" name="Блок 1 текст"/>
          <p:cNvSpPr txBox="1"/>
          <p:nvPr/>
        </p:nvSpPr>
        <p:spPr>
          <a:xfrm>
            <a:off x="7772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Риск: </a:t>
            </a:r>
            <a:r>
              <a:rPr sz="1500" b="0">
                <a:solidFill>
                  <a:srgbClr val="4B4B4B"/>
                </a:solidFill>
                <a:latin typeface="Calibri"/>
              </a:rPr>
              <a:t>край крыши, скользкая поверхность, открытый люк гондолы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Мера: </a:t>
            </a:r>
            <a:r>
              <a:rPr sz="1500" b="0">
                <a:solidFill>
                  <a:srgbClr val="4B4B4B"/>
                </a:solidFill>
                <a:latin typeface="Calibri"/>
              </a:rPr>
              <a:t>ограждения, анкерные линии, привязь с двумя лонжами, пристёгивание на всём пути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Контроль: </a:t>
            </a:r>
            <a:r>
              <a:rPr sz="1500" b="0">
                <a:solidFill>
                  <a:srgbClr val="4B4B4B"/>
                </a:solidFill>
                <a:latin typeface="Calibri"/>
              </a:rPr>
              <a:t>осмотр СИЗ перед каждым подъёмом</a:t>
            </a:r>
          </a:p>
        </p:txBody>
      </p:sp>
      <p:sp>
        <p:nvSpPr>
          <p:cNvPr id="14" name="Блок 2"/>
          <p:cNvSpPr/>
          <p:nvPr/>
        </p:nvSpPr>
        <p:spPr>
          <a:xfrm>
            <a:off x="43662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45399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6" name="Блок 2 заголовок"/>
          <p:cNvSpPr txBox="1"/>
          <p:nvPr/>
        </p:nvSpPr>
        <p:spPr>
          <a:xfrm>
            <a:off x="51435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Подготовить спасение</a:t>
            </a:r>
          </a:p>
        </p:txBody>
      </p:sp>
      <p:sp>
        <p:nvSpPr>
          <p:cNvPr id="17" name="Блок 2 текст"/>
          <p:cNvSpPr txBox="1"/>
          <p:nvPr/>
        </p:nvSpPr>
        <p:spPr>
          <a:xfrm>
            <a:off x="45491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Риск: </a:t>
            </a:r>
            <a:r>
              <a:rPr sz="1500" b="0">
                <a:solidFill>
                  <a:srgbClr val="4B4B4B"/>
                </a:solidFill>
                <a:latin typeface="Calibri"/>
              </a:rPr>
              <a:t>повисание в привязи опасно уже через несколько минут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Мера: </a:t>
            </a:r>
            <a:r>
              <a:rPr sz="1500" b="0">
                <a:solidFill>
                  <a:srgbClr val="4B4B4B"/>
                </a:solidFill>
                <a:latin typeface="Calibri"/>
              </a:rPr>
              <a:t>набор для эвакуации, обученная группа спасения, связь с диспетчером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Контроль: </a:t>
            </a:r>
            <a:r>
              <a:rPr sz="1500" b="0">
                <a:solidFill>
                  <a:srgbClr val="4B4B4B"/>
                </a:solidFill>
                <a:latin typeface="Calibri"/>
              </a:rPr>
              <a:t>учения и план спасения для каждого объекта</a:t>
            </a:r>
          </a:p>
        </p:txBody>
      </p:sp>
      <p:sp>
        <p:nvSpPr>
          <p:cNvPr id="18" name="Блок 3"/>
          <p:cNvSpPr/>
          <p:nvPr/>
        </p:nvSpPr>
        <p:spPr>
          <a:xfrm>
            <a:off x="81381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8311896" y="1956815"/>
            <a:ext cx="475488" cy="475488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8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20" name="Блок 3 заголовок"/>
          <p:cNvSpPr txBox="1"/>
          <p:nvPr/>
        </p:nvSpPr>
        <p:spPr>
          <a:xfrm>
            <a:off x="8915400" y="1920240"/>
            <a:ext cx="2560320" cy="5486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700" b="1">
                <a:solidFill>
                  <a:srgbClr val="2B2B2B"/>
                </a:solidFill>
                <a:latin typeface="Calibri"/>
              </a:rPr>
              <a:t>Учесть погоду</a:t>
            </a:r>
          </a:p>
        </p:txBody>
      </p:sp>
      <p:sp>
        <p:nvSpPr>
          <p:cNvPr id="21" name="Блок 3 текст"/>
          <p:cNvSpPr txBox="1"/>
          <p:nvPr/>
        </p:nvSpPr>
        <p:spPr>
          <a:xfrm>
            <a:off x="8321040" y="2743200"/>
            <a:ext cx="3108960" cy="274320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Риск: </a:t>
            </a:r>
            <a:r>
              <a:rPr sz="1500" b="0">
                <a:solidFill>
                  <a:srgbClr val="4B4B4B"/>
                </a:solidFill>
                <a:latin typeface="Calibri"/>
              </a:rPr>
              <a:t>сильный ветер, гроза, лёд на конструкциях, жара и солнце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Мера: </a:t>
            </a:r>
            <a:r>
              <a:rPr sz="1500" b="0">
                <a:solidFill>
                  <a:srgbClr val="4B4B4B"/>
                </a:solidFill>
                <a:latin typeface="Calibri"/>
              </a:rPr>
              <a:t>запрет подъёма при превышении пределов из инструкции, перерывы в жару</a:t>
            </a:r>
          </a:p>
          <a:p>
            <a:pPr algn="l">
              <a:spcAft>
                <a:spcPts val="1200"/>
              </a:spcAft>
            </a:pPr>
            <a:r>
              <a:rPr sz="1500" b="1">
                <a:solidFill>
                  <a:srgbClr val="2B2B2B"/>
                </a:solidFill>
                <a:latin typeface="Calibri"/>
              </a:rPr>
              <a:t>Контроль: </a:t>
            </a:r>
            <a:r>
              <a:rPr sz="1500" b="0">
                <a:solidFill>
                  <a:srgbClr val="4B4B4B"/>
                </a:solidFill>
                <a:latin typeface="Calibri"/>
              </a:rPr>
              <a:t>прогноз и замер ветра перед каждой работой</a:t>
            </a:r>
          </a:p>
        </p:txBody>
      </p:sp>
      <p:sp>
        <p:nvSpPr>
          <p:cNvPr id="22" name="Правило"/>
          <p:cNvSpPr/>
          <p:nvPr/>
        </p:nvSpPr>
        <p:spPr>
          <a:xfrm>
            <a:off x="594360" y="5715000"/>
            <a:ext cx="11018520" cy="64008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Допуск к работе на высоте — это обучение, медосмотр, исправные СИЗ и страхующий напарник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СИЗ и знаки безопасности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аблица СИЗ"/>
          <p:cNvGraphicFramePr>
            <a:graphicFrameLocks noGrp="1"/>
          </p:cNvGraphicFramePr>
          <p:nvPr/>
        </p:nvGraphicFramePr>
        <p:xfrm>
          <a:off x="594360" y="1691640"/>
          <a:ext cx="11018520" cy="3858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5120640"/>
                <a:gridCol w="37033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Что защищаем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СИЗ и средства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От чего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Голова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Каска с подбородочным ремнём; под ней при холоде — тонкий подшлемник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Удар, падающие предметы, касание конструкций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Падение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Страховочная привязь, две лонжи с амортизатором, анкерные точки и каски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Падение с высоты, повисание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Руки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Диэлектрические перчатки, перчатки от пореза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Ток, острые кромки рам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Ноги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Диэлектрические боты или нескользящая обувь с жёстким носком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Напряжение, скольжение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Лицо и тело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Щиток или очки от дуги, огнестойкая одежда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Дуговой разряд, ожоги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Погода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Головной убор, очки от солнца, питьевая вода, тёплая одежда в холодное время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Жара, ультрафиолет, переохлаждение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Знаки"/>
          <p:cNvSpPr/>
          <p:nvPr/>
        </p:nvSpPr>
        <p:spPr>
          <a:xfrm>
            <a:off x="594360" y="5806440"/>
            <a:ext cx="11018520" cy="54864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Знаки по ГОСТ Р 12.4.026: жёлтые предупреждают, синие предписывают, красные запрещают, зелёные указывают путь эвакуации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Порядок безопасной работы: от наряда до закрытия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Порядок работ"/>
          <p:cNvGraphicFramePr>
            <a:graphicFrameLocks noGrp="1"/>
          </p:cNvGraphicFramePr>
          <p:nvPr/>
        </p:nvGraphicFramePr>
        <p:xfrm>
          <a:off x="594360" y="1691640"/>
          <a:ext cx="11018520" cy="407822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926080"/>
                <a:gridCol w="736092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№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Шаг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Что сделать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1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Наряд-допуск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Оформить документ, провести целевой инструктаж, назначить ответственного руководителя работ и страхующего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2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Оценка условий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Проверить ветер, грозу, обледенение, жару, освещение и состояние путей подхода к рабочему месту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3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Отключение и блокировка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Отключить цепи, разомкнуть разъединители, повесить замок и бирку, вывесить плакат «Не включать»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4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Проверка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Убедиться исправным прибором, что напряжения нет; панели днём всегда остаются под напряжением, поэтому закрывают их или работают по правилам для цепей постоянного тока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5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Выполнение работ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Работать вдвоём, держать связь с диспетчером, использовать страховку и не отвлекаться от задачи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603504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6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Закрытие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Собрать людей и инструмент, снять блокировки, закрыть наряд и включать только по команде ответственного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Правило"/>
          <p:cNvSpPr/>
          <p:nvPr/>
        </p:nvSpPr>
        <p:spPr>
          <a:xfrm>
            <a:off x="594360" y="5852160"/>
            <a:ext cx="11018520" cy="5029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300" b="1">
                <a:solidFill>
                  <a:srgbClr val="2B2B2B"/>
                </a:solidFill>
                <a:latin typeface="Calibri"/>
              </a:rPr>
              <a:t>Без наряда, блокировки и проверки напряжения к оборудованию не прикасаются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ПЛАКАТ: Безопасность при эксплуатации ВИЭ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Панель 1"/>
          <p:cNvSpPr/>
          <p:nvPr/>
        </p:nvSpPr>
        <p:spPr>
          <a:xfrm>
            <a:off x="5943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Шапка панели 1"/>
          <p:cNvSpPr/>
          <p:nvPr/>
        </p:nvSpPr>
        <p:spPr>
          <a:xfrm>
            <a:off x="5943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200" b="1">
                <a:solidFill>
                  <a:srgbClr val="FFED00"/>
                </a:solidFill>
                <a:latin typeface="Calibri"/>
              </a:rPr>
              <a:t>1 · СОСТАВ СЭС И ОПАСНЫЕ УЗЛЫ</a:t>
            </a:r>
          </a:p>
        </p:txBody>
      </p:sp>
      <p:sp>
        <p:nvSpPr>
          <p:cNvPr id="12" name="Панель 2"/>
          <p:cNvSpPr/>
          <p:nvPr/>
        </p:nvSpPr>
        <p:spPr>
          <a:xfrm>
            <a:off x="43662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Шапка панели 2"/>
          <p:cNvSpPr/>
          <p:nvPr/>
        </p:nvSpPr>
        <p:spPr>
          <a:xfrm>
            <a:off x="43662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200" b="1">
                <a:solidFill>
                  <a:srgbClr val="FFED00"/>
                </a:solidFill>
                <a:latin typeface="Calibri"/>
              </a:rPr>
              <a:t>2 · ОПАСНОСТИ ПРИ РАБОТАХ</a:t>
            </a:r>
          </a:p>
        </p:txBody>
      </p:sp>
      <p:sp>
        <p:nvSpPr>
          <p:cNvPr id="14" name="Панель 3"/>
          <p:cNvSpPr/>
          <p:nvPr/>
        </p:nvSpPr>
        <p:spPr>
          <a:xfrm>
            <a:off x="8138160" y="1691640"/>
            <a:ext cx="3474720" cy="384048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Шапка панели 3"/>
          <p:cNvSpPr/>
          <p:nvPr/>
        </p:nvSpPr>
        <p:spPr>
          <a:xfrm>
            <a:off x="8138160" y="1691640"/>
            <a:ext cx="3474720" cy="45720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27432" bIns="27432"/>
          <a:lstStyle/>
          <a:p>
            <a:pPr algn="l"/>
            <a:r>
              <a:rPr sz="1200" b="1">
                <a:solidFill>
                  <a:srgbClr val="FFED00"/>
                </a:solidFill>
                <a:latin typeface="Calibri"/>
              </a:rPr>
              <a:t>3 · ЗНАКИ БЕЗОПАСНОСТИ</a:t>
            </a:r>
          </a:p>
        </p:txBody>
      </p:sp>
      <p:sp>
        <p:nvSpPr>
          <p:cNvPr id="16" name="Узлы СЭС"/>
          <p:cNvSpPr txBox="1"/>
          <p:nvPr/>
        </p:nvSpPr>
        <p:spPr>
          <a:xfrm>
            <a:off x="731520" y="2286000"/>
            <a:ext cx="3200400" cy="31089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Панели → </a:t>
            </a:r>
            <a:r>
              <a:rPr sz="1600" b="0">
                <a:solidFill>
                  <a:srgbClr val="4B4B4B"/>
                </a:solidFill>
                <a:latin typeface="Calibri"/>
              </a:rPr>
              <a:t>постоянный ток до 1500 В, не выключить при свете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Инвертор → </a:t>
            </a:r>
            <a:r>
              <a:rPr sz="1600" b="0">
                <a:solidFill>
                  <a:srgbClr val="4B4B4B"/>
                </a:solidFill>
                <a:latin typeface="Calibri"/>
              </a:rPr>
              <a:t>заряд конденсаторов, время на разряд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Трансформатор → </a:t>
            </a:r>
            <a:r>
              <a:rPr sz="1600" b="0">
                <a:solidFill>
                  <a:srgbClr val="4B4B4B"/>
                </a:solidFill>
                <a:latin typeface="Calibri"/>
              </a:rPr>
              <a:t>высокое напряжение, допуск обязателен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Подстанция и сеть → </a:t>
            </a:r>
            <a:r>
              <a:rPr sz="1600" b="0">
                <a:solidFill>
                  <a:srgbClr val="4B4B4B"/>
                </a:solidFill>
                <a:latin typeface="Calibri"/>
              </a:rPr>
              <a:t>обратное питание, заземление</a:t>
            </a:r>
          </a:p>
        </p:txBody>
      </p:sp>
      <p:sp>
        <p:nvSpPr>
          <p:cNvPr id="17" name="Опасности"/>
          <p:cNvSpPr txBox="1"/>
          <p:nvPr/>
        </p:nvSpPr>
        <p:spPr>
          <a:xfrm>
            <a:off x="4503420" y="2286000"/>
            <a:ext cx="3200400" cy="31089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Падение: </a:t>
            </a:r>
            <a:r>
              <a:rPr sz="1600" b="0">
                <a:solidFill>
                  <a:srgbClr val="4B4B4B"/>
                </a:solidFill>
                <a:latin typeface="Calibri"/>
              </a:rPr>
              <a:t>крыша, башня, люк гондолы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Электричество: </a:t>
            </a:r>
            <a:r>
              <a:rPr sz="1600" b="0">
                <a:solidFill>
                  <a:srgbClr val="4B4B4B"/>
                </a:solidFill>
                <a:latin typeface="Calibri"/>
              </a:rPr>
              <a:t>дуга, касание, обратное питание, шаговое напряжение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Огонь: </a:t>
            </a:r>
            <a:r>
              <a:rPr sz="1600" b="0">
                <a:solidFill>
                  <a:srgbClr val="4B4B4B"/>
                </a:solidFill>
                <a:latin typeface="Calibri"/>
              </a:rPr>
              <a:t>панели, кабели, батареи, гондола</a:t>
            </a:r>
          </a:p>
          <a:p>
            <a:pPr algn="l">
              <a:spcAft>
                <a:spcPts val="1400"/>
              </a:spcAft>
            </a:pPr>
            <a:r>
              <a:rPr sz="1600" b="1">
                <a:solidFill>
                  <a:srgbClr val="2B2B2B"/>
                </a:solidFill>
                <a:latin typeface="Calibri"/>
              </a:rPr>
              <a:t>Погода: </a:t>
            </a:r>
            <a:r>
              <a:rPr sz="1600" b="0">
                <a:solidFill>
                  <a:srgbClr val="4B4B4B"/>
                </a:solidFill>
                <a:latin typeface="Calibri"/>
              </a:rPr>
              <a:t>ветер, гроза, лёд, жара, плохая видимость</a:t>
            </a:r>
          </a:p>
        </p:txBody>
      </p:sp>
      <p:sp>
        <p:nvSpPr>
          <p:cNvPr id="18" name="Знак 1"/>
          <p:cNvSpPr/>
          <p:nvPr/>
        </p:nvSpPr>
        <p:spPr>
          <a:xfrm>
            <a:off x="8275320" y="2286000"/>
            <a:ext cx="1234440" cy="676656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1100" b="1">
                <a:solidFill>
                  <a:srgbClr val="2B2B2B"/>
                </a:solidFill>
                <a:latin typeface="Calibri"/>
              </a:rPr>
              <a:t>Предупреждение</a:t>
            </a:r>
          </a:p>
        </p:txBody>
      </p:sp>
      <p:sp>
        <p:nvSpPr>
          <p:cNvPr id="19" name="Знак 1 текст"/>
          <p:cNvSpPr txBox="1"/>
          <p:nvPr/>
        </p:nvSpPr>
        <p:spPr>
          <a:xfrm>
            <a:off x="9601200" y="2286000"/>
            <a:ext cx="1874519" cy="676656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«Опасно: электрическое напряжение»</a:t>
            </a:r>
          </a:p>
        </p:txBody>
      </p:sp>
      <p:sp>
        <p:nvSpPr>
          <p:cNvPr id="20" name="Знак 2"/>
          <p:cNvSpPr/>
          <p:nvPr/>
        </p:nvSpPr>
        <p:spPr>
          <a:xfrm>
            <a:off x="8275320" y="3072384"/>
            <a:ext cx="1234440" cy="676656"/>
          </a:xfrm>
          <a:prstGeom prst="roundRect">
            <a:avLst>
              <a:gd name="adj" fmla="val 8000"/>
            </a:avLst>
          </a:prstGeom>
          <a:solidFill>
            <a:srgbClr val="2A6FC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Предписание</a:t>
            </a:r>
          </a:p>
        </p:txBody>
      </p:sp>
      <p:sp>
        <p:nvSpPr>
          <p:cNvPr id="21" name="Знак 2 текст"/>
          <p:cNvSpPr txBox="1"/>
          <p:nvPr/>
        </p:nvSpPr>
        <p:spPr>
          <a:xfrm>
            <a:off x="9601200" y="3072384"/>
            <a:ext cx="1874519" cy="676656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«Работать в каске и привязи»</a:t>
            </a:r>
          </a:p>
        </p:txBody>
      </p:sp>
      <p:sp>
        <p:nvSpPr>
          <p:cNvPr id="22" name="Знак 3"/>
          <p:cNvSpPr/>
          <p:nvPr/>
        </p:nvSpPr>
        <p:spPr>
          <a:xfrm>
            <a:off x="8275320" y="3858768"/>
            <a:ext cx="1234440" cy="676656"/>
          </a:xfrm>
          <a:prstGeom prst="roundRect">
            <a:avLst>
              <a:gd name="adj" fmla="val 8000"/>
            </a:avLst>
          </a:prstGeom>
          <a:solidFill>
            <a:srgbClr val="D0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Запрет</a:t>
            </a:r>
          </a:p>
        </p:txBody>
      </p:sp>
      <p:sp>
        <p:nvSpPr>
          <p:cNvPr id="23" name="Знак 3 текст"/>
          <p:cNvSpPr txBox="1"/>
          <p:nvPr/>
        </p:nvSpPr>
        <p:spPr>
          <a:xfrm>
            <a:off x="9601200" y="3858768"/>
            <a:ext cx="1874519" cy="676656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«Не включать: работают люди»</a:t>
            </a:r>
          </a:p>
        </p:txBody>
      </p:sp>
      <p:sp>
        <p:nvSpPr>
          <p:cNvPr id="24" name="Знак 4"/>
          <p:cNvSpPr/>
          <p:nvPr/>
        </p:nvSpPr>
        <p:spPr>
          <a:xfrm>
            <a:off x="8275320" y="4645152"/>
            <a:ext cx="1234440" cy="676656"/>
          </a:xfrm>
          <a:prstGeom prst="roundRect">
            <a:avLst>
              <a:gd name="adj" fmla="val 8000"/>
            </a:avLst>
          </a:prstGeom>
          <a:solidFill>
            <a:srgbClr val="2E9E5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27432" bIns="27432"/>
          <a:lstStyle/>
          <a:p>
            <a:pPr algn="ctr"/>
            <a:r>
              <a:rPr sz="1100" b="1">
                <a:solidFill>
                  <a:srgbClr val="FFFFFF"/>
                </a:solidFill>
                <a:latin typeface="Calibri"/>
              </a:rPr>
              <a:t>Эвакуация</a:t>
            </a:r>
          </a:p>
        </p:txBody>
      </p:sp>
      <p:sp>
        <p:nvSpPr>
          <p:cNvPr id="25" name="Знак 4 текст"/>
          <p:cNvSpPr txBox="1"/>
          <p:nvPr/>
        </p:nvSpPr>
        <p:spPr>
          <a:xfrm>
            <a:off x="9601200" y="4645152"/>
            <a:ext cx="1874519" cy="676656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300" b="0">
                <a:solidFill>
                  <a:srgbClr val="2B2B2B"/>
                </a:solidFill>
                <a:latin typeface="Calibri"/>
              </a:rPr>
              <a:t>«Выход, пункт сбора»</a:t>
            </a:r>
          </a:p>
        </p:txBody>
      </p:sp>
      <p:sp>
        <p:nvSpPr>
          <p:cNvPr id="26" name="Девиз плаката"/>
          <p:cNvSpPr/>
          <p:nvPr/>
        </p:nvSpPr>
        <p:spPr>
          <a:xfrm>
            <a:off x="594360" y="5715000"/>
            <a:ext cx="11018520" cy="640080"/>
          </a:xfrm>
          <a:prstGeom prst="roundRect">
            <a:avLst>
              <a:gd name="adj" fmla="val 8000"/>
            </a:avLst>
          </a:prstGeom>
          <a:solidFill>
            <a:srgbClr val="2B2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2000" b="1">
                <a:solidFill>
                  <a:srgbClr val="FFED00"/>
                </a:solidFill>
                <a:latin typeface="Calibri"/>
              </a:rPr>
              <a:t>ОТКЛЮЧИ  ·  ПРОВЕРЬ  ·  ЗАБЛОКИРУЙ  ·  ПРИСТЕГНИСЬ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Источники и нормативная база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Oval 9"/>
          <p:cNvSpPr/>
          <p:nvPr/>
        </p:nvSpPr>
        <p:spPr>
          <a:xfrm>
            <a:off x="603504" y="185623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1" name="Источник 1"/>
          <p:cNvSpPr txBox="1"/>
          <p:nvPr/>
        </p:nvSpPr>
        <p:spPr>
          <a:xfrm>
            <a:off x="1234440" y="173736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Правила по охране труда при эксплуатации электроустановок (приказ Минтруда России от 15.12.2020 № 903н)</a:t>
            </a:r>
          </a:p>
        </p:txBody>
      </p:sp>
      <p:sp>
        <p:nvSpPr>
          <p:cNvPr id="12" name="Oval 11"/>
          <p:cNvSpPr/>
          <p:nvPr/>
        </p:nvSpPr>
        <p:spPr>
          <a:xfrm>
            <a:off x="603504" y="272491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3" name="Источник 2"/>
          <p:cNvSpPr txBox="1"/>
          <p:nvPr/>
        </p:nvSpPr>
        <p:spPr>
          <a:xfrm>
            <a:off x="1234440" y="260603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Правила по охране труда при работе на высоте (приказ Минтруда России от 16.11.2020 № 782н)</a:t>
            </a:r>
          </a:p>
        </p:txBody>
      </p:sp>
      <p:sp>
        <p:nvSpPr>
          <p:cNvPr id="14" name="Oval 13"/>
          <p:cNvSpPr/>
          <p:nvPr/>
        </p:nvSpPr>
        <p:spPr>
          <a:xfrm>
            <a:off x="603504" y="359359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15" name="Источник 3"/>
          <p:cNvSpPr txBox="1"/>
          <p:nvPr/>
        </p:nvSpPr>
        <p:spPr>
          <a:xfrm>
            <a:off x="1234440" y="347472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ГОСТ Р 12.4.026-2015 «Цвета сигнальные, знаки безопасности и разметка сигнальная»</a:t>
            </a:r>
          </a:p>
        </p:txBody>
      </p:sp>
      <p:sp>
        <p:nvSpPr>
          <p:cNvPr id="16" name="Oval 15"/>
          <p:cNvSpPr/>
          <p:nvPr/>
        </p:nvSpPr>
        <p:spPr>
          <a:xfrm>
            <a:off x="603504" y="4462272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17" name="Источник 4"/>
          <p:cNvSpPr txBox="1"/>
          <p:nvPr/>
        </p:nvSpPr>
        <p:spPr>
          <a:xfrm>
            <a:off x="1234440" y="4343400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Стандарты безопасности МЭК для фотоэлектрических модулей и ветроустановок, требования GWO к обучению персонала</a:t>
            </a:r>
          </a:p>
        </p:txBody>
      </p:sp>
      <p:sp>
        <p:nvSpPr>
          <p:cNvPr id="18" name="Oval 17"/>
          <p:cNvSpPr/>
          <p:nvPr/>
        </p:nvSpPr>
        <p:spPr>
          <a:xfrm>
            <a:off x="603504" y="5330951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500" b="1">
                <a:solidFill>
                  <a:srgbClr val="2B2B2B"/>
                </a:solidFill>
                <a:latin typeface="Calibri"/>
              </a:rPr>
              <a:t>5</a:t>
            </a:r>
          </a:p>
        </p:txBody>
      </p:sp>
      <p:sp>
        <p:nvSpPr>
          <p:cNvPr id="19" name="Источник 5"/>
          <p:cNvSpPr txBox="1"/>
          <p:nvPr/>
        </p:nvSpPr>
        <p:spPr>
          <a:xfrm>
            <a:off x="1234440" y="5212079"/>
            <a:ext cx="1033272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800" b="0">
                <a:solidFill>
                  <a:srgbClr val="2B2B2B"/>
                </a:solidFill>
                <a:latin typeface="Calibri"/>
              </a:rPr>
              <a:t>Паспорта и инструкции производителей оборудования конкретного объекта</a:t>
            </a:r>
          </a:p>
        </p:txBody>
      </p:sp>
      <p:sp>
        <p:nvSpPr>
          <p:cNvPr id="20" name="Оговорка"/>
          <p:cNvSpPr txBox="1"/>
          <p:nvPr/>
        </p:nvSpPr>
        <p:spPr>
          <a:xfrm>
            <a:off x="594360" y="6080760"/>
            <a:ext cx="10972800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/>
            <a:r>
              <a:rPr sz="1100" b="0">
                <a:solidFill>
                  <a:srgbClr val="8A8A8A"/>
                </a:solidFill>
                <a:latin typeface="Calibri"/>
              </a:rPr>
              <a:t>Числовые параметры на слайдах — ориентир; реквизиты документов и значения сверяйте с действующими редакциями.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Накопители энергии: литиевые аккумуляторы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10" name="Блок 1"/>
          <p:cNvSpPr/>
          <p:nvPr/>
        </p:nvSpPr>
        <p:spPr>
          <a:xfrm>
            <a:off x="594360" y="169164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5895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25880" y="1856232"/>
            <a:ext cx="44805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Тепловой разгон</a:t>
            </a:r>
          </a:p>
        </p:txBody>
      </p:sp>
      <p:sp>
        <p:nvSpPr>
          <p:cNvPr id="13" name="Блок 1 текст"/>
          <p:cNvSpPr txBox="1"/>
          <p:nvPr/>
        </p:nvSpPr>
        <p:spPr>
          <a:xfrm>
            <a:off x="777240" y="2423160"/>
            <a:ext cx="5029200" cy="13258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Перегрев, перезаряд или повреждение запускают цепную реакцию нагрева. Ячейка за ячейкой воспламеняется, температура быстро растёт, а батарея может загореться повторно уже после тушения.</a:t>
            </a:r>
          </a:p>
        </p:txBody>
      </p:sp>
      <p:sp>
        <p:nvSpPr>
          <p:cNvPr id="14" name="Блок 2"/>
          <p:cNvSpPr/>
          <p:nvPr/>
        </p:nvSpPr>
        <p:spPr>
          <a:xfrm>
            <a:off x="6217920" y="1691640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382512" y="1856231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1856232"/>
            <a:ext cx="44805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Токсичный дым и газы</a:t>
            </a:r>
          </a:p>
        </p:txBody>
      </p:sp>
      <p:sp>
        <p:nvSpPr>
          <p:cNvPr id="17" name="Блок 2 текст"/>
          <p:cNvSpPr txBox="1"/>
          <p:nvPr/>
        </p:nvSpPr>
        <p:spPr>
          <a:xfrm>
            <a:off x="6400800" y="2423160"/>
            <a:ext cx="5029200" cy="13258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При горении выделяются едкие и горючие газы, в том числе фтороводород. Входить в помещение без изолирующих средств защиты дыхания нельзя, вентиляцию продумывают заранее.</a:t>
            </a:r>
          </a:p>
        </p:txBody>
      </p:sp>
      <p:sp>
        <p:nvSpPr>
          <p:cNvPr id="18" name="Блок 3"/>
          <p:cNvSpPr/>
          <p:nvPr/>
        </p:nvSpPr>
        <p:spPr>
          <a:xfrm>
            <a:off x="594360" y="3977639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58952" y="414223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25880" y="4142231"/>
            <a:ext cx="44805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Электрические опасности</a:t>
            </a:r>
          </a:p>
        </p:txBody>
      </p:sp>
      <p:sp>
        <p:nvSpPr>
          <p:cNvPr id="21" name="Блок 3 текст"/>
          <p:cNvSpPr txBox="1"/>
          <p:nvPr/>
        </p:nvSpPr>
        <p:spPr>
          <a:xfrm>
            <a:off x="777240" y="4709159"/>
            <a:ext cx="5029200" cy="13258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Даже отключённая батарея остаётся под напряжением. Короткое замыкание даёт огромные токи и дугу, поэтому работают изолированным инструментом и снимают металлические украшения.</a:t>
            </a:r>
          </a:p>
        </p:txBody>
      </p:sp>
      <p:sp>
        <p:nvSpPr>
          <p:cNvPr id="22" name="Блок 4"/>
          <p:cNvSpPr/>
          <p:nvPr/>
        </p:nvSpPr>
        <p:spPr>
          <a:xfrm>
            <a:off x="6217920" y="3977639"/>
            <a:ext cx="5394960" cy="2103120"/>
          </a:xfrm>
          <a:prstGeom prst="roundRect">
            <a:avLst>
              <a:gd name="adj" fmla="val 8000"/>
            </a:avLst>
          </a:prstGeom>
          <a:solidFill>
            <a:srgbClr val="F1F1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6382512" y="4142232"/>
            <a:ext cx="402336" cy="402336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4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142231"/>
            <a:ext cx="4480560" cy="41148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Меры защиты</a:t>
            </a:r>
          </a:p>
        </p:txBody>
      </p:sp>
      <p:sp>
        <p:nvSpPr>
          <p:cNvPr id="25" name="Блок 4 текст"/>
          <p:cNvSpPr txBox="1"/>
          <p:nvPr/>
        </p:nvSpPr>
        <p:spPr>
          <a:xfrm>
            <a:off x="6400800" y="4709159"/>
            <a:ext cx="5029200" cy="13258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500" b="0">
                <a:solidFill>
                  <a:srgbClr val="4B4B4B"/>
                </a:solidFill>
                <a:latin typeface="Calibri"/>
              </a:rPr>
              <a:t>Контроль температуры и напряжения каждого модуля, автоматическое пожаротушение, разделение секций, дистанция между контейнерами, план реагирования и обучение персонала.</a:t>
            </a:r>
          </a:p>
        </p:txBody>
      </p:sp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ВЕТРОВЫЕ УСТАНОВКИ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graphicFrame>
        <p:nvGraphicFramePr>
          <p:cNvPr id="29" name="Параметры ветроустановки"/>
          <p:cNvGraphicFramePr>
            <a:graphicFrameLocks noGrp="1"/>
          </p:cNvGraphicFramePr>
          <p:nvPr/>
        </p:nvGraphicFramePr>
        <p:xfrm>
          <a:off x="594360" y="1783080"/>
          <a:ext cx="5303520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2468880"/>
              </a:tblGrid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Параметр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B2B2B"/>
                          </a:solidFill>
                          <a:latin typeface="Calibri"/>
                        </a:rPr>
                        <a:t>Значение</a:t>
                      </a:r>
                    </a:p>
                  </a:txBody>
                  <a:tcPr anchor="ctr">
                    <a:solidFill>
                      <a:srgbClr val="FFED0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Высота башни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80–120 м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Диаметр ротора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100–170 м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Скорость конца лопасти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до ≈ 300 км/ч</a:t>
                      </a:r>
                    </a:p>
                  </a:txBody>
                  <a:tcPr anchor="ctr">
                    <a:solidFill>
                      <a:srgbClr val="4B4B4B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FFFFFF"/>
                          </a:solidFill>
                          <a:latin typeface="Calibri"/>
                        </a:rPr>
                        <a:t>Рабочее место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  <a:latin typeface="Calibri"/>
                        </a:rPr>
                        <a:t>тесная гондола наверху</a:t>
                      </a:r>
                    </a:p>
                  </a:txBody>
                  <a:tcPr anchor="ctr">
                    <a:solidFill>
                      <a:srgbClr val="5A5A5A"/>
                    </a:solidFill>
                  </a:tcPr>
                </a:tc>
              </a:tr>
            </a:tbl>
          </a:graphicData>
        </a:graphic>
      </p:graphicFrame>
      <p:sp>
        <p:nvSpPr>
          <p:cNvPr id="30" name="Пояснение"/>
          <p:cNvSpPr txBox="1"/>
          <p:nvPr/>
        </p:nvSpPr>
        <p:spPr>
          <a:xfrm>
            <a:off x="594360" y="4663440"/>
            <a:ext cx="5303520" cy="155448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400" b="0">
                <a:solidFill>
                  <a:srgbClr val="FFFFFF"/>
                </a:solidFill>
                <a:latin typeface="Calibri"/>
              </a:rPr>
              <a:t>Ветроустановка — это высота, вращающиеся части и электрооборудование в одном месте. Подъём и спуск занимают время, поэтому действия при аварии и спасение нужно продумать заранее. Перед работой установку останавливают, ротор фиксируют, а ответственный подтверждает, что запуск невозможен.</a:t>
            </a:r>
          </a:p>
        </p:txBody>
      </p:sp>
      <p:sp>
        <p:nvSpPr>
          <p:cNvPr id="31" name="Чем опасны"/>
          <p:cNvSpPr/>
          <p:nvPr/>
        </p:nvSpPr>
        <p:spPr>
          <a:xfrm>
            <a:off x="6309360" y="178308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46520" y="1892807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Чем опасны</a:t>
            </a:r>
          </a:p>
        </p:txBody>
      </p:sp>
      <p:sp>
        <p:nvSpPr>
          <p:cNvPr id="33" name="Чем опасны список"/>
          <p:cNvSpPr txBox="1"/>
          <p:nvPr/>
        </p:nvSpPr>
        <p:spPr>
          <a:xfrm>
            <a:off x="6446520" y="235000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Падение при подъёме по лестнице и работе в гондоле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Вращающиеся части и внезапный запуск без предупреждения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Куски льда, слетающие с лопастей, и молния в грозу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Пожар в гондоле, где путь эвакуации только один</a:t>
            </a:r>
          </a:p>
        </p:txBody>
      </p:sp>
      <p:sp>
        <p:nvSpPr>
          <p:cNvPr id="34" name="Что делать"/>
          <p:cNvSpPr/>
          <p:nvPr/>
        </p:nvSpPr>
        <p:spPr>
          <a:xfrm>
            <a:off x="6309360" y="4114800"/>
            <a:ext cx="5303520" cy="214884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46520" y="4224528"/>
            <a:ext cx="502920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Что делать</a:t>
            </a:r>
          </a:p>
        </p:txBody>
      </p:sp>
      <p:sp>
        <p:nvSpPr>
          <p:cNvPr id="36" name="Что делать список"/>
          <p:cNvSpPr txBox="1"/>
          <p:nvPr/>
        </p:nvSpPr>
        <p:spPr>
          <a:xfrm>
            <a:off x="6446520" y="4681728"/>
            <a:ext cx="5029200" cy="1508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Остановить и заблокировать установку до начала работ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Работать только по допуску, в паре и со страховкой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Не приближаться к башне при обледенении лопастей</a:t>
            </a:r>
          </a:p>
          <a:p>
            <a:pPr algn="l">
              <a:spcAft>
                <a:spcPts val="6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400" b="0">
                <a:solidFill>
                  <a:srgbClr val="FFFFFF"/>
                </a:solidFill>
                <a:latin typeface="Calibri"/>
              </a:rPr>
              <a:t>Не подниматься при грозе и сильном ветре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Прямоугольник 23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>
              <a:solidFill>
                <a:srgbClr val="4B4B4B"/>
              </a:solidFill>
            </a:endParaRPr>
          </a:p>
        </p:txBody>
      </p:sp>
      <p:sp>
        <p:nvSpPr>
          <p:cNvPr id="4" name="Прямоугольник 3"/>
          <p:cNvSpPr/>
          <p:nvPr/>
        </p:nvSpPr>
        <p:spPr>
          <a:xfrm>
            <a:off x="285233" y="919839"/>
            <a:ext cx="10574884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cs typeface="Arial" panose="020B0604020202020204" pitchFamily="34" charset="0"/>
              </a:rPr>
              <a:t>ДЕЙСТВИЯ ПРИ АВАРИИ</a:t>
            </a:r>
          </a:p>
        </p:txBody>
      </p:sp>
      <p:pic>
        <p:nvPicPr>
          <p:cNvPr id="25" name="Рисунок 24"/>
          <p:cNvPicPr>
            <a:picLocks noChangeAspect="1"/>
          </p:cNvPicPr>
          <p:nvPr/>
        </p:nvPicPr>
        <p:blipFill>
          <a:blip r:embed="rId11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sp>
        <p:nvSpPr>
          <p:cNvPr id="28" name="Прямоугольник 27"/>
          <p:cNvSpPr/>
          <p:nvPr/>
        </p:nvSpPr>
        <p:spPr>
          <a:xfrm>
            <a:off x="8483138" y="105291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29" name="Поражение током и падение"/>
          <p:cNvSpPr/>
          <p:nvPr/>
        </p:nvSpPr>
        <p:spPr>
          <a:xfrm>
            <a:off x="59436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2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Поражение током и падение</a:t>
            </a:r>
          </a:p>
        </p:txBody>
      </p:sp>
      <p:sp>
        <p:nvSpPr>
          <p:cNvPr id="31" name="Поражение током и падение список"/>
          <p:cNvSpPr txBox="1"/>
          <p:nvPr/>
        </p:nvSpPr>
        <p:spPr>
          <a:xfrm>
            <a:off x="73152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Обесточить цепь или отстранить провод сухим диэлектрическим предметом</a:t>
            </a:r>
          </a:p>
          <a:p>
            <a:pPr algn="l">
              <a:spcAft>
                <a:spcPts val="12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Не касаться пострадавшего, пока он под напряжением</a:t>
            </a:r>
          </a:p>
          <a:p>
            <a:pPr algn="l">
              <a:spcAft>
                <a:spcPts val="12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Нет дыхания — начать сердечно-лёгочную реанимацию</a:t>
            </a:r>
          </a:p>
          <a:p>
            <a:pPr algn="l">
              <a:spcAft>
                <a:spcPts val="12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После падения без нужды не перемещать пострадавшего</a:t>
            </a:r>
          </a:p>
        </p:txBody>
      </p:sp>
      <p:sp>
        <p:nvSpPr>
          <p:cNvPr id="32" name="Пожар на объекте"/>
          <p:cNvSpPr/>
          <p:nvPr/>
        </p:nvSpPr>
        <p:spPr>
          <a:xfrm>
            <a:off x="6217920" y="1783080"/>
            <a:ext cx="5394960" cy="3246120"/>
          </a:xfrm>
          <a:prstGeom prst="roundRect">
            <a:avLst>
              <a:gd name="adj" fmla="val 8000"/>
            </a:avLst>
          </a:prstGeom>
          <a:solidFill>
            <a:srgbClr val="4B4B4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55080" y="1892807"/>
            <a:ext cx="5120640" cy="365760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FFED00"/>
                </a:solidFill>
                <a:latin typeface="Calibri"/>
              </a:rPr>
              <a:t>Пожар на объекте</a:t>
            </a:r>
          </a:p>
        </p:txBody>
      </p:sp>
      <p:sp>
        <p:nvSpPr>
          <p:cNvPr id="34" name="Пожар на объекте список"/>
          <p:cNvSpPr txBox="1"/>
          <p:nvPr/>
        </p:nvSpPr>
        <p:spPr>
          <a:xfrm>
            <a:off x="6355080" y="2350008"/>
            <a:ext cx="5120640" cy="2606039"/>
          </a:xfrm>
          <a:prstGeom prst="rect">
            <a:avLst/>
          </a:prstGeom>
          <a:noFill/>
        </p:spPr>
        <p:txBody>
          <a:bodyPr wrap="square" anchor="t" lIns="18288" rIns="18288" tIns="27432" bIns="27432">
            <a:spAutoFit/>
          </a:bodyPr>
          <a:lstStyle/>
          <a:p>
            <a:pPr algn="l">
              <a:spcAft>
                <a:spcPts val="12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Сообщить диспетчеру объекта и позвонить в 112</a:t>
            </a:r>
          </a:p>
          <a:p>
            <a:pPr algn="l">
              <a:spcAft>
                <a:spcPts val="12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Электроустановку под напряжением водой не тушить</a:t>
            </a:r>
          </a:p>
          <a:p>
            <a:pPr algn="l">
              <a:spcAft>
                <a:spcPts val="12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Горят литиевые батареи: держаться дальше от дыма</a:t>
            </a:r>
          </a:p>
          <a:p>
            <a:pPr algn="l">
              <a:spcAft>
                <a:spcPts val="1200"/>
              </a:spcAft>
            </a:pPr>
            <a:r>
              <a:rPr sz="1000" b="0">
                <a:solidFill>
                  <a:srgbClr val="FFED00"/>
                </a:solidFill>
                <a:latin typeface="Calibri"/>
              </a:rPr>
              <a:t>■  </a:t>
            </a:r>
            <a:r>
              <a:rPr sz="1600" b="0">
                <a:solidFill>
                  <a:srgbClr val="FFFFFF"/>
                </a:solidFill>
                <a:latin typeface="Calibri"/>
              </a:rPr>
              <a:t>Эвакуироваться по указанному пути, собраться в пункте сбора</a:t>
            </a:r>
          </a:p>
        </p:txBody>
      </p:sp>
      <p:sp>
        <p:nvSpPr>
          <p:cNvPr id="35" name="Вызов помощи"/>
          <p:cNvSpPr/>
          <p:nvPr/>
        </p:nvSpPr>
        <p:spPr>
          <a:xfrm>
            <a:off x="594360" y="5257800"/>
            <a:ext cx="11018520" cy="960120"/>
          </a:xfrm>
          <a:prstGeom prst="roundRect">
            <a:avLst>
              <a:gd name="adj" fmla="val 8000"/>
            </a:avLst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Вызов помощи: 112. </a:t>
            </a:r>
            <a:r>
              <a:rPr sz="1600" b="0">
                <a:solidFill>
                  <a:srgbClr val="2B2B2B"/>
                </a:solidFill>
                <a:latin typeface="Calibri"/>
              </a:rPr>
              <a:t>Назовите объект, место и число пострадавших; встречайте бригаду у въезда</a:t>
            </a:r>
          </a:p>
        </p:txBody>
      </p:sp>
    </p:spTree>
    <p:extLst>
      <p:ext uri="{BB962C8B-B14F-4D97-AF65-F5344CB8AC3E}">
        <p14:creationId xmlns:p14="http://schemas.microsoft.com/office/powerpoint/2010/main" val="112388308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797165" y="2978931"/>
            <a:ext cx="4907902" cy="990698"/>
          </a:xfrm>
        </p:spPr>
        <p:txBody>
          <a:bodyPr>
            <a:normAutofit/>
          </a:bodyPr>
          <a:lstStyle/>
          <a:p>
            <a:pPr algn="l"/>
            <a:r>
              <a:rPr lang="ru-RU" sz="4000" dirty="0">
                <a:latin typeface="Druk Wide Cyr" pitchFamily="50" charset="-52"/>
              </a:rPr>
              <a:t>Выводы</a:t>
            </a:r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865589" y="5437059"/>
            <a:ext cx="4447592" cy="652722"/>
          </a:xfrm>
        </p:spPr>
        <p:txBody>
          <a:bodyPr>
            <a:normAutofit/>
          </a:bodyPr>
          <a:lstStyle/>
          <a:p>
            <a:pPr algn="l"/>
            <a:r>
              <a:rPr lang="ru-RU" dirty="0">
                <a:latin typeface="Mabry Pro" panose="020D0503040002040303" pitchFamily="34" charset="0"/>
              </a:rPr>
              <a:t>Чистая энергия безопасна, когда безопасна работа с ней</a:t>
            </a:r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1748" y="461707"/>
            <a:ext cx="5185009" cy="1989134"/>
          </a:xfrm>
          <a:prstGeom prst="rect">
            <a:avLst/>
          </a:prstGeom>
        </p:spPr>
      </p:pic>
      <p:sp>
        <p:nvSpPr>
          <p:cNvPr id="5" name="Oval 4"/>
          <p:cNvSpPr/>
          <p:nvPr/>
        </p:nvSpPr>
        <p:spPr>
          <a:xfrm>
            <a:off x="6318504" y="106070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1</a:t>
            </a:r>
          </a:p>
        </p:txBody>
      </p:sp>
      <p:sp>
        <p:nvSpPr>
          <p:cNvPr id="6" name="Вывод 1"/>
          <p:cNvSpPr txBox="1"/>
          <p:nvPr/>
        </p:nvSpPr>
        <p:spPr>
          <a:xfrm>
            <a:off x="6903720" y="91440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Главные риски на объектах ВИЭ: электричество, высота и огонь</a:t>
            </a:r>
          </a:p>
        </p:txBody>
      </p:sp>
      <p:sp>
        <p:nvSpPr>
          <p:cNvPr id="7" name="Oval 6"/>
          <p:cNvSpPr/>
          <p:nvPr/>
        </p:nvSpPr>
        <p:spPr>
          <a:xfrm>
            <a:off x="6318504" y="2066543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2</a:t>
            </a:r>
          </a:p>
        </p:txBody>
      </p:sp>
      <p:sp>
        <p:nvSpPr>
          <p:cNvPr id="8" name="Вывод 2"/>
          <p:cNvSpPr txBox="1"/>
          <p:nvPr/>
        </p:nvSpPr>
        <p:spPr>
          <a:xfrm>
            <a:off x="6903720" y="192024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Постоянный ток на панелях опасен, пока на них падает свет</a:t>
            </a:r>
          </a:p>
        </p:txBody>
      </p:sp>
      <p:sp>
        <p:nvSpPr>
          <p:cNvPr id="9" name="Oval 8"/>
          <p:cNvSpPr/>
          <p:nvPr/>
        </p:nvSpPr>
        <p:spPr>
          <a:xfrm>
            <a:off x="6318504" y="307238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3</a:t>
            </a:r>
          </a:p>
        </p:txBody>
      </p:sp>
      <p:sp>
        <p:nvSpPr>
          <p:cNvPr id="10" name="Вывод 3"/>
          <p:cNvSpPr txBox="1"/>
          <p:nvPr/>
        </p:nvSpPr>
        <p:spPr>
          <a:xfrm>
            <a:off x="6903720" y="292608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Работы только по наряду, с блокировкой и проверкой напряжения</a:t>
            </a:r>
          </a:p>
        </p:txBody>
      </p:sp>
      <p:sp>
        <p:nvSpPr>
          <p:cNvPr id="11" name="Oval 10"/>
          <p:cNvSpPr/>
          <p:nvPr/>
        </p:nvSpPr>
        <p:spPr>
          <a:xfrm>
            <a:off x="6318504" y="407822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4</a:t>
            </a:r>
          </a:p>
        </p:txBody>
      </p:sp>
      <p:sp>
        <p:nvSpPr>
          <p:cNvPr id="12" name="Вывод 4"/>
          <p:cNvSpPr txBox="1"/>
          <p:nvPr/>
        </p:nvSpPr>
        <p:spPr>
          <a:xfrm>
            <a:off x="6903720" y="393192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Высота требует допуска, СИЗ, страховки и плана спасения</a:t>
            </a:r>
          </a:p>
        </p:txBody>
      </p:sp>
      <p:sp>
        <p:nvSpPr>
          <p:cNvPr id="13" name="Oval 12"/>
          <p:cNvSpPr/>
          <p:nvPr/>
        </p:nvSpPr>
        <p:spPr>
          <a:xfrm>
            <a:off x="6318504" y="5084064"/>
            <a:ext cx="438912" cy="438912"/>
          </a:xfrm>
          <a:prstGeom prst="ellipse">
            <a:avLst/>
          </a:prstGeom>
          <a:solidFill>
            <a:srgbClr val="FFED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/>
            <a:r>
              <a:rPr sz="1600" b="1">
                <a:solidFill>
                  <a:srgbClr val="2B2B2B"/>
                </a:solidFill>
                <a:latin typeface="Calibri"/>
              </a:rPr>
              <a:t>5</a:t>
            </a:r>
          </a:p>
        </p:txBody>
      </p:sp>
      <p:sp>
        <p:nvSpPr>
          <p:cNvPr id="14" name="Вывод 5"/>
          <p:cNvSpPr txBox="1"/>
          <p:nvPr/>
        </p:nvSpPr>
        <p:spPr>
          <a:xfrm>
            <a:off x="6903720" y="4937760"/>
            <a:ext cx="4754880" cy="777240"/>
          </a:xfrm>
          <a:prstGeom prst="rect">
            <a:avLst/>
          </a:prstGeom>
          <a:noFill/>
        </p:spPr>
        <p:txBody>
          <a:bodyPr wrap="square" anchor="ctr" lIns="18288" rIns="18288" tIns="27432" bIns="27432">
            <a:spAutoFit/>
          </a:bodyPr>
          <a:lstStyle/>
          <a:p>
            <a:pPr algn="l"/>
            <a:r>
              <a:rPr sz="1600" b="1">
                <a:solidFill>
                  <a:srgbClr val="2B2B2B"/>
                </a:solidFill>
                <a:latin typeface="Calibri"/>
              </a:rPr>
              <a:t>Знайте знаки и порядок действий при аварии и пожаре батарей</a:t>
            </a:r>
          </a:p>
        </p:txBody>
      </p:sp>
    </p:spTree>
    <p:extLst>
      <p:ext uri="{BB962C8B-B14F-4D97-AF65-F5344CB8AC3E}">
        <p14:creationId xmlns:p14="http://schemas.microsoft.com/office/powerpoint/2010/main" val="368635860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Обучение, допуск и медконтроль персонала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Допуск персонала"/>
          <p:cNvGraphicFramePr>
            <a:graphicFrameLocks noGrp="1"/>
          </p:cNvGraphicFramePr>
          <p:nvPr/>
        </p:nvGraphicFramePr>
        <p:xfrm>
          <a:off x="594360" y="1691640"/>
          <a:ext cx="1101852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5120640"/>
                <a:gridCol w="333756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Что нужно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Требование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Зачем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Группа по электробезопасности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Присваивается по результатам проверки знаний, от II до V группы в зависимости от видов работ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Определяет, какие операции с электроустановкой разрешены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Допуск к работам на высоте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Обучение, медосмотр и группа допуска (1, 2 или 3) по правилам работы на высоте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Подтверждает умение работать и страховать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Инструктажи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Вводный, первичный на рабочем месте, повторный, внеплановый и целевой перед опасными работами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Персонал знает риски конкретного объекта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Обучение GWO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Курсы по работе на высоте, спасению с башни, первой помощи и пожарной безопасности в ветроэнергетике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Единые навыки и спасение с башни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77724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Медосмотры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Предварительные и периодические осмотры для работ на высоте и во вредных условиях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Исключает работу при противопоказаниях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407988" y="765175"/>
            <a:ext cx="10515600" cy="681885"/>
          </a:xfrm>
        </p:spPr>
        <p:txBody>
          <a:bodyPr>
            <a:normAutofit/>
          </a:bodyPr>
          <a:lstStyle/>
          <a:p>
            <a:r>
              <a:rPr lang="ru-RU" sz="2800" b="1" dirty="0">
                <a:solidFill>
                  <a:schemeClr val="tx1">
                    <a:lumMod val="85000"/>
                    <a:lumOff val="15000"/>
                  </a:schemeClr>
                </a:solidFill>
                <a:latin typeface="+mn-lt"/>
              </a:rPr>
              <a:t>Типичные ошибки и как их избежать</a:t>
            </a:r>
          </a:p>
        </p:txBody>
      </p:sp>
      <p:sp>
        <p:nvSpPr>
          <p:cNvPr id="6" name="Прямоугольник 5"/>
          <p:cNvSpPr/>
          <p:nvPr/>
        </p:nvSpPr>
        <p:spPr>
          <a:xfrm>
            <a:off x="8330738" y="132112"/>
            <a:ext cx="3473334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/>
            <a:r>
              <a:rPr lang="ru-RU" sz="1600" b="1" dirty="0">
                <a:solidFill>
                  <a:schemeClr val="bg1"/>
                </a:solidFill>
              </a:rPr>
              <a:t>ВИЭ: БЕЗОПАСНОСТЬ</a:t>
            </a:r>
          </a:p>
        </p:txBody>
      </p:sp>
      <p:sp>
        <p:nvSpPr>
          <p:cNvPr id="8" name="Прямоугольник 7"/>
          <p:cNvSpPr/>
          <p:nvPr/>
        </p:nvSpPr>
        <p:spPr>
          <a:xfrm>
            <a:off x="0" y="-2992"/>
            <a:ext cx="12192000" cy="571403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pic>
        <p:nvPicPr>
          <p:cNvPr id="9" name="Рисунок 8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6995" y="141442"/>
            <a:ext cx="3185962" cy="351041"/>
          </a:xfrm>
          <a:prstGeom prst="rect">
            <a:avLst/>
          </a:prstGeom>
        </p:spPr>
      </p:pic>
      <p:graphicFrame>
        <p:nvGraphicFramePr>
          <p:cNvPr id="10" name="Типичные ошибки"/>
          <p:cNvGraphicFramePr>
            <a:graphicFrameLocks noGrp="1"/>
          </p:cNvGraphicFramePr>
          <p:nvPr/>
        </p:nvGraphicFramePr>
        <p:xfrm>
          <a:off x="594360" y="1691640"/>
          <a:ext cx="11018520" cy="4297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657600"/>
                <a:gridCol w="3291840"/>
                <a:gridCol w="406908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Ошибка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К чему приводит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ED00"/>
                          </a:solidFill>
                          <a:latin typeface="Calibri"/>
                        </a:rPr>
                        <a:t>Как избежать</a:t>
                      </a:r>
                    </a:p>
                  </a:txBody>
                  <a:tcPr anchor="ctr">
                    <a:solidFill>
                      <a:srgbClr val="2B2B2B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Работа без отключения и проверки напряжения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Поражение током, дуга, ожоги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Отключить, заблокировать, проверить прибором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Снятие чужой блокировки «на минуту»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Подача напряжения на людей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Блокировку снимает тот, кто её установил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Работа в одиночку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Некому помочь при падении или ударе током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Работать вдвоём, держать связь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Отказ от страховки «ненадолго»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Падение с крыши или башни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Пристёгиваться на всём пути, проверять СИЗ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Спешка и усталость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Пропущенные шаги и ошибки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Планировать время, делать перерывы, работать по списку</a:t>
                      </a:r>
                    </a:p>
                  </a:txBody>
                  <a:tcPr anchor="ctr">
                    <a:solidFill>
                      <a:srgbClr val="F1F1F1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2B2B2B"/>
                          </a:solidFill>
                          <a:latin typeface="Calibri"/>
                        </a:rPr>
                        <a:t>Игнорирование погоды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Падение, удар молнии, лёд с лопастей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B2B2B"/>
                          </a:solidFill>
                          <a:latin typeface="Calibri"/>
                        </a:rPr>
                        <a:t>Смотреть прогноз, мерить ветер, соблюдать запреты</a:t>
                      </a:r>
                    </a:p>
                  </a:txBody>
                  <a:tcPr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527513127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Slidesgo Final Pages">
  <a:themeElements>
    <a:clrScheme name="Simple Light">
      <a:dk1>
        <a:srgbClr val="331E3F"/>
      </a:dk1>
      <a:lt1>
        <a:srgbClr val="FFFAF3"/>
      </a:lt1>
      <a:dk2>
        <a:srgbClr val="C5144C"/>
      </a:dk2>
      <a:lt2>
        <a:srgbClr val="FF7140"/>
      </a:lt2>
      <a:accent1>
        <a:srgbClr val="FFB0BF"/>
      </a:accent1>
      <a:accent2>
        <a:srgbClr val="FF8E9E"/>
      </a:accent2>
      <a:accent3>
        <a:srgbClr val="FFA39A"/>
      </a:accent3>
      <a:accent4>
        <a:srgbClr val="FFD6C8"/>
      </a:accent4>
      <a:accent5>
        <a:srgbClr val="6E0A2A"/>
      </a:accent5>
      <a:accent6>
        <a:srgbClr val="FFFFFF"/>
      </a:accent6>
      <a:hlink>
        <a:srgbClr val="869FB2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337</Words>
  <Application>Microsoft Office PowerPoint</Application>
  <PresentationFormat>Широкоэкранный</PresentationFormat>
  <Paragraphs>85</Paragraphs>
  <Slides>21</Slides>
  <Notes>13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10</vt:i4>
      </vt:variant>
      <vt:variant>
        <vt:lpstr>Тема</vt:lpstr>
      </vt:variant>
      <vt:variant>
        <vt:i4>2</vt:i4>
      </vt:variant>
      <vt:variant>
        <vt:lpstr>Заголовки слайдов</vt:lpstr>
      </vt:variant>
      <vt:variant>
        <vt:i4>21</vt:i4>
      </vt:variant>
    </vt:vector>
  </HeadingPairs>
  <TitlesOfParts>
    <vt:vector size="33" baseType="lpstr">
      <vt:lpstr>Amatic SC</vt:lpstr>
      <vt:lpstr>Arial</vt:lpstr>
      <vt:lpstr>Calibri</vt:lpstr>
      <vt:lpstr>Calibri Light</vt:lpstr>
      <vt:lpstr>Druk Wide Cyr</vt:lpstr>
      <vt:lpstr>Mabry Pro</vt:lpstr>
      <vt:lpstr>Proxima Nova</vt:lpstr>
      <vt:lpstr>Roboto Medium</vt:lpstr>
      <vt:lpstr>Times New Roman</vt:lpstr>
      <vt:lpstr>Wingdings</vt:lpstr>
      <vt:lpstr>Тема Office</vt:lpstr>
      <vt:lpstr>Slidesgo Final Pages</vt:lpstr>
      <vt:lpstr>Презентация PowerPoint</vt:lpstr>
      <vt:lpstr>Название слайда</vt:lpstr>
      <vt:lpstr>Презентация PowerPoint</vt:lpstr>
      <vt:lpstr>Презентация PowerPoint</vt:lpstr>
      <vt:lpstr>Слайд</vt:lpstr>
      <vt:lpstr>Заголовок</vt:lpstr>
      <vt:lpstr>Слайд</vt:lpstr>
      <vt:lpstr>Слайд</vt:lpstr>
      <vt:lpstr>Use our editable graphic resources...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...and our sets of editable icons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Слайд</dc:title>
  <dc:creator>Щекатурова Екатерина Юрьевна</dc:creator>
  <cp:lastModifiedBy>Алексей</cp:lastModifiedBy>
  <cp:revision>7</cp:revision>
  <dcterms:created xsi:type="dcterms:W3CDTF">2024-06-07T11:08:18Z</dcterms:created>
  <dcterms:modified xsi:type="dcterms:W3CDTF">2025-08-29T11:14:13Z</dcterms:modified>
</cp:coreProperties>
</file>