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60" r:id="rId3"/>
    <p:sldId id="278" r:id="rId29"/>
    <p:sldId id="279" r:id="rId30"/>
    <p:sldId id="280" r:id="rId31"/>
    <p:sldId id="288" r:id="rId39"/>
    <p:sldId id="281" r:id="rId32"/>
    <p:sldId id="282" r:id="rId33"/>
    <p:sldId id="283" r:id="rId34"/>
    <p:sldId id="284" r:id="rId35"/>
    <p:sldId id="285" r:id="rId36"/>
    <p:sldId id="289" r:id="rId40"/>
    <p:sldId id="290" r:id="rId41"/>
    <p:sldId id="286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01305-19E7-4782-B941-09E80DE4569E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73E0B-056B-4491-865D-67CF282AB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683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день! Меня зовут Григорий Чеботарь. Тема моего доклада: безопасность при эксплуатации альтернативной энергетики, а именно солнечных панелей и ветряков, и риски для персонала. Я покажу, где на таких объектах опасно, как защититься, и разберу плакат: схему солнечной станции, опасности при обслуживании и знаки безопасности.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Возобновляемая энергетика быстро растёт: по оценкам, около 30 % мировой выработки электроэнергии приходится на возобновляемые источники, если считать гидроэнергетику. Но «зелёная» не значит безопасная. В цепях солнечных станций напряжение постоянного тока достигает 1500 вольт. Башня ветроустановки поднимается на 80–120 метров. Оборудование служит 25–30 лет, и всё это время его обслуживают люди. Поэтому в докладе: карта рисков, солнечные станции, ветроустановки, электробезопасность, работа на высоте, средства защиты, знаки и действия при аварии.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карта рисков по типам объектов. Солнечная станция: постоянное напряжение до 1500 В, дуговой разряд, пожар, жара и падение с крыши. Главная мера: отключить, проверить отсутствие напряжения и использовать страховку. Ветроустановка: высота, вращающиеся части, обледенение лопастей, молния и пожар в гондоле. Меры: остановить и заблокировать установку, допуск к работе на высоте, запретная зона. Накопители энергии: литиевые аккумуляторы могут гореть и выделять токсичный дым, поэтому нужны контроль температуры и вентиляция. Подстанции и кабели: высокое напряжение, шаговое напряжение и обратное питание. Вывод: опасность создают электричество, высота и огонь, а не сама технология.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Особенность солнечной станции в том, что панель нельзя выключить: пока на неё падает свет, она вырабатывает напряжение. Выключатель отключает только часть цепи. Второе: на постоянном токе дуга при плохом контакте горит устойчиво и быстро приводит к пожару. Третье: работы на крышах и полях связаны с падением, скользкой поверхностью, острыми кромками рам и жарой. Четвёртое: электроустановку под напряжением нельзя тушить водой. Справа типичные параметры: напряжение строки 600–1500 В, нагрев модуля на солнце до 70–85 градусов, срок службы 25–30 лет. Точные значения зависят от проекта и указаны в паспорте.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Ветроустановка: башня 80–120 метров, ротор диаметром 100–170 метров, скорость конца лопасти до 300 километров в час. Рабочее место находится в тесной гондоле наверху. Опасности: падение с высоты, вращающиеся части, внезапный запуск, куски льда с лопастей, молния и пожар в гондоле, где путь эвакуации один. Меры: остановить и заблокировать установку до начала работ, работать только по допуску и вдвоём, не приближаться к башне при обледенении и не подниматься при грозе и сильном ветре.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Электротравмы самые тяжёлые. Риски: дуговой разряд на постоянном токе, обратное питание из сети или от панелей, остаточный заряд конденсаторов инверторов, влага и повреждённая изоляция. Меры: наряд-допуск, отключение и блокировка с замком и биркой на каждом разъединителе, проверка отсутствия напряжения прибором и правильные СИЗ: диэлектрический инструмент и перчатки. Золотое правило: считать всё находящимся под напряжением, пока вы сами не убедились в обратном.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Работа на высоте включает три задачи. Первая: предотвратить падение. Это ограждения, анкерные линии, привязь с двумя лонжами и осмотр СИЗ перед подъёмом. Вторая: подготовить спасение, потому что повисание в привязи опасно уже через несколько минут. Нужны набор для эвакуации, обученная группа и план спасения для каждого объекта. Третья: учесть погоду. При сильном ветре, грозе, льде и жаре подъём запрещают в пределах, указанных в инструкции. Допуск к высоте означает обучение, медосмотр, исправные СИЗ и страхующего напарника.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таблице СИЗ по частям тела. Голова: каска с подбородочным ремнём. Падение: страховочная привязь, лонжи и анкерные точки. Руки: диэлектрические перчатки, а для рам панелей ещё и перчатки от пореза. Ноги: диэлектрические боты или нескользящая обувь с жёстким носком. Лицо и тело: щиток или очки от дуги и огнестойкая одежда. Погода: головной убор, очки от солнца и запас воды. Внизу про знаки по ГОСТ Р 12.4.026: жёлтые предупреждают, синие предписывают, красные запрещают, зелёные показывают путь эвакуации.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Безопасная работа идёт по порядку. Первое: наряд-допуск, инструктаж, ответственный и страхующий. Второе: оценка условий: ветер, гроза, обледенение, жара, освещение. Третье: отключение и блокировка, на разъединители вешают замок и бирку. Четвёртое: проверка прибором, что напряжения нет. Помните, что панели днём остаются под напряжением. Пятое: выполнение работ вдвоём, со связью и страховкой. Шестое: закрытие наряда: собрать людей, снять блокировки и включать только по команде ответственного.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собирает главное. Слева состав солнечной станции и опасный узел на каждом этапе: панели с постоянным током до 1500 вольт, инвертор с зарядом конденсаторов, трансформатор с высоким напряжением и подстанция с обратным питанием. В центре четыре группы опасностей при работах: падение, электричество, огонь и погода. Справа знаки безопасности четырёх цветов: предупреждающие, предписывающие, запрещающие и эвакуационные. Внизу девиз: отключи, проверь, заблокируй, пристегнись.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 аварии. Поражение током: обесточить цепь или отстранить человека предметом из диэлектрика, не прикасаться к пострадавшему под напряжением, при отсутствии дыхания начать реанимацию. При падении без необходимости не перемещать пострадавшего. Пожар: сообщить диспетчеру и позвонить в 112, электроустановку под напряжением водой не тушить, от литиевых батарей держаться дальше из-за дыма, эвакуироваться по указанному пути. Диспетчеру назвать объект, место и число пострадавших.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Итоги. Первое: главные риски на объектах ВИЭ: электричество, высота и огонь. Второе: постоянный ток на панелях опасен, пока на них падает свет. Третье: работы только по наряду, с блокировкой и проверкой отсутствия напряжения. Четвёртое: высота требует допуска, СИЗ и плана спасения. Пятое: нужно знать знаки безопасности и порядок действий при аварии. Чистая энергия безопасна, когда безопасна работа с ней. 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Использованы правила по охране труда при эксплуатации электроустановок (приказ 903н), правила по охране труда при работе на высоте (приказ 782н), ГОСТ Р 12.4.026-2015 по знакам безопасности, международные стандарты МЭК и требования GWO к обучению, а также инструкции производителей. Числовые параметры ориентировочные и зависят от конкретного объекта.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6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50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38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352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39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64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1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03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57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2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094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57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34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85823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8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93" name="Google Shape;1993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27431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3.png"/><Relationship Id="rId1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3.png"/><Relationship Id="rId1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</a:t>
            </a:r>
            <a:r>
              <a:rPr lang="ru-RU"/>
              <a:t> </a:t>
            </a:r>
          </a:p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</a:t>
            </a:r>
          </a:p>
          <a:p>
            <a:pPr algn="ctr"/>
            <a:r>
              <a:rPr lang="ru-RU"/>
              <a:t>«Безопасность жизнедеятельности»</a:t>
            </a:r>
          </a:p>
          <a:p>
            <a:pPr algn="ctr"/>
            <a:endParaRPr lang="ru-RU"/>
          </a:p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</a:t>
            </a:r>
          </a:p>
          <a:p>
            <a:pPr algn="ctr"/>
            <a:r>
              <a:rPr lang="ru-RU"/>
              <a:t>«Безопасность при эксплуатации альтернативной энергетики: солнечные панели, ветряки, риски для персонала»</a:t>
            </a:r>
          </a:p>
          <a:p>
            <a:pPr algn="ctr"/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72" y="192523"/>
            <a:ext cx="7617667" cy="238184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543" y="544078"/>
            <a:ext cx="4614297" cy="17701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6193D2-C5AA-C648-1208-9618951538E2}"/>
              </a:ext>
            </a:extLst>
          </p:cNvPr>
          <p:cNvSpPr txBox="1"/>
          <p:nvPr/>
        </p:nvSpPr>
        <p:spPr>
          <a:xfrm>
            <a:off x="535972" y="4578588"/>
            <a:ext cx="61016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___________</a:t>
            </a:r>
          </a:p>
          <a:p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Чеботарь Григорий</a:t>
            </a:r>
          </a:p>
          <a:p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13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Почему безопасность «зелёной» энергетики важна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Карточка 1"/>
          <p:cNvSpPr/>
          <p:nvPr/>
        </p:nvSpPr>
        <p:spPr>
          <a:xfrm>
            <a:off x="594360" y="16916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Показатель 1"/>
          <p:cNvSpPr txBox="1"/>
          <p:nvPr/>
        </p:nvSpPr>
        <p:spPr>
          <a:xfrm>
            <a:off x="685800" y="1828800"/>
            <a:ext cx="2468879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Calibri"/>
              </a:rPr>
              <a:t>≈ 30 %</a:t>
            </a:r>
          </a:p>
        </p:txBody>
      </p:sp>
      <p:sp>
        <p:nvSpPr>
          <p:cNvPr id="12" name="Метка 1"/>
          <p:cNvSpPr/>
          <p:nvPr/>
        </p:nvSpPr>
        <p:spPr>
          <a:xfrm>
            <a:off x="731520" y="2697480"/>
            <a:ext cx="502920" cy="109728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Описание 1"/>
          <p:cNvSpPr txBox="1"/>
          <p:nvPr/>
        </p:nvSpPr>
        <p:spPr>
          <a:xfrm>
            <a:off x="685800" y="2926080"/>
            <a:ext cx="246887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4B4B"/>
                </a:solidFill>
                <a:latin typeface="Calibri"/>
              </a:rPr>
              <a:t>мировой выработки электроэнергии приходится на возобновляемые источники (включая гидро), и доля растёт</a:t>
            </a:r>
          </a:p>
        </p:txBody>
      </p:sp>
      <p:sp>
        <p:nvSpPr>
          <p:cNvPr id="14" name="Карточка 2"/>
          <p:cNvSpPr/>
          <p:nvPr/>
        </p:nvSpPr>
        <p:spPr>
          <a:xfrm>
            <a:off x="3474720" y="16916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Показатель 2"/>
          <p:cNvSpPr txBox="1"/>
          <p:nvPr/>
        </p:nvSpPr>
        <p:spPr>
          <a:xfrm>
            <a:off x="3566160" y="1828800"/>
            <a:ext cx="2468879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Calibri"/>
              </a:rPr>
              <a:t>до 1500 В</a:t>
            </a:r>
          </a:p>
        </p:txBody>
      </p:sp>
      <p:sp>
        <p:nvSpPr>
          <p:cNvPr id="16" name="Метка 2"/>
          <p:cNvSpPr/>
          <p:nvPr/>
        </p:nvSpPr>
        <p:spPr>
          <a:xfrm>
            <a:off x="3611879" y="2697480"/>
            <a:ext cx="502920" cy="109728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Описание 2"/>
          <p:cNvSpPr txBox="1"/>
          <p:nvPr/>
        </p:nvSpPr>
        <p:spPr>
          <a:xfrm>
            <a:off x="3566160" y="2926080"/>
            <a:ext cx="246887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4B4B"/>
                </a:solidFill>
                <a:latin typeface="Calibri"/>
              </a:rPr>
              <a:t>постоянного напряжения в цепях солнечных станций: опасно даже без подключения к сети</a:t>
            </a:r>
          </a:p>
        </p:txBody>
      </p:sp>
      <p:sp>
        <p:nvSpPr>
          <p:cNvPr id="18" name="Карточка 3"/>
          <p:cNvSpPr/>
          <p:nvPr/>
        </p:nvSpPr>
        <p:spPr>
          <a:xfrm>
            <a:off x="6355080" y="16916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Показатель 3"/>
          <p:cNvSpPr txBox="1"/>
          <p:nvPr/>
        </p:nvSpPr>
        <p:spPr>
          <a:xfrm>
            <a:off x="6446520" y="1828800"/>
            <a:ext cx="2468879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Calibri"/>
              </a:rPr>
              <a:t>80–120 м</a:t>
            </a:r>
          </a:p>
        </p:txBody>
      </p:sp>
      <p:sp>
        <p:nvSpPr>
          <p:cNvPr id="20" name="Метка 3"/>
          <p:cNvSpPr/>
          <p:nvPr/>
        </p:nvSpPr>
        <p:spPr>
          <a:xfrm>
            <a:off x="6492240" y="2697480"/>
            <a:ext cx="502920" cy="109728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Описание 3"/>
          <p:cNvSpPr txBox="1"/>
          <p:nvPr/>
        </p:nvSpPr>
        <p:spPr>
          <a:xfrm>
            <a:off x="6446520" y="2926080"/>
            <a:ext cx="246887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4B4B"/>
                </a:solidFill>
                <a:latin typeface="Calibri"/>
              </a:rPr>
              <a:t>высота башни современной ветроустановки: работа идёт на большой высоте</a:t>
            </a:r>
          </a:p>
        </p:txBody>
      </p:sp>
      <p:sp>
        <p:nvSpPr>
          <p:cNvPr id="22" name="Карточка 4"/>
          <p:cNvSpPr/>
          <p:nvPr/>
        </p:nvSpPr>
        <p:spPr>
          <a:xfrm>
            <a:off x="9235440" y="16916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Показатель 4"/>
          <p:cNvSpPr txBox="1"/>
          <p:nvPr/>
        </p:nvSpPr>
        <p:spPr>
          <a:xfrm>
            <a:off x="9326880" y="1828800"/>
            <a:ext cx="2468879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Calibri"/>
              </a:rPr>
              <a:t>25–30 лет</a:t>
            </a:r>
          </a:p>
        </p:txBody>
      </p:sp>
      <p:sp>
        <p:nvSpPr>
          <p:cNvPr id="24" name="Метка 4"/>
          <p:cNvSpPr/>
          <p:nvPr/>
        </p:nvSpPr>
        <p:spPr>
          <a:xfrm>
            <a:off x="9372600" y="2697480"/>
            <a:ext cx="502920" cy="109728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Описание 4"/>
          <p:cNvSpPr txBox="1"/>
          <p:nvPr/>
        </p:nvSpPr>
        <p:spPr>
          <a:xfrm>
            <a:off x="9326880" y="2926080"/>
            <a:ext cx="246887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4B4B"/>
                </a:solidFill>
                <a:latin typeface="Calibri"/>
              </a:rPr>
              <a:t>срок службы оборудования: персонал обслуживает его десятилетиями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26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ПЛАН ДОКЛАДА</a:t>
            </a:r>
          </a:p>
        </p:txBody>
      </p:sp>
      <p:sp>
        <p:nvSpPr>
          <p:cNvPr id="27" name="План 1"/>
          <p:cNvSpPr/>
          <p:nvPr/>
        </p:nvSpPr>
        <p:spPr>
          <a:xfrm>
            <a:off x="594360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1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Карта рисков</a:t>
            </a:r>
          </a:p>
        </p:txBody>
      </p:sp>
      <p:sp>
        <p:nvSpPr>
          <p:cNvPr id="28" name="План 2"/>
          <p:cNvSpPr/>
          <p:nvPr/>
        </p:nvSpPr>
        <p:spPr>
          <a:xfrm>
            <a:off x="2450591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2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Солнечные станции</a:t>
            </a:r>
          </a:p>
        </p:txBody>
      </p:sp>
      <p:sp>
        <p:nvSpPr>
          <p:cNvPr id="29" name="План 3"/>
          <p:cNvSpPr/>
          <p:nvPr/>
        </p:nvSpPr>
        <p:spPr>
          <a:xfrm>
            <a:off x="4306824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3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Ветроустановки</a:t>
            </a:r>
          </a:p>
        </p:txBody>
      </p:sp>
      <p:sp>
        <p:nvSpPr>
          <p:cNvPr id="30" name="План 4"/>
          <p:cNvSpPr/>
          <p:nvPr/>
        </p:nvSpPr>
        <p:spPr>
          <a:xfrm>
            <a:off x="6163056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4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Электробезопасность</a:t>
            </a:r>
          </a:p>
        </p:txBody>
      </p:sp>
      <p:sp>
        <p:nvSpPr>
          <p:cNvPr id="31" name="План 5"/>
          <p:cNvSpPr/>
          <p:nvPr/>
        </p:nvSpPr>
        <p:spPr>
          <a:xfrm>
            <a:off x="8019288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5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Работа на высоте</a:t>
            </a:r>
          </a:p>
        </p:txBody>
      </p:sp>
      <p:sp>
        <p:nvSpPr>
          <p:cNvPr id="32" name="План 6"/>
          <p:cNvSpPr/>
          <p:nvPr/>
        </p:nvSpPr>
        <p:spPr>
          <a:xfrm>
            <a:off x="9875519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6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СИЗ, знаки, аварии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Карта рисков: что опасно на объектах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graphicFrame>
        <p:nvGraphicFramePr>
          <p:cNvPr id="10" name="Карта рисков"/>
          <p:cNvGraphicFramePr>
            <a:graphicFrameLocks noGrp="1"/>
          </p:cNvGraphicFramePr>
          <p:nvPr/>
        </p:nvGraphicFramePr>
        <p:xfrm>
          <a:off x="594360" y="1691640"/>
          <a:ext cx="1101852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069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Объект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Основные опасности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Главная мера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Солнечная станция (поле, крыша)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Постоянное напряжение до 1500 В, дуговой разряд, пожар, жара, падение с крыши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Отключение, проверка отсутствия напряжения, страховка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Ветроустановка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Высота 80–120 м, вращающиеся части, обледенение, молния, пожар в гондоле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Остановка и блокировка, допуск к работе на высоте, запретная зона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Накопители энергии (аккумуляторы)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Пожар и тепловой разгон литиевых батарей, токсичный дым, токи короткого замыкания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Контроль температуры, вентиляция, автоматика пожаротушения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Подстанция и кабельные линии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Высокое напряжение, шаговое напряжение, обратное питание из сети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Допуск, заземление, диэлектрические СИЗ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Пояснение"/>
          <p:cNvSpPr/>
          <p:nvPr/>
        </p:nvSpPr>
        <p:spPr>
          <a:xfrm>
            <a:off x="594360" y="5852160"/>
            <a:ext cx="11018520" cy="502920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300" b="1">
                <a:solidFill>
                  <a:srgbClr val="2B2B2B"/>
                </a:solidFill>
                <a:latin typeface="Calibri"/>
              </a:rPr>
              <a:t>Опасность определяют не «зелёные» технологии, а электричество, высота и огонь на объекте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Солнечные станции: главные опасности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Угроза 1"/>
          <p:cNvSpPr/>
          <p:nvPr/>
        </p:nvSpPr>
        <p:spPr>
          <a:xfrm>
            <a:off x="594360" y="169164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856231"/>
            <a:ext cx="402336" cy="402336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74520"/>
            <a:ext cx="2423160" cy="4114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Ток не отключить</a:t>
            </a:r>
          </a:p>
        </p:txBody>
      </p:sp>
      <p:sp>
        <p:nvSpPr>
          <p:cNvPr id="13" name="Угроза 1 описание"/>
          <p:cNvSpPr txBox="1"/>
          <p:nvPr/>
        </p:nvSpPr>
        <p:spPr>
          <a:xfrm>
            <a:off x="731520" y="2468880"/>
            <a:ext cx="2926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Пока на панели падает свет, она вырабатывает напряжение; выключатель отключает только часть цепи</a:t>
            </a:r>
          </a:p>
        </p:txBody>
      </p:sp>
      <p:sp>
        <p:nvSpPr>
          <p:cNvPr id="14" name="Угроза 2"/>
          <p:cNvSpPr/>
          <p:nvPr/>
        </p:nvSpPr>
        <p:spPr>
          <a:xfrm>
            <a:off x="3977640" y="169164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42232" y="1856231"/>
            <a:ext cx="402336" cy="402336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874520"/>
            <a:ext cx="2423160" cy="4114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Дуга и пожар</a:t>
            </a:r>
          </a:p>
        </p:txBody>
      </p:sp>
      <p:sp>
        <p:nvSpPr>
          <p:cNvPr id="17" name="Угроза 2 описание"/>
          <p:cNvSpPr txBox="1"/>
          <p:nvPr/>
        </p:nvSpPr>
        <p:spPr>
          <a:xfrm>
            <a:off x="4114800" y="2468880"/>
            <a:ext cx="2926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Плохой контакт даёт дуговой разряд на постоянном токе; он горит, пока есть питание</a:t>
            </a:r>
          </a:p>
        </p:txBody>
      </p:sp>
      <p:sp>
        <p:nvSpPr>
          <p:cNvPr id="18" name="Угроза 3"/>
          <p:cNvSpPr/>
          <p:nvPr/>
        </p:nvSpPr>
        <p:spPr>
          <a:xfrm>
            <a:off x="594360" y="402336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8952" y="4187952"/>
            <a:ext cx="402336" cy="402336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06240"/>
            <a:ext cx="2423160" cy="4114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Крыши и поля</a:t>
            </a:r>
          </a:p>
        </p:txBody>
      </p:sp>
      <p:sp>
        <p:nvSpPr>
          <p:cNvPr id="21" name="Угроза 3 описание"/>
          <p:cNvSpPr txBox="1"/>
          <p:nvPr/>
        </p:nvSpPr>
        <p:spPr>
          <a:xfrm>
            <a:off x="731520" y="4800600"/>
            <a:ext cx="2926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Падение с высоты, скользкая поверхность, острые кромки рам, работа в жару</a:t>
            </a:r>
          </a:p>
        </p:txBody>
      </p:sp>
      <p:sp>
        <p:nvSpPr>
          <p:cNvPr id="22" name="Угроза 4"/>
          <p:cNvSpPr/>
          <p:nvPr/>
        </p:nvSpPr>
        <p:spPr>
          <a:xfrm>
            <a:off x="3977640" y="402336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42232" y="4187952"/>
            <a:ext cx="402336" cy="402336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06240"/>
            <a:ext cx="2423160" cy="4114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Тушение</a:t>
            </a:r>
          </a:p>
        </p:txBody>
      </p:sp>
      <p:sp>
        <p:nvSpPr>
          <p:cNvPr id="25" name="Угроза 4 описание"/>
          <p:cNvSpPr txBox="1"/>
          <p:nvPr/>
        </p:nvSpPr>
        <p:spPr>
          <a:xfrm>
            <a:off x="4114800" y="4800600"/>
            <a:ext cx="2926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Воду на электроустановку под напряжением подавать нельзя; нужны специальные средства</a:t>
            </a:r>
          </a:p>
        </p:txBody>
      </p:sp>
      <p:sp>
        <p:nvSpPr>
          <p:cNvPr id="26" name="Заголовок таблицы"/>
          <p:cNvSpPr txBox="1"/>
          <p:nvPr/>
        </p:nvSpPr>
        <p:spPr>
          <a:xfrm>
            <a:off x="7498079" y="164592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Типичные параметры</a:t>
            </a:r>
          </a:p>
        </p:txBody>
      </p:sp>
      <p:graphicFrame>
        <p:nvGraphicFramePr>
          <p:cNvPr id="27" name="Параметры СЭС"/>
          <p:cNvGraphicFramePr>
            <a:graphicFrameLocks noGrp="1"/>
          </p:cNvGraphicFramePr>
          <p:nvPr/>
        </p:nvGraphicFramePr>
        <p:xfrm>
          <a:off x="7498079" y="2103120"/>
          <a:ext cx="411480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Напряжение строки (DC)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600–1500 В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Нагрев модуля на солнце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до 70–85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Срок службы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25–30 лет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Опасная зона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вся цепь до инвертора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Пояснение таблицы"/>
          <p:cNvSpPr txBox="1"/>
          <p:nvPr/>
        </p:nvSpPr>
        <p:spPr>
          <a:xfrm>
            <a:off x="7498079" y="4983480"/>
            <a:ext cx="41148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Calibri"/>
              </a:rPr>
              <a:t>Значения ориентировочные и зависят от проекта станции. Перед работой уточняйте данные в паспорте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Электробезопасность: главный источник тяжёлых травм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Риски"/>
          <p:cNvSpPr/>
          <p:nvPr/>
        </p:nvSpPr>
        <p:spPr>
          <a:xfrm>
            <a:off x="594360" y="1691640"/>
            <a:ext cx="5394960" cy="54864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Риски</a:t>
            </a:r>
          </a:p>
        </p:txBody>
      </p:sp>
      <p:sp>
        <p:nvSpPr>
          <p:cNvPr id="11" name="Риски 1"/>
          <p:cNvSpPr/>
          <p:nvPr/>
        </p:nvSpPr>
        <p:spPr>
          <a:xfrm>
            <a:off x="594360" y="2377440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иски 1 текст"/>
          <p:cNvSpPr txBox="1"/>
          <p:nvPr/>
        </p:nvSpPr>
        <p:spPr>
          <a:xfrm>
            <a:off x="731520" y="2377440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Дуговой разряд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постоянный ток труднее погасить, чем переменный</a:t>
            </a:r>
          </a:p>
        </p:txBody>
      </p:sp>
      <p:sp>
        <p:nvSpPr>
          <p:cNvPr id="13" name="Риски 2"/>
          <p:cNvSpPr/>
          <p:nvPr/>
        </p:nvSpPr>
        <p:spPr>
          <a:xfrm>
            <a:off x="594360" y="3127248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иски 2 текст"/>
          <p:cNvSpPr txBox="1"/>
          <p:nvPr/>
        </p:nvSpPr>
        <p:spPr>
          <a:xfrm>
            <a:off x="731520" y="3127248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Обратное питание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напряжение может прийти из сети или от панелей</a:t>
            </a:r>
          </a:p>
        </p:txBody>
      </p:sp>
      <p:sp>
        <p:nvSpPr>
          <p:cNvPr id="15" name="Риски 3"/>
          <p:cNvSpPr/>
          <p:nvPr/>
        </p:nvSpPr>
        <p:spPr>
          <a:xfrm>
            <a:off x="594360" y="3877056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иски 3 текст"/>
          <p:cNvSpPr txBox="1"/>
          <p:nvPr/>
        </p:nvSpPr>
        <p:spPr>
          <a:xfrm>
            <a:off x="731520" y="3877056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Остаточный заряд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конденсаторы инверторов держат напряжение</a:t>
            </a:r>
          </a:p>
        </p:txBody>
      </p:sp>
      <p:sp>
        <p:nvSpPr>
          <p:cNvPr id="17" name="Риски 4"/>
          <p:cNvSpPr/>
          <p:nvPr/>
        </p:nvSpPr>
        <p:spPr>
          <a:xfrm>
            <a:off x="594360" y="4626864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иски 4 текст"/>
          <p:cNvSpPr txBox="1"/>
          <p:nvPr/>
        </p:nvSpPr>
        <p:spPr>
          <a:xfrm>
            <a:off x="731520" y="4626864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Влага и повреждения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мокрый кабель и трещины изоляции</a:t>
            </a:r>
          </a:p>
        </p:txBody>
      </p:sp>
      <p:sp>
        <p:nvSpPr>
          <p:cNvPr id="19" name="Меры"/>
          <p:cNvSpPr/>
          <p:nvPr/>
        </p:nvSpPr>
        <p:spPr>
          <a:xfrm>
            <a:off x="6217920" y="1691640"/>
            <a:ext cx="5394960" cy="548640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Меры</a:t>
            </a:r>
          </a:p>
        </p:txBody>
      </p:sp>
      <p:sp>
        <p:nvSpPr>
          <p:cNvPr id="20" name="Меры 1"/>
          <p:cNvSpPr/>
          <p:nvPr/>
        </p:nvSpPr>
        <p:spPr>
          <a:xfrm>
            <a:off x="6217920" y="2377440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Меры 1 текст"/>
          <p:cNvSpPr txBox="1"/>
          <p:nvPr/>
        </p:nvSpPr>
        <p:spPr>
          <a:xfrm>
            <a:off x="6355080" y="2377440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Наряд-допуск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работы по документу, с ответственным</a:t>
            </a:r>
          </a:p>
        </p:txBody>
      </p:sp>
      <p:sp>
        <p:nvSpPr>
          <p:cNvPr id="22" name="Меры 2"/>
          <p:cNvSpPr/>
          <p:nvPr/>
        </p:nvSpPr>
        <p:spPr>
          <a:xfrm>
            <a:off x="6217920" y="3127248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Меры 2 текст"/>
          <p:cNvSpPr txBox="1"/>
          <p:nvPr/>
        </p:nvSpPr>
        <p:spPr>
          <a:xfrm>
            <a:off x="6355080" y="3127248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Отключение и блокировка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замок и бирка на каждом разъединителе</a:t>
            </a:r>
          </a:p>
        </p:txBody>
      </p:sp>
      <p:sp>
        <p:nvSpPr>
          <p:cNvPr id="24" name="Меры 3"/>
          <p:cNvSpPr/>
          <p:nvPr/>
        </p:nvSpPr>
        <p:spPr>
          <a:xfrm>
            <a:off x="6217920" y="3877056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Меры 3 текст"/>
          <p:cNvSpPr txBox="1"/>
          <p:nvPr/>
        </p:nvSpPr>
        <p:spPr>
          <a:xfrm>
            <a:off x="6355080" y="3877056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Проверка напряжения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прибором, до касания и заземления</a:t>
            </a:r>
          </a:p>
        </p:txBody>
      </p:sp>
      <p:sp>
        <p:nvSpPr>
          <p:cNvPr id="26" name="Меры 4"/>
          <p:cNvSpPr/>
          <p:nvPr/>
        </p:nvSpPr>
        <p:spPr>
          <a:xfrm>
            <a:off x="6217920" y="4626864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Меры 4 текст"/>
          <p:cNvSpPr txBox="1"/>
          <p:nvPr/>
        </p:nvSpPr>
        <p:spPr>
          <a:xfrm>
            <a:off x="6355080" y="4626864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Правильные СИЗ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диэлектрический инструмент и перчатки</a:t>
            </a:r>
          </a:p>
        </p:txBody>
      </p:sp>
      <p:sp>
        <p:nvSpPr>
          <p:cNvPr id="28" name="Правило"/>
          <p:cNvSpPr/>
          <p:nvPr/>
        </p:nvSpPr>
        <p:spPr>
          <a:xfrm>
            <a:off x="594360" y="5486400"/>
            <a:ext cx="11018520" cy="77724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500" b="1">
                <a:solidFill>
                  <a:srgbClr val="FFED00"/>
                </a:solidFill>
                <a:latin typeface="Calibri"/>
              </a:rPr>
              <a:t>Золотое правило: </a:t>
            </a:r>
            <a:r>
              <a:rPr sz="1500" b="0">
                <a:solidFill>
                  <a:srgbClr val="FFFFFF"/>
                </a:solidFill>
                <a:latin typeface="Calibri"/>
              </a:rPr>
              <a:t>всё под напряжением, пока вы сами не проверили, что его нет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Работа на высоте: крыши, башни, опоры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Блок 1"/>
          <p:cNvSpPr/>
          <p:nvPr/>
        </p:nvSpPr>
        <p:spPr>
          <a:xfrm>
            <a:off x="594360" y="169164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1956815"/>
            <a:ext cx="475488" cy="475488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800" b="1">
                <a:solidFill>
                  <a:srgbClr val="2B2B2B"/>
                </a:solidFill>
                <a:latin typeface="Calibri"/>
              </a:rPr>
              <a:t>1</a:t>
            </a:r>
          </a:p>
        </p:txBody>
      </p:sp>
      <p:sp>
        <p:nvSpPr>
          <p:cNvPr id="12" name="Блок 1 заголовок"/>
          <p:cNvSpPr txBox="1"/>
          <p:nvPr/>
        </p:nvSpPr>
        <p:spPr>
          <a:xfrm>
            <a:off x="1371600" y="1920240"/>
            <a:ext cx="2560320" cy="5486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700" b="1">
                <a:solidFill>
                  <a:srgbClr val="2B2B2B"/>
                </a:solidFill>
                <a:latin typeface="Calibri"/>
              </a:rPr>
              <a:t>Предотвратить падение</a:t>
            </a:r>
          </a:p>
        </p:txBody>
      </p:sp>
      <p:sp>
        <p:nvSpPr>
          <p:cNvPr id="13" name="Блок 1 текст"/>
          <p:cNvSpPr txBox="1"/>
          <p:nvPr/>
        </p:nvSpPr>
        <p:spPr>
          <a:xfrm>
            <a:off x="777240" y="2743200"/>
            <a:ext cx="3108960" cy="274320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Риск: </a:t>
            </a:r>
            <a:r>
              <a:rPr sz="1600" b="0">
                <a:solidFill>
                  <a:srgbClr val="4B4B4B"/>
                </a:solidFill>
                <a:latin typeface="Calibri"/>
              </a:rPr>
              <a:t>край крыши, скользкая поверхность, люк в гондоле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Мера: </a:t>
            </a:r>
            <a:r>
              <a:rPr sz="1600" b="0">
                <a:solidFill>
                  <a:srgbClr val="4B4B4B"/>
                </a:solidFill>
                <a:latin typeface="Calibri"/>
              </a:rPr>
              <a:t>ограждения, анкерные линии, страховочная привязь с двумя лонжами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Контроль: </a:t>
            </a:r>
            <a:r>
              <a:rPr sz="1600" b="0">
                <a:solidFill>
                  <a:srgbClr val="4B4B4B"/>
                </a:solidFill>
                <a:latin typeface="Calibri"/>
              </a:rPr>
              <a:t>осмотр СИЗ перед каждым подъёмом</a:t>
            </a:r>
          </a:p>
        </p:txBody>
      </p:sp>
      <p:sp>
        <p:nvSpPr>
          <p:cNvPr id="14" name="Блок 2"/>
          <p:cNvSpPr/>
          <p:nvPr/>
        </p:nvSpPr>
        <p:spPr>
          <a:xfrm>
            <a:off x="4366260" y="169164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39996" y="1956815"/>
            <a:ext cx="475488" cy="475488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800" b="1">
                <a:solidFill>
                  <a:srgbClr val="2B2B2B"/>
                </a:solidFill>
                <a:latin typeface="Calibri"/>
              </a:rPr>
              <a:t>2</a:t>
            </a:r>
          </a:p>
        </p:txBody>
      </p:sp>
      <p:sp>
        <p:nvSpPr>
          <p:cNvPr id="16" name="Блок 2 заголовок"/>
          <p:cNvSpPr txBox="1"/>
          <p:nvPr/>
        </p:nvSpPr>
        <p:spPr>
          <a:xfrm>
            <a:off x="5143500" y="1920240"/>
            <a:ext cx="2560320" cy="5486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700" b="1">
                <a:solidFill>
                  <a:srgbClr val="2B2B2B"/>
                </a:solidFill>
                <a:latin typeface="Calibri"/>
              </a:rPr>
              <a:t>Подготовить спасение</a:t>
            </a:r>
          </a:p>
        </p:txBody>
      </p:sp>
      <p:sp>
        <p:nvSpPr>
          <p:cNvPr id="17" name="Блок 2 текст"/>
          <p:cNvSpPr txBox="1"/>
          <p:nvPr/>
        </p:nvSpPr>
        <p:spPr>
          <a:xfrm>
            <a:off x="4549140" y="2743200"/>
            <a:ext cx="3108960" cy="274320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Риск: </a:t>
            </a:r>
            <a:r>
              <a:rPr sz="1600" b="0">
                <a:solidFill>
                  <a:srgbClr val="4B4B4B"/>
                </a:solidFill>
                <a:latin typeface="Calibri"/>
              </a:rPr>
              <a:t>повисание в привязи опасно уже через несколько минут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Мера: </a:t>
            </a:r>
            <a:r>
              <a:rPr sz="1600" b="0">
                <a:solidFill>
                  <a:srgbClr val="4B4B4B"/>
                </a:solidFill>
                <a:latin typeface="Calibri"/>
              </a:rPr>
              <a:t>набор для эвакуации и обученная группа спасения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Контроль: </a:t>
            </a:r>
            <a:r>
              <a:rPr sz="1600" b="0">
                <a:solidFill>
                  <a:srgbClr val="4B4B4B"/>
                </a:solidFill>
                <a:latin typeface="Calibri"/>
              </a:rPr>
              <a:t>учения и план спасения для каждого объекта</a:t>
            </a:r>
          </a:p>
        </p:txBody>
      </p:sp>
      <p:sp>
        <p:nvSpPr>
          <p:cNvPr id="18" name="Блок 3"/>
          <p:cNvSpPr/>
          <p:nvPr/>
        </p:nvSpPr>
        <p:spPr>
          <a:xfrm>
            <a:off x="8138160" y="169164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11896" y="1956815"/>
            <a:ext cx="475488" cy="475488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800" b="1">
                <a:solidFill>
                  <a:srgbClr val="2B2B2B"/>
                </a:solidFill>
                <a:latin typeface="Calibri"/>
              </a:rPr>
              <a:t>3</a:t>
            </a:r>
          </a:p>
        </p:txBody>
      </p:sp>
      <p:sp>
        <p:nvSpPr>
          <p:cNvPr id="20" name="Блок 3 заголовок"/>
          <p:cNvSpPr txBox="1"/>
          <p:nvPr/>
        </p:nvSpPr>
        <p:spPr>
          <a:xfrm>
            <a:off x="8915400" y="1920240"/>
            <a:ext cx="2560320" cy="5486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700" b="1">
                <a:solidFill>
                  <a:srgbClr val="2B2B2B"/>
                </a:solidFill>
                <a:latin typeface="Calibri"/>
              </a:rPr>
              <a:t>Учесть погоду</a:t>
            </a:r>
          </a:p>
        </p:txBody>
      </p:sp>
      <p:sp>
        <p:nvSpPr>
          <p:cNvPr id="21" name="Блок 3 текст"/>
          <p:cNvSpPr txBox="1"/>
          <p:nvPr/>
        </p:nvSpPr>
        <p:spPr>
          <a:xfrm>
            <a:off x="8321040" y="2743200"/>
            <a:ext cx="3108960" cy="274320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Риск: </a:t>
            </a:r>
            <a:r>
              <a:rPr sz="1600" b="0">
                <a:solidFill>
                  <a:srgbClr val="4B4B4B"/>
                </a:solidFill>
                <a:latin typeface="Calibri"/>
              </a:rPr>
              <a:t>сильный ветер, гроза, лёд, жара и солнце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Мера: </a:t>
            </a:r>
            <a:r>
              <a:rPr sz="1600" b="0">
                <a:solidFill>
                  <a:srgbClr val="4B4B4B"/>
                </a:solidFill>
                <a:latin typeface="Calibri"/>
              </a:rPr>
              <a:t>запрет подъёма при превышении пределов из инструкции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Контроль: </a:t>
            </a:r>
            <a:r>
              <a:rPr sz="1600" b="0">
                <a:solidFill>
                  <a:srgbClr val="4B4B4B"/>
                </a:solidFill>
                <a:latin typeface="Calibri"/>
              </a:rPr>
              <a:t>прогноз и замер ветра перед работой</a:t>
            </a:r>
          </a:p>
        </p:txBody>
      </p:sp>
      <p:sp>
        <p:nvSpPr>
          <p:cNvPr id="22" name="Правило"/>
          <p:cNvSpPr/>
          <p:nvPr/>
        </p:nvSpPr>
        <p:spPr>
          <a:xfrm>
            <a:off x="594360" y="5715000"/>
            <a:ext cx="11018520" cy="640080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Допуск к работе на высоте — это обучение, медосмотр, исправные СИЗ и страхующий напарник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СИЗ и знаки безопасности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graphicFrame>
        <p:nvGraphicFramePr>
          <p:cNvPr id="10" name="Таблица СИЗ"/>
          <p:cNvGraphicFramePr>
            <a:graphicFrameLocks noGrp="1"/>
          </p:cNvGraphicFramePr>
          <p:nvPr/>
        </p:nvGraphicFramePr>
        <p:xfrm>
          <a:off x="594360" y="1691640"/>
          <a:ext cx="11018520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37033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Что защищаем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СИЗ и средства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От чего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Голова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Каска с подбородочным ремнём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Удар, падающие предметы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Падение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Страховочная привязь, лонжи, анкерные точки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Падение с высоты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Руки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Диэлектрические перчатки, перчатки от пореза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Ток, острые кромки рам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Ноги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Диэлектрические боты или нескользящая обувь с жёстким носком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Напряжение, скольжение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Лицо и тело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Щиток или очки от дуги, огнестойкая одежда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Дуговой разряд, ожоги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Погода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Головной убор, очки от солнца, запас воды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Жара, ультрафиолет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Знаки"/>
          <p:cNvSpPr/>
          <p:nvPr/>
        </p:nvSpPr>
        <p:spPr>
          <a:xfrm>
            <a:off x="594360" y="5806440"/>
            <a:ext cx="11018520" cy="548640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300" b="1">
                <a:solidFill>
                  <a:srgbClr val="2B2B2B"/>
                </a:solidFill>
                <a:latin typeface="Calibri"/>
              </a:rPr>
              <a:t>Знаки по ГОСТ Р 12.4.026: жёлтые предупреждают, синие предписывают, красные запрещают, зелёные указывают путь эвакуации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Порядок безопасной работы: от наряда до закрытия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graphicFrame>
        <p:nvGraphicFramePr>
          <p:cNvPr id="10" name="Порядок работ"/>
          <p:cNvGraphicFramePr>
            <a:graphicFrameLocks noGrp="1"/>
          </p:cNvGraphicFramePr>
          <p:nvPr/>
        </p:nvGraphicFramePr>
        <p:xfrm>
          <a:off x="594360" y="1691640"/>
          <a:ext cx="1101852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  <a:gridCol w="73609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Шаг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Что сделать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Наряд-допуск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Оформить документ, провести инструктаж, назначить ответственного и страхующего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Оценка условий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Проверить ветер, грозу, обледенение, жару и освещение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Отключение и блокировка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Отключить цепи, повесить замок и бирку на разъединители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Проверка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Убедиться прибором, что напряжения нет; панели днём всегда остаются под напряжением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Выполнение работ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Работать вдвоём, держать связь, использовать страховку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Закрытие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Собрать людей, снять блокировки, включать только по команде ответственного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Правило"/>
          <p:cNvSpPr/>
          <p:nvPr/>
        </p:nvSpPr>
        <p:spPr>
          <a:xfrm>
            <a:off x="594360" y="5852160"/>
            <a:ext cx="11018520" cy="502920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300" b="1">
                <a:solidFill>
                  <a:srgbClr val="2B2B2B"/>
                </a:solidFill>
                <a:latin typeface="Calibri"/>
              </a:rPr>
              <a:t>Без наряда, блокировки и проверки напряжения к оборудованию не прикасаются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ПЛАКАТ: Безопасность при эксплуатации ВИЭ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Панель 1"/>
          <p:cNvSpPr/>
          <p:nvPr/>
        </p:nvSpPr>
        <p:spPr>
          <a:xfrm>
            <a:off x="594360" y="169164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Шапка панели 1"/>
          <p:cNvSpPr/>
          <p:nvPr/>
        </p:nvSpPr>
        <p:spPr>
          <a:xfrm>
            <a:off x="594360" y="169164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200" b="1">
                <a:solidFill>
                  <a:srgbClr val="FFED00"/>
                </a:solidFill>
                <a:latin typeface="Calibri"/>
              </a:rPr>
              <a:t>1 · СОСТАВ СЭС И ОПАСНЫЕ УЗЛЫ</a:t>
            </a:r>
          </a:p>
        </p:txBody>
      </p:sp>
      <p:sp>
        <p:nvSpPr>
          <p:cNvPr id="12" name="Панель 2"/>
          <p:cNvSpPr/>
          <p:nvPr/>
        </p:nvSpPr>
        <p:spPr>
          <a:xfrm>
            <a:off x="4366260" y="169164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Шапка панели 2"/>
          <p:cNvSpPr/>
          <p:nvPr/>
        </p:nvSpPr>
        <p:spPr>
          <a:xfrm>
            <a:off x="4366260" y="169164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200" b="1">
                <a:solidFill>
                  <a:srgbClr val="FFED00"/>
                </a:solidFill>
                <a:latin typeface="Calibri"/>
              </a:rPr>
              <a:t>2 · ОПАСНОСТИ ПРИ РАБОТАХ</a:t>
            </a:r>
          </a:p>
        </p:txBody>
      </p:sp>
      <p:sp>
        <p:nvSpPr>
          <p:cNvPr id="14" name="Панель 3"/>
          <p:cNvSpPr/>
          <p:nvPr/>
        </p:nvSpPr>
        <p:spPr>
          <a:xfrm>
            <a:off x="8138160" y="169164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Шапка панели 3"/>
          <p:cNvSpPr/>
          <p:nvPr/>
        </p:nvSpPr>
        <p:spPr>
          <a:xfrm>
            <a:off x="8138160" y="169164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200" b="1">
                <a:solidFill>
                  <a:srgbClr val="FFED00"/>
                </a:solidFill>
                <a:latin typeface="Calibri"/>
              </a:rPr>
              <a:t>3 · ЗНАКИ БЕЗОПАСНОСТИ</a:t>
            </a:r>
          </a:p>
        </p:txBody>
      </p:sp>
      <p:sp>
        <p:nvSpPr>
          <p:cNvPr id="16" name="Узлы СЭС"/>
          <p:cNvSpPr txBox="1"/>
          <p:nvPr/>
        </p:nvSpPr>
        <p:spPr>
          <a:xfrm>
            <a:off x="731520" y="2286000"/>
            <a:ext cx="3200400" cy="31089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Панели → </a:t>
            </a:r>
            <a:r>
              <a:rPr sz="1600" b="0">
                <a:solidFill>
                  <a:srgbClr val="4B4B4B"/>
                </a:solidFill>
                <a:latin typeface="Calibri"/>
              </a:rPr>
              <a:t>постоянный ток до 1500 В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Инвертор → </a:t>
            </a:r>
            <a:r>
              <a:rPr sz="1600" b="0">
                <a:solidFill>
                  <a:srgbClr val="4B4B4B"/>
                </a:solidFill>
                <a:latin typeface="Calibri"/>
              </a:rPr>
              <a:t>заряд конденсаторов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Трансформатор → </a:t>
            </a:r>
            <a:r>
              <a:rPr sz="1600" b="0">
                <a:solidFill>
                  <a:srgbClr val="4B4B4B"/>
                </a:solidFill>
                <a:latin typeface="Calibri"/>
              </a:rPr>
              <a:t>высокое напряжение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Подстанция и сеть → </a:t>
            </a:r>
            <a:r>
              <a:rPr sz="1600" b="0">
                <a:solidFill>
                  <a:srgbClr val="4B4B4B"/>
                </a:solidFill>
                <a:latin typeface="Calibri"/>
              </a:rPr>
              <a:t>обратное питание</a:t>
            </a:r>
          </a:p>
        </p:txBody>
      </p:sp>
      <p:sp>
        <p:nvSpPr>
          <p:cNvPr id="17" name="Опасности"/>
          <p:cNvSpPr txBox="1"/>
          <p:nvPr/>
        </p:nvSpPr>
        <p:spPr>
          <a:xfrm>
            <a:off x="4503420" y="2286000"/>
            <a:ext cx="3200400" cy="31089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Падение: </a:t>
            </a:r>
            <a:r>
              <a:rPr sz="1600" b="0">
                <a:solidFill>
                  <a:srgbClr val="4B4B4B"/>
                </a:solidFill>
                <a:latin typeface="Calibri"/>
              </a:rPr>
              <a:t>крыша, башня, гондола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Электричество: </a:t>
            </a:r>
            <a:r>
              <a:rPr sz="1600" b="0">
                <a:solidFill>
                  <a:srgbClr val="4B4B4B"/>
                </a:solidFill>
                <a:latin typeface="Calibri"/>
              </a:rPr>
              <a:t>дуга, касание, обратное питание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Огонь: </a:t>
            </a:r>
            <a:r>
              <a:rPr sz="1600" b="0">
                <a:solidFill>
                  <a:srgbClr val="4B4B4B"/>
                </a:solidFill>
                <a:latin typeface="Calibri"/>
              </a:rPr>
              <a:t>панели, батареи, гондола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Погода: </a:t>
            </a:r>
            <a:r>
              <a:rPr sz="1600" b="0">
                <a:solidFill>
                  <a:srgbClr val="4B4B4B"/>
                </a:solidFill>
                <a:latin typeface="Calibri"/>
              </a:rPr>
              <a:t>ветер, гроза, лёд, жара</a:t>
            </a:r>
          </a:p>
        </p:txBody>
      </p:sp>
      <p:sp>
        <p:nvSpPr>
          <p:cNvPr id="18" name="Знак 1"/>
          <p:cNvSpPr/>
          <p:nvPr/>
        </p:nvSpPr>
        <p:spPr>
          <a:xfrm>
            <a:off x="8275320" y="2286000"/>
            <a:ext cx="1234440" cy="676656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Предупреждение</a:t>
            </a:r>
          </a:p>
        </p:txBody>
      </p:sp>
      <p:sp>
        <p:nvSpPr>
          <p:cNvPr id="19" name="Знак 1 текст"/>
          <p:cNvSpPr txBox="1"/>
          <p:nvPr/>
        </p:nvSpPr>
        <p:spPr>
          <a:xfrm>
            <a:off x="9601200" y="2286000"/>
            <a:ext cx="1874519" cy="6766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«Опасно: электрическое напряжение»</a:t>
            </a:r>
          </a:p>
        </p:txBody>
      </p:sp>
      <p:sp>
        <p:nvSpPr>
          <p:cNvPr id="20" name="Знак 2"/>
          <p:cNvSpPr/>
          <p:nvPr/>
        </p:nvSpPr>
        <p:spPr>
          <a:xfrm>
            <a:off x="8275320" y="3072384"/>
            <a:ext cx="1234440" cy="676656"/>
          </a:xfrm>
          <a:prstGeom prst="roundRect">
            <a:avLst>
              <a:gd name="adj" fmla="val 8000"/>
            </a:avLst>
          </a:prstGeom>
          <a:solidFill>
            <a:srgbClr val="2A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Предписание</a:t>
            </a:r>
          </a:p>
        </p:txBody>
      </p:sp>
      <p:sp>
        <p:nvSpPr>
          <p:cNvPr id="21" name="Знак 2 текст"/>
          <p:cNvSpPr txBox="1"/>
          <p:nvPr/>
        </p:nvSpPr>
        <p:spPr>
          <a:xfrm>
            <a:off x="9601200" y="3072384"/>
            <a:ext cx="1874519" cy="6766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«Работать в каске и привязи»</a:t>
            </a:r>
          </a:p>
        </p:txBody>
      </p:sp>
      <p:sp>
        <p:nvSpPr>
          <p:cNvPr id="22" name="Знак 3"/>
          <p:cNvSpPr/>
          <p:nvPr/>
        </p:nvSpPr>
        <p:spPr>
          <a:xfrm>
            <a:off x="8275320" y="3858768"/>
            <a:ext cx="1234440" cy="676656"/>
          </a:xfrm>
          <a:prstGeom prst="roundRect">
            <a:avLst>
              <a:gd name="adj" fmla="val 8000"/>
            </a:avLst>
          </a:prstGeom>
          <a:solidFill>
            <a:srgbClr val="D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Запрет</a:t>
            </a:r>
          </a:p>
        </p:txBody>
      </p:sp>
      <p:sp>
        <p:nvSpPr>
          <p:cNvPr id="23" name="Знак 3 текст"/>
          <p:cNvSpPr txBox="1"/>
          <p:nvPr/>
        </p:nvSpPr>
        <p:spPr>
          <a:xfrm>
            <a:off x="9601200" y="3858768"/>
            <a:ext cx="1874519" cy="6766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«Не включать: работают люди»</a:t>
            </a:r>
          </a:p>
        </p:txBody>
      </p:sp>
      <p:sp>
        <p:nvSpPr>
          <p:cNvPr id="24" name="Знак 4"/>
          <p:cNvSpPr/>
          <p:nvPr/>
        </p:nvSpPr>
        <p:spPr>
          <a:xfrm>
            <a:off x="8275320" y="4645152"/>
            <a:ext cx="1234440" cy="676656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Эвакуация</a:t>
            </a:r>
          </a:p>
        </p:txBody>
      </p:sp>
      <p:sp>
        <p:nvSpPr>
          <p:cNvPr id="25" name="Знак 4 текст"/>
          <p:cNvSpPr txBox="1"/>
          <p:nvPr/>
        </p:nvSpPr>
        <p:spPr>
          <a:xfrm>
            <a:off x="9601200" y="4645152"/>
            <a:ext cx="1874519" cy="67665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«Выход, пункт сбора»</a:t>
            </a:r>
          </a:p>
        </p:txBody>
      </p:sp>
      <p:sp>
        <p:nvSpPr>
          <p:cNvPr id="26" name="Девиз плаката"/>
          <p:cNvSpPr/>
          <p:nvPr/>
        </p:nvSpPr>
        <p:spPr>
          <a:xfrm>
            <a:off x="594360" y="5715000"/>
            <a:ext cx="11018520" cy="6400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2000" b="1">
                <a:solidFill>
                  <a:srgbClr val="FFED00"/>
                </a:solidFill>
                <a:latin typeface="Calibri"/>
              </a:rPr>
              <a:t>ОТКЛЮЧИ  ·  ПРОВЕРЬ  ·  ЗАБЛОКИРУЙ  ·  ПРИСТЕГНИСЬ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Источники и нормативная база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03504" y="1856232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1</a:t>
            </a:r>
          </a:p>
        </p:txBody>
      </p:sp>
      <p:sp>
        <p:nvSpPr>
          <p:cNvPr id="11" name="Источник 1"/>
          <p:cNvSpPr txBox="1"/>
          <p:nvPr/>
        </p:nvSpPr>
        <p:spPr>
          <a:xfrm>
            <a:off x="1234440" y="1737360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Правила по охране труда при эксплуатации электроустановок (приказ Минтруда России от 15.12.2020 № 903н)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2724911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2</a:t>
            </a:r>
          </a:p>
        </p:txBody>
      </p:sp>
      <p:sp>
        <p:nvSpPr>
          <p:cNvPr id="13" name="Источник 2"/>
          <p:cNvSpPr txBox="1"/>
          <p:nvPr/>
        </p:nvSpPr>
        <p:spPr>
          <a:xfrm>
            <a:off x="1234440" y="2606039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Правила по охране труда при работе на высоте (приказ Минтруда России от 16.11.2020 № 782н)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3593591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3</a:t>
            </a:r>
          </a:p>
        </p:txBody>
      </p:sp>
      <p:sp>
        <p:nvSpPr>
          <p:cNvPr id="15" name="Источник 3"/>
          <p:cNvSpPr txBox="1"/>
          <p:nvPr/>
        </p:nvSpPr>
        <p:spPr>
          <a:xfrm>
            <a:off x="1234440" y="3474720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ГОСТ Р 12.4.026-2015 «Цвета сигнальные, знаки безопасности и разметка сигнальная»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4462272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4</a:t>
            </a:r>
          </a:p>
        </p:txBody>
      </p:sp>
      <p:sp>
        <p:nvSpPr>
          <p:cNvPr id="17" name="Источник 4"/>
          <p:cNvSpPr txBox="1"/>
          <p:nvPr/>
        </p:nvSpPr>
        <p:spPr>
          <a:xfrm>
            <a:off x="1234440" y="4343400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Стандарты безопасности МЭК для фотоэлектрических модулей и ветроустановок, требования GWO к обучению персонала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330951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5</a:t>
            </a:r>
          </a:p>
        </p:txBody>
      </p:sp>
      <p:sp>
        <p:nvSpPr>
          <p:cNvPr id="19" name="Источник 5"/>
          <p:cNvSpPr txBox="1"/>
          <p:nvPr/>
        </p:nvSpPr>
        <p:spPr>
          <a:xfrm>
            <a:off x="1234440" y="5212079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Паспорта и инструкции производителей оборудования конкретного объекта</a:t>
            </a:r>
          </a:p>
        </p:txBody>
      </p:sp>
      <p:sp>
        <p:nvSpPr>
          <p:cNvPr id="20" name="Оговорка"/>
          <p:cNvSpPr txBox="1"/>
          <p:nvPr/>
        </p:nvSpPr>
        <p:spPr>
          <a:xfrm>
            <a:off x="594360" y="6080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Числовые параметры на слайдах — ориентир; реквизиты документов и значения сверяйте с действующими редакциями.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B4B4B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5233" y="919839"/>
            <a:ext cx="105748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cs typeface="Arial" panose="020B0604020202020204" pitchFamily="34" charset="0"/>
              </a:rPr>
              <a:t>ВЕТРОВЫЕ УСТАНОВКИ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8483138" y="105291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graphicFrame>
        <p:nvGraphicFramePr>
          <p:cNvPr id="29" name="Параметры ветроустановки"/>
          <p:cNvGraphicFramePr>
            <a:graphicFrameLocks noGrp="1"/>
          </p:cNvGraphicFramePr>
          <p:nvPr/>
        </p:nvGraphicFramePr>
        <p:xfrm>
          <a:off x="594360" y="178308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B2B2B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 anchor="ctr">
                    <a:solidFill>
                      <a:srgbClr val="FFED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B2B2B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 anchor="ctr">
                    <a:solidFill>
                      <a:srgbClr val="FFED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Высота башни</a:t>
                      </a:r>
                    </a:p>
                  </a:txBody>
                  <a:tcPr anchor="ctr"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80–120 м</a:t>
                      </a:r>
                    </a:p>
                  </a:txBody>
                  <a:tcPr anchor="ctr">
                    <a:solidFill>
                      <a:srgbClr val="4B4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Диаметр ротора</a:t>
                      </a:r>
                    </a:p>
                  </a:txBody>
                  <a:tcPr anchor="ctr">
                    <a:solidFill>
                      <a:srgbClr val="5A5A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100–170 м</a:t>
                      </a:r>
                    </a:p>
                  </a:txBody>
                  <a:tcPr anchor="ctr">
                    <a:solidFill>
                      <a:srgbClr val="5A5A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Скорость конца лопасти</a:t>
                      </a:r>
                    </a:p>
                  </a:txBody>
                  <a:tcPr anchor="ctr"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до ≈ 300 км/ч</a:t>
                      </a:r>
                    </a:p>
                  </a:txBody>
                  <a:tcPr anchor="ctr">
                    <a:solidFill>
                      <a:srgbClr val="4B4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Рабочее место</a:t>
                      </a:r>
                    </a:p>
                  </a:txBody>
                  <a:tcPr anchor="ctr">
                    <a:solidFill>
                      <a:srgbClr val="5A5A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тесная гондола наверху</a:t>
                      </a:r>
                    </a:p>
                  </a:txBody>
                  <a:tcPr anchor="ctr">
                    <a:solidFill>
                      <a:srgbClr val="5A5A5A"/>
                    </a:solidFill>
                  </a:tcPr>
                </a:tc>
              </a:tr>
            </a:tbl>
          </a:graphicData>
        </a:graphic>
      </p:graphicFrame>
      <p:sp>
        <p:nvSpPr>
          <p:cNvPr id="30" name="Пояснение"/>
          <p:cNvSpPr txBox="1"/>
          <p:nvPr/>
        </p:nvSpPr>
        <p:spPr>
          <a:xfrm>
            <a:off x="594360" y="4663440"/>
            <a:ext cx="5303520" cy="155448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Ветроустановка — это высота, вращающиеся части и электрооборудование в одном месте. Подъём и спуск занимают время, поэтому спасательные действия нужно продумать заранее.</a:t>
            </a:r>
          </a:p>
        </p:txBody>
      </p:sp>
      <p:sp>
        <p:nvSpPr>
          <p:cNvPr id="31" name="Чем опасны"/>
          <p:cNvSpPr/>
          <p:nvPr/>
        </p:nvSpPr>
        <p:spPr>
          <a:xfrm>
            <a:off x="6309360" y="1783080"/>
            <a:ext cx="5303520" cy="214884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892807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FFED00"/>
                </a:solidFill>
                <a:latin typeface="Calibri"/>
              </a:rPr>
              <a:t>Чем опасны</a:t>
            </a:r>
          </a:p>
        </p:txBody>
      </p:sp>
      <p:sp>
        <p:nvSpPr>
          <p:cNvPr id="33" name="Чем опасны список"/>
          <p:cNvSpPr txBox="1"/>
          <p:nvPr/>
        </p:nvSpPr>
        <p:spPr>
          <a:xfrm>
            <a:off x="6446520" y="2350008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Падение с высоты при подъёме и работе в гондоле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Вращающиеся части и запуск без предупреждения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Куски льда с лопастей и молния в грозу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Пожар в гондоле: путь эвакуации один</a:t>
            </a:r>
          </a:p>
        </p:txBody>
      </p:sp>
      <p:sp>
        <p:nvSpPr>
          <p:cNvPr id="34" name="Что делать"/>
          <p:cNvSpPr/>
          <p:nvPr/>
        </p:nvSpPr>
        <p:spPr>
          <a:xfrm>
            <a:off x="6309360" y="4114800"/>
            <a:ext cx="5303520" cy="214884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22452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FFED00"/>
                </a:solidFill>
                <a:latin typeface="Calibri"/>
              </a:rPr>
              <a:t>Что делать</a:t>
            </a:r>
          </a:p>
        </p:txBody>
      </p:sp>
      <p:sp>
        <p:nvSpPr>
          <p:cNvPr id="36" name="Что делать список"/>
          <p:cNvSpPr txBox="1"/>
          <p:nvPr/>
        </p:nvSpPr>
        <p:spPr>
          <a:xfrm>
            <a:off x="6446520" y="4681728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Остановить и заблокировать установку до начала работ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Работать только по допуску и в паре, со страховкой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Не приближаться к башне при обледенении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Не подниматься при грозе и сильном ветре</a:t>
            </a:r>
          </a:p>
        </p:txBody>
      </p:sp>
    </p:spTree>
    <p:extLst>
      <p:ext uri="{BB962C8B-B14F-4D97-AF65-F5344CB8AC3E}">
        <p14:creationId xmlns:p14="http://schemas.microsoft.com/office/powerpoint/2010/main" val="1123883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B4B4B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5233" y="919839"/>
            <a:ext cx="105748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cs typeface="Arial" panose="020B0604020202020204" pitchFamily="34" charset="0"/>
              </a:rPr>
              <a:t>ДЕЙСТВИЯ ПРИ АВАРИИ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8483138" y="105291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ВИЭ: БЕЗОПАСНОСТЬ</a:t>
            </a:r>
          </a:p>
        </p:txBody>
      </p:sp>
      <p:sp>
        <p:nvSpPr>
          <p:cNvPr id="29" name="Поражение током и падение"/>
          <p:cNvSpPr/>
          <p:nvPr/>
        </p:nvSpPr>
        <p:spPr>
          <a:xfrm>
            <a:off x="594360" y="1783080"/>
            <a:ext cx="5394960" cy="324612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1892807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FFED00"/>
                </a:solidFill>
                <a:latin typeface="Calibri"/>
              </a:rPr>
              <a:t>Поражение током и падение</a:t>
            </a:r>
          </a:p>
        </p:txBody>
      </p:sp>
      <p:sp>
        <p:nvSpPr>
          <p:cNvPr id="31" name="Поражение током и падение список"/>
          <p:cNvSpPr txBox="1"/>
          <p:nvPr/>
        </p:nvSpPr>
        <p:spPr>
          <a:xfrm>
            <a:off x="731520" y="2350008"/>
            <a:ext cx="5120640" cy="2606039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600" b="0">
                <a:solidFill>
                  <a:srgbClr val="FFFFFF"/>
                </a:solidFill>
                <a:latin typeface="Calibri"/>
              </a:rPr>
              <a:t>Обесточить цепь или отстранить предметом из диэлектрика</a:t>
            </a:r>
          </a:p>
          <a:p>
            <a:pPr algn="l">
              <a:spcAft>
                <a:spcPts val="14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600" b="0">
                <a:solidFill>
                  <a:srgbClr val="FFFFFF"/>
                </a:solidFill>
                <a:latin typeface="Calibri"/>
              </a:rPr>
              <a:t>Не прикасаться к пострадавшему под напряжением</a:t>
            </a:r>
          </a:p>
          <a:p>
            <a:pPr algn="l">
              <a:spcAft>
                <a:spcPts val="14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600" b="0">
                <a:solidFill>
                  <a:srgbClr val="FFFFFF"/>
                </a:solidFill>
                <a:latin typeface="Calibri"/>
              </a:rPr>
              <a:t>При отсутствии дыхания начать реанимацию</a:t>
            </a:r>
          </a:p>
          <a:p>
            <a:pPr algn="l">
              <a:spcAft>
                <a:spcPts val="14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600" b="0">
                <a:solidFill>
                  <a:srgbClr val="FFFFFF"/>
                </a:solidFill>
                <a:latin typeface="Calibri"/>
              </a:rPr>
              <a:t>При падении не перемещать пострадавшего без нужды</a:t>
            </a:r>
          </a:p>
        </p:txBody>
      </p:sp>
      <p:sp>
        <p:nvSpPr>
          <p:cNvPr id="32" name="Пожар на объекте"/>
          <p:cNvSpPr/>
          <p:nvPr/>
        </p:nvSpPr>
        <p:spPr>
          <a:xfrm>
            <a:off x="6217920" y="1783080"/>
            <a:ext cx="5394960" cy="324612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892807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FFED00"/>
                </a:solidFill>
                <a:latin typeface="Calibri"/>
              </a:rPr>
              <a:t>Пожар на объекте</a:t>
            </a:r>
          </a:p>
        </p:txBody>
      </p:sp>
      <p:sp>
        <p:nvSpPr>
          <p:cNvPr id="34" name="Пожар на объекте список"/>
          <p:cNvSpPr txBox="1"/>
          <p:nvPr/>
        </p:nvSpPr>
        <p:spPr>
          <a:xfrm>
            <a:off x="6355080" y="2350008"/>
            <a:ext cx="5120640" cy="2606039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600" b="0">
                <a:solidFill>
                  <a:srgbClr val="FFFFFF"/>
                </a:solidFill>
                <a:latin typeface="Calibri"/>
              </a:rPr>
              <a:t>Сообщить диспетчеру и позвонить в 112</a:t>
            </a:r>
          </a:p>
          <a:p>
            <a:pPr algn="l">
              <a:spcAft>
                <a:spcPts val="14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600" b="0">
                <a:solidFill>
                  <a:srgbClr val="FFFFFF"/>
                </a:solidFill>
                <a:latin typeface="Calibri"/>
              </a:rPr>
              <a:t>Электроустановку под напряжением водой не тушить</a:t>
            </a:r>
          </a:p>
          <a:p>
            <a:pPr algn="l">
              <a:spcAft>
                <a:spcPts val="14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600" b="0">
                <a:solidFill>
                  <a:srgbClr val="FFFFFF"/>
                </a:solidFill>
                <a:latin typeface="Calibri"/>
              </a:rPr>
              <a:t>Литиевые батареи: держаться дальше от дыма</a:t>
            </a:r>
          </a:p>
          <a:p>
            <a:pPr algn="l">
              <a:spcAft>
                <a:spcPts val="14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600" b="0">
                <a:solidFill>
                  <a:srgbClr val="FFFFFF"/>
                </a:solidFill>
                <a:latin typeface="Calibri"/>
              </a:rPr>
              <a:t>Эвакуироваться по указанному пути, собраться в пункте сбора</a:t>
            </a:r>
          </a:p>
        </p:txBody>
      </p:sp>
      <p:sp>
        <p:nvSpPr>
          <p:cNvPr id="35" name="Вызов помощи"/>
          <p:cNvSpPr/>
          <p:nvPr/>
        </p:nvSpPr>
        <p:spPr>
          <a:xfrm>
            <a:off x="594360" y="5257800"/>
            <a:ext cx="11018520" cy="960120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Вызов помощи: 112. </a:t>
            </a:r>
            <a:r>
              <a:rPr sz="1600" b="0">
                <a:solidFill>
                  <a:srgbClr val="2B2B2B"/>
                </a:solidFill>
                <a:latin typeface="Calibri"/>
              </a:rPr>
              <a:t>Назовите объект, место и число пострадавших; встречайте бригаду у въезда</a:t>
            </a:r>
          </a:p>
        </p:txBody>
      </p:sp>
    </p:spTree>
    <p:extLst>
      <p:ext uri="{BB962C8B-B14F-4D97-AF65-F5344CB8AC3E}">
        <p14:creationId xmlns:p14="http://schemas.microsoft.com/office/powerpoint/2010/main" val="1123883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7165" y="2978931"/>
            <a:ext cx="4907902" cy="990698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latin typeface="Druk Wide Cyr" pitchFamily="50" charset="-52"/>
              </a:rPr>
              <a:t>Выводы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65589" y="5437059"/>
            <a:ext cx="4447592" cy="652722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Mabry Pro" panose="020D0503040002040303" pitchFamily="34" charset="0"/>
              </a:rPr>
              <a:t>Чистая энергия безопасна, когда безопасна работа с ней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48" y="461707"/>
            <a:ext cx="5185009" cy="198913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318504" y="106070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1</a:t>
            </a:r>
          </a:p>
        </p:txBody>
      </p:sp>
      <p:sp>
        <p:nvSpPr>
          <p:cNvPr id="6" name="Вывод 1"/>
          <p:cNvSpPr txBox="1"/>
          <p:nvPr/>
        </p:nvSpPr>
        <p:spPr>
          <a:xfrm>
            <a:off x="6903720" y="91440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Главные риски: электричество, высота и огонь</a:t>
            </a:r>
          </a:p>
        </p:txBody>
      </p:sp>
      <p:sp>
        <p:nvSpPr>
          <p:cNvPr id="7" name="Oval 6"/>
          <p:cNvSpPr/>
          <p:nvPr/>
        </p:nvSpPr>
        <p:spPr>
          <a:xfrm>
            <a:off x="6318504" y="2066543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2</a:t>
            </a:r>
          </a:p>
        </p:txBody>
      </p:sp>
      <p:sp>
        <p:nvSpPr>
          <p:cNvPr id="8" name="Вывод 2"/>
          <p:cNvSpPr txBox="1"/>
          <p:nvPr/>
        </p:nvSpPr>
        <p:spPr>
          <a:xfrm>
            <a:off x="6903720" y="192024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Постоянный ток на панелях опасен, пока есть свет</a:t>
            </a:r>
          </a:p>
        </p:txBody>
      </p:sp>
      <p:sp>
        <p:nvSpPr>
          <p:cNvPr id="9" name="Oval 8"/>
          <p:cNvSpPr/>
          <p:nvPr/>
        </p:nvSpPr>
        <p:spPr>
          <a:xfrm>
            <a:off x="6318504" y="307238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3</a:t>
            </a:r>
          </a:p>
        </p:txBody>
      </p:sp>
      <p:sp>
        <p:nvSpPr>
          <p:cNvPr id="10" name="Вывод 3"/>
          <p:cNvSpPr txBox="1"/>
          <p:nvPr/>
        </p:nvSpPr>
        <p:spPr>
          <a:xfrm>
            <a:off x="6903720" y="292608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Работы только по наряду, с блокировкой и проверкой напряжения</a:t>
            </a:r>
          </a:p>
        </p:txBody>
      </p:sp>
      <p:sp>
        <p:nvSpPr>
          <p:cNvPr id="11" name="Oval 10"/>
          <p:cNvSpPr/>
          <p:nvPr/>
        </p:nvSpPr>
        <p:spPr>
          <a:xfrm>
            <a:off x="6318504" y="407822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4</a:t>
            </a:r>
          </a:p>
        </p:txBody>
      </p:sp>
      <p:sp>
        <p:nvSpPr>
          <p:cNvPr id="12" name="Вывод 4"/>
          <p:cNvSpPr txBox="1"/>
          <p:nvPr/>
        </p:nvSpPr>
        <p:spPr>
          <a:xfrm>
            <a:off x="6903720" y="393192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Высота требует допуска, СИЗ и плана спасения</a:t>
            </a:r>
          </a:p>
        </p:txBody>
      </p:sp>
      <p:sp>
        <p:nvSpPr>
          <p:cNvPr id="13" name="Oval 12"/>
          <p:cNvSpPr/>
          <p:nvPr/>
        </p:nvSpPr>
        <p:spPr>
          <a:xfrm>
            <a:off x="6318504" y="508406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5</a:t>
            </a:r>
          </a:p>
        </p:txBody>
      </p:sp>
      <p:sp>
        <p:nvSpPr>
          <p:cNvPr id="14" name="Вывод 5"/>
          <p:cNvSpPr txBox="1"/>
          <p:nvPr/>
        </p:nvSpPr>
        <p:spPr>
          <a:xfrm>
            <a:off x="6903720" y="493776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Знайте знаки и порядок действий при аварии</a:t>
            </a:r>
          </a:p>
        </p:txBody>
      </p:sp>
    </p:spTree>
    <p:extLst>
      <p:ext uri="{BB962C8B-B14F-4D97-AF65-F5344CB8AC3E}">
        <p14:creationId xmlns:p14="http://schemas.microsoft.com/office/powerpoint/2010/main" val="36863586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331E3F"/>
      </a:dk1>
      <a:lt1>
        <a:srgbClr val="FFFAF3"/>
      </a:lt1>
      <a:dk2>
        <a:srgbClr val="C5144C"/>
      </a:dk2>
      <a:lt2>
        <a:srgbClr val="FF7140"/>
      </a:lt2>
      <a:accent1>
        <a:srgbClr val="FFB0BF"/>
      </a:accent1>
      <a:accent2>
        <a:srgbClr val="FF8E9E"/>
      </a:accent2>
      <a:accent3>
        <a:srgbClr val="FFA39A"/>
      </a:accent3>
      <a:accent4>
        <a:srgbClr val="FFD6C8"/>
      </a:accent4>
      <a:accent5>
        <a:srgbClr val="6E0A2A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337</Words>
  <Application>Microsoft Office PowerPoint</Application>
  <PresentationFormat>Широкоэкранный</PresentationFormat>
  <Paragraphs>85</Paragraphs>
  <Slides>21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33" baseType="lpstr">
      <vt:lpstr>Amatic SC</vt:lpstr>
      <vt:lpstr>Arial</vt:lpstr>
      <vt:lpstr>Calibri</vt:lpstr>
      <vt:lpstr>Calibri Light</vt:lpstr>
      <vt:lpstr>Druk Wide Cyr</vt:lpstr>
      <vt:lpstr>Mabry Pro</vt:lpstr>
      <vt:lpstr>Proxima Nova</vt:lpstr>
      <vt:lpstr>Roboto Medium</vt:lpstr>
      <vt:lpstr>Times New Roman</vt:lpstr>
      <vt:lpstr>Wingdings</vt:lpstr>
      <vt:lpstr>Тема Office</vt:lpstr>
      <vt:lpstr>Slidesgo Final Pages</vt:lpstr>
      <vt:lpstr>Презентация PowerPoint</vt:lpstr>
      <vt:lpstr>Название слайда</vt:lpstr>
      <vt:lpstr>Презентация PowerPoint</vt:lpstr>
      <vt:lpstr>Презентация PowerPoint</vt:lpstr>
      <vt:lpstr>Слайд</vt:lpstr>
      <vt:lpstr>Заголовок</vt:lpstr>
      <vt:lpstr>Слайд</vt:lpstr>
      <vt:lpstr>Слайд</vt:lpstr>
      <vt:lpstr>Use our editable graphic resources...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...and our sets of editable icons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</dc:title>
  <dc:creator>Щекатурова Екатерина Юрьевна</dc:creator>
  <cp:lastModifiedBy>Алексей</cp:lastModifiedBy>
  <cp:revision>7</cp:revision>
  <dcterms:created xsi:type="dcterms:W3CDTF">2024-06-07T11:08:18Z</dcterms:created>
  <dcterms:modified xsi:type="dcterms:W3CDTF">2025-08-29T11:14:13Z</dcterms:modified>
</cp:coreProperties>
</file>