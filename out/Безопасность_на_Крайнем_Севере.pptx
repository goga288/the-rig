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4"/>
  </p:notesMasterIdLst>
  <p:sldIdLst>
    <p:sldId id="260" r:id="rId3"/>
    <p:sldId id="278" r:id="rId29"/>
    <p:sldId id="279" r:id="rId30"/>
    <p:sldId id="280" r:id="rId31"/>
    <p:sldId id="288" r:id="rId39"/>
    <p:sldId id="281" r:id="rId32"/>
    <p:sldId id="282" r:id="rId33"/>
    <p:sldId id="283" r:id="rId34"/>
    <p:sldId id="284" r:id="rId35"/>
    <p:sldId id="285" r:id="rId36"/>
    <p:sldId id="289" r:id="rId40"/>
    <p:sldId id="290" r:id="rId41"/>
    <p:sldId id="286" r:id="rId3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 showGuides="1">
      <p:cViewPr varScale="1">
        <p:scale>
          <a:sx n="71" d="100"/>
          <a:sy n="71" d="100"/>
        </p:scale>
        <p:origin x="756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.xml"/><Relationship Id="rId30" Type="http://schemas.openxmlformats.org/officeDocument/2006/relationships/slide" Target="slides/slide3.xml"/><Relationship Id="rId31" Type="http://schemas.openxmlformats.org/officeDocument/2006/relationships/slide" Target="slides/slide4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3.xml"/><Relationship Id="rId39" Type="http://schemas.openxmlformats.org/officeDocument/2006/relationships/slide" Target="slides/slide5.xml"/><Relationship Id="rId40" Type="http://schemas.openxmlformats.org/officeDocument/2006/relationships/slide" Target="slides/slide11.xml"/><Relationship Id="rId41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/>
              <a:t>Ориентир по температуре воздуха, °C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Работа на холоде, мин</c:v>
                </c:pt>
              </c:strCache>
            </c:strRef>
          </c:tx>
          <c:spPr>
            <a:solidFill>
              <a:srgbClr val="2B2B2B"/>
            </a:solidFill>
          </c:spPr>
          <c:cat>
            <c:strRef>
              <c:f>Sheet1!$A$2:$A$6</c:f>
              <c:strCache>
                <c:ptCount val="5"/>
                <c:pt idx="0">
                  <c:v>0…−10</c:v>
                </c:pt>
                <c:pt idx="1">
                  <c:v>−10…−20</c:v>
                </c:pt>
                <c:pt idx="2">
                  <c:v>−20…−30</c:v>
                </c:pt>
                <c:pt idx="3">
                  <c:v>−30…−40</c:v>
                </c:pt>
                <c:pt idx="4">
                  <c:v>−40…−50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90</c:v>
                </c:pt>
                <c:pt idx="2">
                  <c:v>60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Обогрев в тепле, мин</c:v>
                </c:pt>
              </c:strCache>
            </c:strRef>
          </c:tx>
          <c:spPr>
            <a:solidFill>
              <a:srgbClr val="FFED00"/>
            </a:solidFill>
          </c:spPr>
          <c:cat>
            <c:strRef>
              <c:f>Sheet1!$A$2:$A$6</c:f>
              <c:strCache>
                <c:ptCount val="5"/>
                <c:pt idx="0">
                  <c:v>0…−10</c:v>
                </c:pt>
                <c:pt idx="1">
                  <c:v>−10…−20</c:v>
                </c:pt>
                <c:pt idx="2">
                  <c:v>−20…−30</c:v>
                </c:pt>
                <c:pt idx="3">
                  <c:v>−30…−40</c:v>
                </c:pt>
                <c:pt idx="4">
                  <c:v>−40…−50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</c:v>
                </c:pt>
                <c:pt idx="1">
                  <c:v>15</c:v>
                </c:pt>
                <c:pt idx="2">
                  <c:v>15</c:v>
                </c:pt>
                <c:pt idx="3">
                  <c:v>20</c:v>
                </c:pt>
                <c:pt idx="4">
                  <c:v>20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01305-19E7-4782-B941-09E80DE4569E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D73E0B-056B-4491-865D-67CF282AB9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8683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Добрый день! Меня зовут Егор Некрасов, группа 202. Тема моего доклада — безопасность в условиях Крайнего Севера. Я расскажу о четырёх главных факторах риска: холоде, полярной ночи, изоляции и специфике одежды, а также покажу плакат: карту зон, многослойную систему одежды и график работ и отдыха при низких температурах.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Север — это не просто «очень холодно». Это сочетание факторов, которые усиливают друг друга. В Оймяконе зафиксирован минимум −67,7 °C. В Норильске полярная ночь длится около 45 суток. Ветер в 10 метров в секунду превращает −20 °C в ощущаемые примерно −33 °C. А помощь может быть в часах или сутках пути, поэтому при выезде нужен аварийный запас минимум на трое суток. Дальше по плану: карта зон, холод, полярная ночь, изоляция, одежда и график работ.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слайде четыре зоны с севера на юг. Арктика: острова и побережье севернее 70-й параллели, зимой −40…−55 °C, полярная ночь 80–120 и более суток. За Полярным кругом, начиная с 66,5° северной широты: Мурманск, Воркута, Норильск, там ночь до 45 суток и полярный день летом. Районы Крайнего Севера, например Якутия и Чукотка, самые холодные: до −50…−67 °C. Приравненные местности расположены южнее, но зима там тоже долгая. Реальный перечень районов Крайнего Севера задан постановлением Совмина СССР № 1029 и более поздними изменениями, и по нему положены гарантии по Трудовому кодексу. Границы климата зависят ещё от рельефа и удалённости от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Холод опасен несколькими способами. Первое — переохлаждение: температура тела падает ниже 35 °C, появляются дрожь, апатия и спутанность сознания, потом человек теряет сознание. Второе — отморожения: чаще всего страдают нос, щёки, уши и пальцы, кожа белеет и перестаёт чувствовать. Третье — ветер и метель: ветер резко увеличивает потерю тепла, а в пургу пропадает видимость. Четвёртое — техника и материалы: металл прилипает к коже, сталь и пластик становятся хрупкими, батареи быстро садятся. В таблице справа видно, как ветер меняет ощущения: при −20 °C и ветре 10 м/с ощущается около −34 °C. Когда ощущаемая температура ниже −40 °C, открытая кожа может обморозиться за 10–30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Полярная ночь — это период, когда солнце не поднимается над горизонтом. В таблице видно: в Мурманске она длится около 40 суток, в Норильске около 45, в Диксоне около 80, а на арктических островах может превышать 100. Опасность в том, что сбивается суточный ритм: человек сонлив, внимание падает. В темноте растёт число травм, падений и аварий, легко потерять ориентацию, особенно в пургу. Возможна сезонная депрессия и раздражительность. Что делать: иметь налобный фонарь и держать запасные батареи в тепле, использовать светоотражающие элементы и вешки на маршруте, соблюдать режим сна, обеспечить яркий свет в помещении. Витамин D и светотерапию применяют только по рекомендации врача.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Изоляция — это удалённость от помощи и от привычной жизни. Риски: рядом нет врача и спасателей, помощь идёт часами и сутками; нет сотовой связи, нужны рация и спутниковый телефон; в небольшой группе из-за тесноты, усталости и однообразия возникают конфликты; нарушается сон. Меры: правило «не один» — выезды и работа минимум вдвоём; план маршрута сдаётся диспетчеру, и связь идёт по графику; автономный запас еды, топлива и тепла и аптечка минимум на 72 часа; режим дня, распределение обязанностей и общение внутри группы. Главное правило: никто не выходит в одиночку, без связи и без сообщённого маршрута.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Основа защиты от холода — три слоя. Каждый слой я разобрал в отдельной колонке: задача, материалы и чего не допускать. Первый, базовый, отводит пот от кожи: синтетика или тонкая мериносовая шерсть плотно к телу. Хлопок не подходит: мокрый, он остывает. Второй слой утепляет, задерживая воздух: флис, шерсть, пух, синтетический утеплитель. Слоёв может быть несколько, но одежда не должна пережимать, потому что тепло — это воздух. Третий слой защищает от ветра и влаги: парка или комбинезон с капюшоном, регулируемыми манжетами и поясом. Важна вентиляция через молнии, чтобы не вспотеть. Лучше немного расстегнуться, чем намокнуть: мокрая одежда в мороз опаснее лёгкого озноба.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о специфике северной одежды. Голова и лицо: шапка с ветрозащитой или балаклава, капюшон с меховой оторочкой, она не обмерзает от дыхания, тёмные очки от снежной слепоты. Не оставлять уши открытыми. Руки: рукавицы тёплее перчаток, внутри тонкие перчатки-вкладыши, запасная пара обязательна. Нельзя трогать голой рукой металл. Ноги: обувь на 1–1,5 размера больше, тёплые стельки, две пары носков, не сдавливающих ногу. Тесная и влажная обувь ведёт к отморожению. Корпус: свободный крой, регулировка манжет, пояса и капюшона; джинсы и хлопок на морозе не подходят. И главное правило пота: раньше расстёгиваться, чем вспотеть.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ориентировочный график. При температуре от 0 до −10 °C можно работать около двух часов подряд и греться около 10 минут. От −10 до −20: 90 минут работы и 15 минут обогрева. От −20 до −30: час работы и 15 минут обогрева. От −30 до −40: 45 минут и 20 минут. От −40 до −50: около 30 минут работы и 20 минут в тепле. Ниже −50 °C открытые работы прекращают, кроме аварийных. Ниже −30 °C работают парами и следят друг за другом: лицо и руки. Если ветер 10 м/с и больше, температуру считают на ступень ниже. Тёплое помещение должно быть +21…+25 °C, с горячим питьём и сушкой одежды. Точные режимы определяет МР 2.2.7.2129-06 и локальные акты предприятия.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Плакат собирает главное на одном слайде. Слева карта зон с типичными зимними температурами: до −55 °C в Арктике, −45 за Полярным кругом, до −67 на Крайнем Севере. В центре три слоя одежды: база, тепло, защита, и правило «сухо, без хлопка». Справа таблица режима работы и обогрева в минутах по диапазонам температур. Внизу девиз плаката: сухо, слоями, парами, по графику, на связи.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помощь. При переохлаждении: отвести в тепло, снять мокрую одежду, укутать, дать тёплое сладкое питьё, если человек в сознании. Алкоголь не давать и не растирать. Если сознание нарушено — срочно вызывать помощь. При отморожении: уйти в тепло, снять кольца и тесную обувь, не растирать снегом и не греть у огня, согреть тёплой, но не горячей водой, наложить сухую повязку. Обязательно показать врачу, даже если боль прошла. Номер вызова помощи — 112. Не оставляйте пострадавшего одного и сообщите точное место и время холодового воздействия.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Подведу итоги. Первое: знайте свою зону, от неё зависят холод, полярная ночь и нормы труда. Второе: холод вместе с ветром опаснее, чем показывает термометр. Третье: одевайтесь слоями и держите тело сухим. Четвёртое: работайте по графику с обогревом и в паре. Пятое: в полярную ночь и в изоляции заботьтесь о свете, режиме, связи и запасе. Север не прощает ошибок, поэтому готовиться нужно заранее. Спасибо за внимание!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 подготовке я опирался на Трудовой кодекс, МР 2.2.7.2129-06 о режимах труда на холоде, перечень районов Крайнего Севера, индекс ветро-холодового охлаждения и данные Росгидромета. Числовые режимы на плакате ориентировочные, перед применением их нужно сверять с действующими нормами.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765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95043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388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0352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939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4643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145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403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9579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28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40942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 slide">
    <p:spTree>
      <p:nvGrpSpPr>
        <p:cNvPr id="1" name="Shape 19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15790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Google Shape;1996;p34"/>
          <p:cNvSpPr txBox="1">
            <a:spLocks noGrp="1"/>
          </p:cNvSpPr>
          <p:nvPr>
            <p:ph type="title"/>
          </p:nvPr>
        </p:nvSpPr>
        <p:spPr>
          <a:xfrm>
            <a:off x="1397800" y="431800"/>
            <a:ext cx="93964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085823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805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2" name="Google Shape;1992;p32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993" name="Google Shape;1993;p32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274313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3.png"/><Relationship Id="rId12" Type="http://schemas.openxmlformats.org/officeDocument/2006/relationships/notesSlide" Target="../notesSlides/notesSlide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2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3.png"/><Relationship Id="rId12" Type="http://schemas.openxmlformats.org/officeDocument/2006/relationships/notesSlide" Target="../notesSlides/notesSlide2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ПРЕЗЕНТАЦИЯ</a:t>
            </a:r>
            <a:r>
              <a:rPr lang="ru-RU"/>
              <a:t> </a:t>
            </a:r>
          </a:p>
          <a:p>
            <a:pPr algn="ctr"/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по дисциплине</a:t>
            </a:r>
          </a:p>
          <a:p>
            <a:pPr algn="ctr"/>
            <a:r>
              <a:rPr lang="ru-RU"/>
              <a:t>«Безопасность жизнедеятельности»</a:t>
            </a:r>
          </a:p>
          <a:p>
            <a:pPr algn="ctr"/>
            <a:endParaRPr lang="ru-RU"/>
          </a:p>
          <a:p>
            <a:pPr algn="ctr"/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на тему</a:t>
            </a:r>
          </a:p>
          <a:p>
            <a:pPr algn="ctr"/>
            <a:r>
              <a:rPr lang="ru-RU"/>
              <a:t>«Безопасность в условиях Крайнего Севера: холод, полярная ночь, изоляция, специфика одежды»</a:t>
            </a:r>
          </a:p>
          <a:p>
            <a:pPr algn="ctr"/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72" y="192523"/>
            <a:ext cx="7617667" cy="2381842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543" y="544078"/>
            <a:ext cx="4614297" cy="17701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46193D2-C5AA-C648-1208-9618951538E2}"/>
              </a:ext>
            </a:extLst>
          </p:cNvPr>
          <p:cNvSpPr txBox="1"/>
          <p:nvPr/>
        </p:nvSpPr>
        <p:spPr>
          <a:xfrm>
            <a:off x="535972" y="4578588"/>
            <a:ext cx="61016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Выполнил: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202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Некрасов Егор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31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10000">
        <p:fade/>
      </p:transition>
    </mc:Choice>
    <mc:Fallback xmlns="">
      <p:transition spd="med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Почему Север требует особой безопасности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Карточка 1"/>
          <p:cNvSpPr/>
          <p:nvPr/>
        </p:nvSpPr>
        <p:spPr>
          <a:xfrm>
            <a:off x="59436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Показатель 1"/>
          <p:cNvSpPr txBox="1"/>
          <p:nvPr/>
        </p:nvSpPr>
        <p:spPr>
          <a:xfrm>
            <a:off x="68580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  <a:latin typeface="Calibri"/>
              </a:rPr>
              <a:t>−67,7 °C</a:t>
            </a:r>
          </a:p>
        </p:txBody>
      </p:sp>
      <p:sp>
        <p:nvSpPr>
          <p:cNvPr id="12" name="Метка 1"/>
          <p:cNvSpPr/>
          <p:nvPr/>
        </p:nvSpPr>
        <p:spPr>
          <a:xfrm>
            <a:off x="73152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Описание 1"/>
          <p:cNvSpPr txBox="1"/>
          <p:nvPr/>
        </p:nvSpPr>
        <p:spPr>
          <a:xfrm>
            <a:off x="68580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  <a:latin typeface="Calibri"/>
              </a:rPr>
              <a:t>Оймякон: абсолютный минимум среди постоянно обитаемых мест (1933 г.)</a:t>
            </a:r>
          </a:p>
        </p:txBody>
      </p:sp>
      <p:sp>
        <p:nvSpPr>
          <p:cNvPr id="14" name="Карточка 2"/>
          <p:cNvSpPr/>
          <p:nvPr/>
        </p:nvSpPr>
        <p:spPr>
          <a:xfrm>
            <a:off x="347472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Показатель 2"/>
          <p:cNvSpPr txBox="1"/>
          <p:nvPr/>
        </p:nvSpPr>
        <p:spPr>
          <a:xfrm>
            <a:off x="356616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  <a:latin typeface="Calibri"/>
              </a:rPr>
              <a:t>≈ 45 сут</a:t>
            </a:r>
          </a:p>
        </p:txBody>
      </p:sp>
      <p:sp>
        <p:nvSpPr>
          <p:cNvPr id="16" name="Метка 2"/>
          <p:cNvSpPr/>
          <p:nvPr/>
        </p:nvSpPr>
        <p:spPr>
          <a:xfrm>
            <a:off x="3611879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Описание 2"/>
          <p:cNvSpPr txBox="1"/>
          <p:nvPr/>
        </p:nvSpPr>
        <p:spPr>
          <a:xfrm>
            <a:off x="356616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  <a:latin typeface="Calibri"/>
              </a:rPr>
              <a:t>непрерывной полярной ночи в Норильске (около 3 дек — 13 янв)</a:t>
            </a:r>
          </a:p>
        </p:txBody>
      </p:sp>
      <p:sp>
        <p:nvSpPr>
          <p:cNvPr id="18" name="Карточка 3"/>
          <p:cNvSpPr/>
          <p:nvPr/>
        </p:nvSpPr>
        <p:spPr>
          <a:xfrm>
            <a:off x="635508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Показатель 3"/>
          <p:cNvSpPr txBox="1"/>
          <p:nvPr/>
        </p:nvSpPr>
        <p:spPr>
          <a:xfrm>
            <a:off x="644652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  <a:latin typeface="Calibri"/>
              </a:rPr>
              <a:t>≈ −33 °C</a:t>
            </a:r>
          </a:p>
        </p:txBody>
      </p:sp>
      <p:sp>
        <p:nvSpPr>
          <p:cNvPr id="20" name="Метка 3"/>
          <p:cNvSpPr/>
          <p:nvPr/>
        </p:nvSpPr>
        <p:spPr>
          <a:xfrm>
            <a:off x="649224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Описание 3"/>
          <p:cNvSpPr txBox="1"/>
          <p:nvPr/>
        </p:nvSpPr>
        <p:spPr>
          <a:xfrm>
            <a:off x="644652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  <a:latin typeface="Calibri"/>
              </a:rPr>
              <a:t>ощущается при −20 °C и ветре 10 м/с: ветер усиливает охлаждение</a:t>
            </a:r>
          </a:p>
        </p:txBody>
      </p:sp>
      <p:sp>
        <p:nvSpPr>
          <p:cNvPr id="22" name="Карточка 4"/>
          <p:cNvSpPr/>
          <p:nvPr/>
        </p:nvSpPr>
        <p:spPr>
          <a:xfrm>
            <a:off x="923544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Показатель 4"/>
          <p:cNvSpPr txBox="1"/>
          <p:nvPr/>
        </p:nvSpPr>
        <p:spPr>
          <a:xfrm>
            <a:off x="932688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  <a:latin typeface="Calibri"/>
              </a:rPr>
              <a:t>72 ч</a:t>
            </a:r>
          </a:p>
        </p:txBody>
      </p:sp>
      <p:sp>
        <p:nvSpPr>
          <p:cNvPr id="24" name="Метка 4"/>
          <p:cNvSpPr/>
          <p:nvPr/>
        </p:nvSpPr>
        <p:spPr>
          <a:xfrm>
            <a:off x="937260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Описание 4"/>
          <p:cNvSpPr txBox="1"/>
          <p:nvPr/>
        </p:nvSpPr>
        <p:spPr>
          <a:xfrm>
            <a:off x="932688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  <a:latin typeface="Calibri"/>
              </a:rPr>
              <a:t>рекомендуемый аварийный запас еды, тепла и воды при выезде из посёлка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5262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ПЛАН ДОКЛАДА</a:t>
            </a:r>
          </a:p>
        </p:txBody>
      </p:sp>
      <p:sp>
        <p:nvSpPr>
          <p:cNvPr id="27" name="План 1"/>
          <p:cNvSpPr/>
          <p:nvPr/>
        </p:nvSpPr>
        <p:spPr>
          <a:xfrm>
            <a:off x="594360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1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Карта зон</a:t>
            </a:r>
          </a:p>
        </p:txBody>
      </p:sp>
      <p:sp>
        <p:nvSpPr>
          <p:cNvPr id="28" name="План 2"/>
          <p:cNvSpPr/>
          <p:nvPr/>
        </p:nvSpPr>
        <p:spPr>
          <a:xfrm>
            <a:off x="2485339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2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Холод</a:t>
            </a:r>
          </a:p>
        </p:txBody>
      </p:sp>
      <p:sp>
        <p:nvSpPr>
          <p:cNvPr id="29" name="План 3"/>
          <p:cNvSpPr/>
          <p:nvPr/>
        </p:nvSpPr>
        <p:spPr>
          <a:xfrm>
            <a:off x="4376318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3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Полярная ночь</a:t>
            </a:r>
          </a:p>
        </p:txBody>
      </p:sp>
      <p:sp>
        <p:nvSpPr>
          <p:cNvPr id="30" name="План 4"/>
          <p:cNvSpPr/>
          <p:nvPr/>
        </p:nvSpPr>
        <p:spPr>
          <a:xfrm>
            <a:off x="6267297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4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Изоляция</a:t>
            </a:r>
          </a:p>
        </p:txBody>
      </p:sp>
      <p:sp>
        <p:nvSpPr>
          <p:cNvPr id="31" name="План 5"/>
          <p:cNvSpPr/>
          <p:nvPr/>
        </p:nvSpPr>
        <p:spPr>
          <a:xfrm>
            <a:off x="8158276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5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Многослойная одежда</a:t>
            </a:r>
          </a:p>
        </p:txBody>
      </p:sp>
      <p:sp>
        <p:nvSpPr>
          <p:cNvPr id="32" name="План 6"/>
          <p:cNvSpPr/>
          <p:nvPr/>
        </p:nvSpPr>
        <p:spPr>
          <a:xfrm>
            <a:off x="10049256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6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График работ и отдыха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Карта зон: где и насколько суров климат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Таблица зон"/>
          <p:cNvGraphicFramePr>
            <a:graphicFrameLocks noGrp="1"/>
          </p:cNvGraphicFramePr>
          <p:nvPr/>
        </p:nvGraphicFramePr>
        <p:xfrm>
          <a:off x="594360" y="1691640"/>
          <a:ext cx="1101852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566160"/>
                <a:gridCol w="1600200"/>
                <a:gridCol w="35661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Зона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Где находится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Зимой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Особенности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Арктика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Арктические острова и побережье севернее ≈ 70° с. ш.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−40…−55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Полярная ночь 80–120 и более суток, штормовые ветра, лёд, белые медведи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За Полярным кругом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66,5–70° с. ш.: Мурманск, Воркута, Салехард, Норильск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−30…−45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Полярная ночь от 1 до 45 суток, полярный день летом, частые пурги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Крайний Север (РКС)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Якутия, Чукотка, Магадан, север Сибири и Дальнего Востока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до −50…−67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Самые низкие температуры в обитаемых местах, резкий континентальный климат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Приравненные местности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Южнее РКС: часть Сибири, Дальнего Востока, севера европейской части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−25…−40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Долгая холодная зима, те же гарантии по Трудовому кодексу РФ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Пояснение"/>
          <p:cNvSpPr/>
          <p:nvPr/>
        </p:nvSpPr>
        <p:spPr>
          <a:xfrm>
            <a:off x="594360" y="5852160"/>
            <a:ext cx="11018520" cy="5029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300" b="1">
                <a:solidFill>
                  <a:srgbClr val="2B2B2B"/>
                </a:solidFill>
                <a:latin typeface="Calibri"/>
              </a:rPr>
              <a:t>Перечень районов Крайнего Севера и приравненных местностей задан законодательно, климатические значения указаны как типичные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Холод: что угрожает и как ощущается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Угроза 1"/>
          <p:cNvSpPr/>
          <p:nvPr/>
        </p:nvSpPr>
        <p:spPr>
          <a:xfrm>
            <a:off x="594360" y="169164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1856231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87452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Переохлаждение</a:t>
            </a:r>
          </a:p>
        </p:txBody>
      </p:sp>
      <p:sp>
        <p:nvSpPr>
          <p:cNvPr id="13" name="Угроза 1 описание"/>
          <p:cNvSpPr txBox="1"/>
          <p:nvPr/>
        </p:nvSpPr>
        <p:spPr>
          <a:xfrm>
            <a:off x="731520" y="246888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Температура тела ниже 35 °C: дрожь, апатия, путаница, затем потеря сознания</a:t>
            </a:r>
          </a:p>
        </p:txBody>
      </p:sp>
      <p:sp>
        <p:nvSpPr>
          <p:cNvPr id="14" name="Угроза 2"/>
          <p:cNvSpPr/>
          <p:nvPr/>
        </p:nvSpPr>
        <p:spPr>
          <a:xfrm>
            <a:off x="3977640" y="169164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42232" y="1856231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187452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Отморожения</a:t>
            </a:r>
          </a:p>
        </p:txBody>
      </p:sp>
      <p:sp>
        <p:nvSpPr>
          <p:cNvPr id="17" name="Угроза 2 описание"/>
          <p:cNvSpPr txBox="1"/>
          <p:nvPr/>
        </p:nvSpPr>
        <p:spPr>
          <a:xfrm>
            <a:off x="4114800" y="246888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Нос, щёки, уши, пальцы: белеет кожа, пропадает чувствительность</a:t>
            </a:r>
          </a:p>
        </p:txBody>
      </p:sp>
      <p:sp>
        <p:nvSpPr>
          <p:cNvPr id="18" name="Угроза 3"/>
          <p:cNvSpPr/>
          <p:nvPr/>
        </p:nvSpPr>
        <p:spPr>
          <a:xfrm>
            <a:off x="594360" y="402336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8952" y="4187952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20624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Ветер и метель</a:t>
            </a:r>
          </a:p>
        </p:txBody>
      </p:sp>
      <p:sp>
        <p:nvSpPr>
          <p:cNvPr id="21" name="Угроза 3 описание"/>
          <p:cNvSpPr txBox="1"/>
          <p:nvPr/>
        </p:nvSpPr>
        <p:spPr>
          <a:xfrm>
            <a:off x="731520" y="480060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Ветер резко усиливает потерю тепла; в пургу пропадает видимость (white-out)</a:t>
            </a:r>
          </a:p>
        </p:txBody>
      </p:sp>
      <p:sp>
        <p:nvSpPr>
          <p:cNvPr id="22" name="Угроза 4"/>
          <p:cNvSpPr/>
          <p:nvPr/>
        </p:nvSpPr>
        <p:spPr>
          <a:xfrm>
            <a:off x="3977640" y="402336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42232" y="4187952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20624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Техника и материалы</a:t>
            </a:r>
          </a:p>
        </p:txBody>
      </p:sp>
      <p:sp>
        <p:nvSpPr>
          <p:cNvPr id="25" name="Угроза 4 описание"/>
          <p:cNvSpPr txBox="1"/>
          <p:nvPr/>
        </p:nvSpPr>
        <p:spPr>
          <a:xfrm>
            <a:off x="4114800" y="480060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Металл прилипает к коже, сталь и пластик становятся хрупкими, садятся батареи</a:t>
            </a:r>
          </a:p>
        </p:txBody>
      </p:sp>
      <p:sp>
        <p:nvSpPr>
          <p:cNvPr id="26" name="Заголовок таблицы"/>
          <p:cNvSpPr txBox="1"/>
          <p:nvPr/>
        </p:nvSpPr>
        <p:spPr>
          <a:xfrm>
            <a:off x="7498079" y="164592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Ощущаемая температура, °C</a:t>
            </a:r>
          </a:p>
        </p:txBody>
      </p:sp>
      <p:graphicFrame>
        <p:nvGraphicFramePr>
          <p:cNvPr id="27" name="Таблица ветро-холодового индекса"/>
          <p:cNvGraphicFramePr>
            <a:graphicFrameLocks noGrp="1"/>
          </p:cNvGraphicFramePr>
          <p:nvPr/>
        </p:nvGraphicFramePr>
        <p:xfrm>
          <a:off x="7498079" y="2103120"/>
          <a:ext cx="4114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960120"/>
                <a:gridCol w="960120"/>
                <a:gridCol w="96012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Воздух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 м/с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 м/с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15 м/с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-10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-17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-20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-22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-20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-30</a:t>
                      </a:r>
                    </a:p>
                  </a:txBody>
                  <a:tcPr anchor="ctr">
                    <a:solidFill>
                      <a:srgbClr val="FFF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-34</a:t>
                      </a:r>
                    </a:p>
                  </a:txBody>
                  <a:tcPr anchor="ctr">
                    <a:solidFill>
                      <a:srgbClr val="FFF7B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-36</a:t>
                      </a:r>
                    </a:p>
                  </a:txBody>
                  <a:tcPr anchor="ctr">
                    <a:solidFill>
                      <a:srgbClr val="FFF7B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-30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-42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-47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-50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-40 °C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-55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-60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-63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</a:tr>
            </a:tbl>
          </a:graphicData>
        </a:graphic>
      </p:graphicFrame>
      <p:sp>
        <p:nvSpPr>
          <p:cNvPr id="28" name="Пояснение таблицы"/>
          <p:cNvSpPr txBox="1"/>
          <p:nvPr/>
        </p:nvSpPr>
        <p:spPr>
          <a:xfrm>
            <a:off x="7498079" y="5120640"/>
            <a:ext cx="4114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4B4B4B"/>
                </a:solidFill>
                <a:latin typeface="Calibri"/>
              </a:rPr>
              <a:t>Ниже −40 °C ощущаемой температуры открытая кожа может обморозиться за 10–30 минут. Расчёт по индексу JAG/TI.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B4B4B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85233" y="919839"/>
            <a:ext cx="1057488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chemeClr val="bg1"/>
                </a:solidFill>
                <a:cs typeface="Arial" panose="020B0604020202020204" pitchFamily="34" charset="0"/>
              </a:rPr>
              <a:t>ПОЛЯРНАЯ НОЧЬ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483138" y="105291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graphicFrame>
        <p:nvGraphicFramePr>
          <p:cNvPr id="29" name="Таблица полярной ночи"/>
          <p:cNvGraphicFramePr>
            <a:graphicFrameLocks noGrp="1"/>
          </p:cNvGraphicFramePr>
          <p:nvPr/>
        </p:nvGraphicFramePr>
        <p:xfrm>
          <a:off x="594360" y="1783080"/>
          <a:ext cx="5303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B2B2B"/>
                          </a:solidFill>
                          <a:latin typeface="Calibri"/>
                        </a:rPr>
                        <a:t>Место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B2B2B"/>
                          </a:solidFill>
                          <a:latin typeface="Calibri"/>
                        </a:rPr>
                        <a:t>Суток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Мурманск</a:t>
                      </a:r>
                    </a:p>
                  </a:txBody>
                  <a:tcPr anchor="ctr"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≈ 40</a:t>
                      </a:r>
                    </a:p>
                  </a:txBody>
                  <a:tcPr anchor="ctr">
                    <a:solidFill>
                      <a:srgbClr val="4B4B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Норильск</a:t>
                      </a:r>
                    </a:p>
                  </a:txBody>
                  <a:tcPr anchor="ctr">
                    <a:solidFill>
                      <a:srgbClr val="5A5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≈ 45</a:t>
                      </a:r>
                    </a:p>
                  </a:txBody>
                  <a:tcPr anchor="ctr">
                    <a:solidFill>
                      <a:srgbClr val="5A5A5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Диксон</a:t>
                      </a:r>
                    </a:p>
                  </a:txBody>
                  <a:tcPr anchor="ctr"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≈ 80</a:t>
                      </a:r>
                    </a:p>
                  </a:txBody>
                  <a:tcPr anchor="ctr">
                    <a:solidFill>
                      <a:srgbClr val="4B4B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Арктические острова</a:t>
                      </a:r>
                    </a:p>
                  </a:txBody>
                  <a:tcPr anchor="ctr">
                    <a:solidFill>
                      <a:srgbClr val="5A5A5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100 и более</a:t>
                      </a:r>
                    </a:p>
                  </a:txBody>
                  <a:tcPr anchor="ctr">
                    <a:solidFill>
                      <a:srgbClr val="5A5A5A"/>
                    </a:solidFill>
                  </a:tcPr>
                </a:tc>
              </a:tr>
            </a:tbl>
          </a:graphicData>
        </a:graphic>
      </p:graphicFrame>
      <p:sp>
        <p:nvSpPr>
          <p:cNvPr id="30" name="Пояснение полярной ночи"/>
          <p:cNvSpPr txBox="1"/>
          <p:nvPr/>
        </p:nvSpPr>
        <p:spPr>
          <a:xfrm>
            <a:off x="594360" y="4663440"/>
            <a:ext cx="5303520" cy="155448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В полярную ночь солнце не поднимается над горизонтом, а светлое время ограничено сумерками. К этому прибавляются холод и пурга, поэтому основная нагрузка ложится на нервную систему и внимание.</a:t>
            </a:r>
          </a:p>
        </p:txBody>
      </p:sp>
      <p:sp>
        <p:nvSpPr>
          <p:cNvPr id="31" name="Чем опасна"/>
          <p:cNvSpPr/>
          <p:nvPr/>
        </p:nvSpPr>
        <p:spPr>
          <a:xfrm>
            <a:off x="6309360" y="178308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1892807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  <a:latin typeface="Calibri"/>
              </a:rPr>
              <a:t>Чем опасна</a:t>
            </a:r>
          </a:p>
        </p:txBody>
      </p:sp>
      <p:sp>
        <p:nvSpPr>
          <p:cNvPr id="33" name="Чем опасна список"/>
          <p:cNvSpPr txBox="1"/>
          <p:nvPr/>
        </p:nvSpPr>
        <p:spPr>
          <a:xfrm>
            <a:off x="6446520" y="2350008"/>
            <a:ext cx="5029200" cy="1508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Сбой суточного ритма, сонливость, падает внимание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Рост травм, ДТП и падений в темноте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Потеря ориентации, особенно в пургу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Сезонная депрессия и раздражительность</a:t>
            </a:r>
          </a:p>
        </p:txBody>
      </p:sp>
      <p:sp>
        <p:nvSpPr>
          <p:cNvPr id="34" name="Что делать"/>
          <p:cNvSpPr/>
          <p:nvPr/>
        </p:nvSpPr>
        <p:spPr>
          <a:xfrm>
            <a:off x="6309360" y="411480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22452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  <a:latin typeface="Calibri"/>
              </a:rPr>
              <a:t>Что делать</a:t>
            </a:r>
          </a:p>
        </p:txBody>
      </p:sp>
      <p:sp>
        <p:nvSpPr>
          <p:cNvPr id="36" name="Что делать список"/>
          <p:cNvSpPr txBox="1"/>
          <p:nvPr/>
        </p:nvSpPr>
        <p:spPr>
          <a:xfrm>
            <a:off x="6446520" y="4681728"/>
            <a:ext cx="5029200" cy="1508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Налобный фонарь и запасные элементы питания в тепле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Светоотражающие элементы, вешки на маршруте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Фиксированный режим сна, яркий свет в помещении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Витамин D и светотерапия — по рекомендации врача</a:t>
            </a:r>
          </a:p>
        </p:txBody>
      </p:sp>
    </p:spTree>
    <p:extLst>
      <p:ext uri="{BB962C8B-B14F-4D97-AF65-F5344CB8AC3E}">
        <p14:creationId xmlns:p14="http://schemas.microsoft.com/office/powerpoint/2010/main" val="11238830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Изоляция: автономность и психологическая устойчивость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Риски"/>
          <p:cNvSpPr/>
          <p:nvPr/>
        </p:nvSpPr>
        <p:spPr>
          <a:xfrm>
            <a:off x="594360" y="1691640"/>
            <a:ext cx="5394960" cy="54864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Риски</a:t>
            </a:r>
          </a:p>
        </p:txBody>
      </p:sp>
      <p:sp>
        <p:nvSpPr>
          <p:cNvPr id="11" name="Риски 1"/>
          <p:cNvSpPr/>
          <p:nvPr/>
        </p:nvSpPr>
        <p:spPr>
          <a:xfrm>
            <a:off x="594360" y="2377440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иски 1 текст"/>
          <p:cNvSpPr txBox="1"/>
          <p:nvPr/>
        </p:nvSpPr>
        <p:spPr>
          <a:xfrm>
            <a:off x="731520" y="2377440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Нет помощи рядом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спасатели и врач в часах и сутках пути</a:t>
            </a:r>
          </a:p>
        </p:txBody>
      </p:sp>
      <p:sp>
        <p:nvSpPr>
          <p:cNvPr id="13" name="Риски 2"/>
          <p:cNvSpPr/>
          <p:nvPr/>
        </p:nvSpPr>
        <p:spPr>
          <a:xfrm>
            <a:off x="594360" y="3127248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иски 2 текст"/>
          <p:cNvSpPr txBox="1"/>
          <p:nvPr/>
        </p:nvSpPr>
        <p:spPr>
          <a:xfrm>
            <a:off x="731520" y="3127248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Потеря связи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сотовой связи нет, нужны рация и спутник</a:t>
            </a:r>
          </a:p>
        </p:txBody>
      </p:sp>
      <p:sp>
        <p:nvSpPr>
          <p:cNvPr id="15" name="Риски 3"/>
          <p:cNvSpPr/>
          <p:nvPr/>
        </p:nvSpPr>
        <p:spPr>
          <a:xfrm>
            <a:off x="594360" y="3877056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иски 3 текст"/>
          <p:cNvSpPr txBox="1"/>
          <p:nvPr/>
        </p:nvSpPr>
        <p:spPr>
          <a:xfrm>
            <a:off x="731520" y="3877056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Конфликты в группе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теснота, усталость, однообразие</a:t>
            </a:r>
          </a:p>
        </p:txBody>
      </p:sp>
      <p:sp>
        <p:nvSpPr>
          <p:cNvPr id="17" name="Риски 4"/>
          <p:cNvSpPr/>
          <p:nvPr/>
        </p:nvSpPr>
        <p:spPr>
          <a:xfrm>
            <a:off x="594360" y="4626864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иски 4 текст"/>
          <p:cNvSpPr txBox="1"/>
          <p:nvPr/>
        </p:nvSpPr>
        <p:spPr>
          <a:xfrm>
            <a:off x="731520" y="4626864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Нарушения сна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свет, ритм, нагрузка, настроение</a:t>
            </a:r>
          </a:p>
        </p:txBody>
      </p:sp>
      <p:sp>
        <p:nvSpPr>
          <p:cNvPr id="19" name="Меры"/>
          <p:cNvSpPr/>
          <p:nvPr/>
        </p:nvSpPr>
        <p:spPr>
          <a:xfrm>
            <a:off x="6217920" y="1691640"/>
            <a:ext cx="5394960" cy="54864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Меры</a:t>
            </a:r>
          </a:p>
        </p:txBody>
      </p:sp>
      <p:sp>
        <p:nvSpPr>
          <p:cNvPr id="20" name="Меры 1"/>
          <p:cNvSpPr/>
          <p:nvPr/>
        </p:nvSpPr>
        <p:spPr>
          <a:xfrm>
            <a:off x="6217920" y="2377440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Меры 1 текст"/>
          <p:cNvSpPr txBox="1"/>
          <p:nvPr/>
        </p:nvSpPr>
        <p:spPr>
          <a:xfrm>
            <a:off x="6355080" y="2377440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Правило «не один»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работа и выезды минимум вдвоём</a:t>
            </a:r>
          </a:p>
        </p:txBody>
      </p:sp>
      <p:sp>
        <p:nvSpPr>
          <p:cNvPr id="22" name="Меры 2"/>
          <p:cNvSpPr/>
          <p:nvPr/>
        </p:nvSpPr>
        <p:spPr>
          <a:xfrm>
            <a:off x="6217920" y="3127248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Меры 2 текст"/>
          <p:cNvSpPr txBox="1"/>
          <p:nvPr/>
        </p:nvSpPr>
        <p:spPr>
          <a:xfrm>
            <a:off x="6355080" y="3127248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План маршрута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сдан диспетчеру, связь по графику</a:t>
            </a:r>
          </a:p>
        </p:txBody>
      </p:sp>
      <p:sp>
        <p:nvSpPr>
          <p:cNvPr id="24" name="Меры 3"/>
          <p:cNvSpPr/>
          <p:nvPr/>
        </p:nvSpPr>
        <p:spPr>
          <a:xfrm>
            <a:off x="6217920" y="3877056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Меры 3 текст"/>
          <p:cNvSpPr txBox="1"/>
          <p:nvPr/>
        </p:nvSpPr>
        <p:spPr>
          <a:xfrm>
            <a:off x="6355080" y="3877056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Автономный запас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еда, топливо, тепло, аптечка на 72 часа</a:t>
            </a:r>
          </a:p>
        </p:txBody>
      </p:sp>
      <p:sp>
        <p:nvSpPr>
          <p:cNvPr id="26" name="Меры 4"/>
          <p:cNvSpPr/>
          <p:nvPr/>
        </p:nvSpPr>
        <p:spPr>
          <a:xfrm>
            <a:off x="6217920" y="4626864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Меры 4 текст"/>
          <p:cNvSpPr txBox="1"/>
          <p:nvPr/>
        </p:nvSpPr>
        <p:spPr>
          <a:xfrm>
            <a:off x="6355080" y="4626864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Режим и роли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распорядок дня, обязанности, общение</a:t>
            </a:r>
          </a:p>
        </p:txBody>
      </p:sp>
      <p:sp>
        <p:nvSpPr>
          <p:cNvPr id="28" name="Правило"/>
          <p:cNvSpPr/>
          <p:nvPr/>
        </p:nvSpPr>
        <p:spPr>
          <a:xfrm>
            <a:off x="594360" y="5486400"/>
            <a:ext cx="11018520" cy="7772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500" b="1">
                <a:solidFill>
                  <a:srgbClr val="FFED00"/>
                </a:solidFill>
                <a:latin typeface="Calibri"/>
              </a:rPr>
              <a:t>Золотое правило: </a:t>
            </a:r>
            <a:r>
              <a:rPr sz="1500" b="0">
                <a:solidFill>
                  <a:srgbClr val="FFFFFF"/>
                </a:solidFill>
                <a:latin typeface="Calibri"/>
              </a:rPr>
              <a:t>никто не выходит в одиночку, без связи и без сообщённого маршрута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Многослойная система одежды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Слой 1"/>
          <p:cNvSpPr/>
          <p:nvPr/>
        </p:nvSpPr>
        <p:spPr>
          <a:xfrm>
            <a:off x="5943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8096" y="1956815"/>
            <a:ext cx="475488" cy="475488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800" b="1">
                <a:solidFill>
                  <a:srgbClr val="2B2B2B"/>
                </a:solidFill>
                <a:latin typeface="Calibri"/>
              </a:rPr>
              <a:t>1</a:t>
            </a:r>
          </a:p>
        </p:txBody>
      </p:sp>
      <p:sp>
        <p:nvSpPr>
          <p:cNvPr id="12" name="Слой 1 заголовок"/>
          <p:cNvSpPr txBox="1"/>
          <p:nvPr/>
        </p:nvSpPr>
        <p:spPr>
          <a:xfrm>
            <a:off x="1371600" y="1920240"/>
            <a:ext cx="2560320" cy="5486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700" b="1">
                <a:solidFill>
                  <a:srgbClr val="2B2B2B"/>
                </a:solidFill>
                <a:latin typeface="Calibri"/>
              </a:rPr>
              <a:t>Базовый слой</a:t>
            </a:r>
          </a:p>
        </p:txBody>
      </p:sp>
      <p:sp>
        <p:nvSpPr>
          <p:cNvPr id="13" name="Слой 1 текст"/>
          <p:cNvSpPr txBox="1"/>
          <p:nvPr/>
        </p:nvSpPr>
        <p:spPr>
          <a:xfrm>
            <a:off x="777240" y="2743200"/>
            <a:ext cx="3108960" cy="274320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Задача: </a:t>
            </a:r>
            <a:r>
              <a:rPr sz="1600" b="0">
                <a:solidFill>
                  <a:srgbClr val="4B4B4B"/>
                </a:solidFill>
                <a:latin typeface="Calibri"/>
              </a:rPr>
              <a:t>отводить пот от кожи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Материалы: </a:t>
            </a:r>
            <a:r>
              <a:rPr sz="1600" b="0">
                <a:solidFill>
                  <a:srgbClr val="4B4B4B"/>
                </a:solidFill>
                <a:latin typeface="Calibri"/>
              </a:rPr>
              <a:t>синтетика или тонкая мериносовая шерсть, плотно по фигуре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Не допускать: </a:t>
            </a:r>
            <a:r>
              <a:rPr sz="1600" b="0">
                <a:solidFill>
                  <a:srgbClr val="4B4B4B"/>
                </a:solidFill>
                <a:latin typeface="Calibri"/>
              </a:rPr>
              <a:t>хлопка, он намокает и остывает</a:t>
            </a:r>
          </a:p>
        </p:txBody>
      </p:sp>
      <p:sp>
        <p:nvSpPr>
          <p:cNvPr id="14" name="Слой 2"/>
          <p:cNvSpPr/>
          <p:nvPr/>
        </p:nvSpPr>
        <p:spPr>
          <a:xfrm>
            <a:off x="43662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39996" y="1956815"/>
            <a:ext cx="475488" cy="475488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800" b="1">
                <a:solidFill>
                  <a:srgbClr val="2B2B2B"/>
                </a:solidFill>
                <a:latin typeface="Calibri"/>
              </a:rPr>
              <a:t>2</a:t>
            </a:r>
          </a:p>
        </p:txBody>
      </p:sp>
      <p:sp>
        <p:nvSpPr>
          <p:cNvPr id="16" name="Слой 2 заголовок"/>
          <p:cNvSpPr txBox="1"/>
          <p:nvPr/>
        </p:nvSpPr>
        <p:spPr>
          <a:xfrm>
            <a:off x="5143500" y="1920240"/>
            <a:ext cx="2560320" cy="5486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700" b="1">
                <a:solidFill>
                  <a:srgbClr val="2B2B2B"/>
                </a:solidFill>
                <a:latin typeface="Calibri"/>
              </a:rPr>
              <a:t>Утепляющий слой</a:t>
            </a:r>
          </a:p>
        </p:txBody>
      </p:sp>
      <p:sp>
        <p:nvSpPr>
          <p:cNvPr id="17" name="Слой 2 текст"/>
          <p:cNvSpPr txBox="1"/>
          <p:nvPr/>
        </p:nvSpPr>
        <p:spPr>
          <a:xfrm>
            <a:off x="4549140" y="2743200"/>
            <a:ext cx="3108960" cy="274320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Задача: </a:t>
            </a:r>
            <a:r>
              <a:rPr sz="1600" b="0">
                <a:solidFill>
                  <a:srgbClr val="4B4B4B"/>
                </a:solidFill>
                <a:latin typeface="Calibri"/>
              </a:rPr>
              <a:t>держать воздух и тепло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Материалы: </a:t>
            </a:r>
            <a:r>
              <a:rPr sz="1600" b="0">
                <a:solidFill>
                  <a:srgbClr val="4B4B4B"/>
                </a:solidFill>
                <a:latin typeface="Calibri"/>
              </a:rPr>
              <a:t>флис, шерсть, пух, синтетический утеплитель, слоёв может быть несколько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Не допускать: </a:t>
            </a:r>
            <a:r>
              <a:rPr sz="1600" b="0">
                <a:solidFill>
                  <a:srgbClr val="4B4B4B"/>
                </a:solidFill>
                <a:latin typeface="Calibri"/>
              </a:rPr>
              <a:t>пережима, тепло создаёт воздух</a:t>
            </a:r>
          </a:p>
        </p:txBody>
      </p:sp>
      <p:sp>
        <p:nvSpPr>
          <p:cNvPr id="18" name="Слой 3"/>
          <p:cNvSpPr/>
          <p:nvPr/>
        </p:nvSpPr>
        <p:spPr>
          <a:xfrm>
            <a:off x="81381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11896" y="1956815"/>
            <a:ext cx="475488" cy="475488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800" b="1">
                <a:solidFill>
                  <a:srgbClr val="2B2B2B"/>
                </a:solidFill>
                <a:latin typeface="Calibri"/>
              </a:rPr>
              <a:t>3</a:t>
            </a:r>
          </a:p>
        </p:txBody>
      </p:sp>
      <p:sp>
        <p:nvSpPr>
          <p:cNvPr id="20" name="Слой 3 заголовок"/>
          <p:cNvSpPr txBox="1"/>
          <p:nvPr/>
        </p:nvSpPr>
        <p:spPr>
          <a:xfrm>
            <a:off x="8915400" y="1920240"/>
            <a:ext cx="2560320" cy="5486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700" b="1">
                <a:solidFill>
                  <a:srgbClr val="2B2B2B"/>
                </a:solidFill>
                <a:latin typeface="Calibri"/>
              </a:rPr>
              <a:t>Защитный слой</a:t>
            </a:r>
          </a:p>
        </p:txBody>
      </p:sp>
      <p:sp>
        <p:nvSpPr>
          <p:cNvPr id="21" name="Слой 3 текст"/>
          <p:cNvSpPr txBox="1"/>
          <p:nvPr/>
        </p:nvSpPr>
        <p:spPr>
          <a:xfrm>
            <a:off x="8321040" y="2743200"/>
            <a:ext cx="3108960" cy="274320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Задача: </a:t>
            </a:r>
            <a:r>
              <a:rPr sz="1600" b="0">
                <a:solidFill>
                  <a:srgbClr val="4B4B4B"/>
                </a:solidFill>
                <a:latin typeface="Calibri"/>
              </a:rPr>
              <a:t>защита от ветра, снега и влаги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Материалы: </a:t>
            </a:r>
            <a:r>
              <a:rPr sz="1600" b="0">
                <a:solidFill>
                  <a:srgbClr val="4B4B4B"/>
                </a:solidFill>
                <a:latin typeface="Calibri"/>
              </a:rPr>
              <a:t>мембрана или плотная ткань, парка или комбинезон с капюшоном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Не допускать: </a:t>
            </a:r>
            <a:r>
              <a:rPr sz="1600" b="0">
                <a:solidFill>
                  <a:srgbClr val="4B4B4B"/>
                </a:solidFill>
                <a:latin typeface="Calibri"/>
              </a:rPr>
              <a:t>отсутствия вентиляции: нужны молнии под мышками</a:t>
            </a:r>
          </a:p>
        </p:txBody>
      </p:sp>
      <p:sp>
        <p:nvSpPr>
          <p:cNvPr id="22" name="Правило слоёв"/>
          <p:cNvSpPr/>
          <p:nvPr/>
        </p:nvSpPr>
        <p:spPr>
          <a:xfrm>
            <a:off x="594360" y="5715000"/>
            <a:ext cx="11018520" cy="64008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Лучше слегка замёрзнуть в начале пути, чем вспотеть: мокрая одежда в мороз опаснее лёгкого озноба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Специфика северной одежды и обуви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Таблица одежды"/>
          <p:cNvGraphicFramePr>
            <a:graphicFrameLocks noGrp="1"/>
          </p:cNvGraphicFramePr>
          <p:nvPr/>
        </p:nvGraphicFramePr>
        <p:xfrm>
          <a:off x="594360" y="1691640"/>
          <a:ext cx="110185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120640"/>
                <a:gridCol w="4069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Элемент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Выбирать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Избегать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Голова и лицо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Шапка с ветрозащитой или балаклава, капюшон с меховой оторочкой, тёмные очки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Открытые уши, шарф, влажный от дыхания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Руки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Рукавицы с тонкими перчатками-вкладышами, запасная пара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Металл голой рукой — кожа прилипает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Ноги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Обувь на 1–1,5 размера больше, тёплые стельки, 2 пары носков, не сдавливающих ногу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Тесная и влажная обувь, хлопковые носки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Корпус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Свободный крой, регулируемые манжеты, пояс и капюшон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Хлопок и джинсы, одежда, сковывающая движения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Правило пота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Раньше расстёгиваться, чем вспотеть: сухая одежда — это тепло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Работа в одежде, мокрой от пота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11" name="Совет"/>
          <p:cNvSpPr/>
          <p:nvPr/>
        </p:nvSpPr>
        <p:spPr>
          <a:xfrm>
            <a:off x="594360" y="5852160"/>
            <a:ext cx="11018520" cy="5029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300" b="1">
                <a:solidFill>
                  <a:srgbClr val="2B2B2B"/>
                </a:solidFill>
                <a:latin typeface="Calibri"/>
              </a:rPr>
              <a:t>Береги кожу и дыхание: закрывай лицо маской или балаклавой, но следи, чтобы они не покрывались льдом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График работ и отдыха при низких температурах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Диаграмма режимов"/>
          <p:cNvGraphicFramePr>
            <a:graphicFrameLocks noGrp="1"/>
          </p:cNvGraphicFramePr>
          <p:nvPr/>
        </p:nvGraphicFramePr>
        <p:xfrm>
          <a:off x="594360" y="1691640"/>
          <a:ext cx="621792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Правило 1"/>
          <p:cNvSpPr/>
          <p:nvPr/>
        </p:nvSpPr>
        <p:spPr>
          <a:xfrm>
            <a:off x="7086600" y="1691640"/>
            <a:ext cx="4526280" cy="9601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Правило 1 текст"/>
          <p:cNvSpPr txBox="1"/>
          <p:nvPr/>
        </p:nvSpPr>
        <p:spPr>
          <a:xfrm>
            <a:off x="7223760" y="1691640"/>
            <a:ext cx="4297680" cy="96012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Ниже −30 °C: </a:t>
            </a:r>
            <a:r>
              <a:rPr sz="1400" b="0">
                <a:solidFill>
                  <a:srgbClr val="4B4B4B"/>
                </a:solidFill>
                <a:latin typeface="Calibri"/>
              </a:rPr>
              <a:t>работать парами и вести взаимный контроль лица и рук</a:t>
            </a:r>
          </a:p>
        </p:txBody>
      </p:sp>
      <p:sp>
        <p:nvSpPr>
          <p:cNvPr id="13" name="Правило 2"/>
          <p:cNvSpPr/>
          <p:nvPr/>
        </p:nvSpPr>
        <p:spPr>
          <a:xfrm>
            <a:off x="7086600" y="2761488"/>
            <a:ext cx="4526280" cy="9601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Правило 2 текст"/>
          <p:cNvSpPr txBox="1"/>
          <p:nvPr/>
        </p:nvSpPr>
        <p:spPr>
          <a:xfrm>
            <a:off x="7223760" y="2761488"/>
            <a:ext cx="4297680" cy="96012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Ветер 10 м/с и больше: </a:t>
            </a:r>
            <a:r>
              <a:rPr sz="1400" b="0">
                <a:solidFill>
                  <a:srgbClr val="4B4B4B"/>
                </a:solidFill>
                <a:latin typeface="Calibri"/>
              </a:rPr>
              <a:t>считать температуру на ступень ниже</a:t>
            </a:r>
          </a:p>
        </p:txBody>
      </p:sp>
      <p:sp>
        <p:nvSpPr>
          <p:cNvPr id="15" name="Правило 3"/>
          <p:cNvSpPr/>
          <p:nvPr/>
        </p:nvSpPr>
        <p:spPr>
          <a:xfrm>
            <a:off x="7086600" y="3831335"/>
            <a:ext cx="4526280" cy="9601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Правило 3 текст"/>
          <p:cNvSpPr txBox="1"/>
          <p:nvPr/>
        </p:nvSpPr>
        <p:spPr>
          <a:xfrm>
            <a:off x="7223760" y="3831335"/>
            <a:ext cx="4297680" cy="96012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Тёплое помещение: </a:t>
            </a:r>
            <a:r>
              <a:rPr sz="1400" b="0">
                <a:solidFill>
                  <a:srgbClr val="4B4B4B"/>
                </a:solidFill>
                <a:latin typeface="Calibri"/>
              </a:rPr>
              <a:t>+21…+25 °C, горячее питьё, сушка одежды</a:t>
            </a:r>
          </a:p>
        </p:txBody>
      </p:sp>
      <p:sp>
        <p:nvSpPr>
          <p:cNvPr id="17" name="Правило 4"/>
          <p:cNvSpPr/>
          <p:nvPr/>
        </p:nvSpPr>
        <p:spPr>
          <a:xfrm>
            <a:off x="7086600" y="4901183"/>
            <a:ext cx="4526280" cy="9601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Правило 4 текст"/>
          <p:cNvSpPr txBox="1"/>
          <p:nvPr/>
        </p:nvSpPr>
        <p:spPr>
          <a:xfrm>
            <a:off x="7223760" y="4901183"/>
            <a:ext cx="4297680" cy="96012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Ниже −50 °C: </a:t>
            </a:r>
            <a:r>
              <a:rPr sz="1400" b="0">
                <a:solidFill>
                  <a:srgbClr val="4B4B4B"/>
                </a:solidFill>
                <a:latin typeface="Calibri"/>
              </a:rPr>
              <a:t>открытые работы прекращаются, кроме аварийных</a:t>
            </a:r>
          </a:p>
        </p:txBody>
      </p:sp>
      <p:sp>
        <p:nvSpPr>
          <p:cNvPr id="19" name="Примечание"/>
          <p:cNvSpPr txBox="1"/>
          <p:nvPr/>
        </p:nvSpPr>
        <p:spPr>
          <a:xfrm>
            <a:off x="594360" y="5943600"/>
            <a:ext cx="6217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  <a:latin typeface="Calibri"/>
              </a:rPr>
              <a:t>Ориентир; действующие нормы — МР 2.2.7.2129-06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ПЛАКАТ: Безопасность на Крайнем Севере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Панель 1"/>
          <p:cNvSpPr/>
          <p:nvPr/>
        </p:nvSpPr>
        <p:spPr>
          <a:xfrm>
            <a:off x="5943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Шапка панели 1"/>
          <p:cNvSpPr/>
          <p:nvPr/>
        </p:nvSpPr>
        <p:spPr>
          <a:xfrm>
            <a:off x="594360" y="1691640"/>
            <a:ext cx="347472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400" b="1">
                <a:solidFill>
                  <a:srgbClr val="FFED00"/>
                </a:solidFill>
                <a:latin typeface="Calibri"/>
              </a:rPr>
              <a:t>1 · КАРТА ЗОН</a:t>
            </a:r>
          </a:p>
        </p:txBody>
      </p:sp>
      <p:sp>
        <p:nvSpPr>
          <p:cNvPr id="12" name="Панель 2"/>
          <p:cNvSpPr/>
          <p:nvPr/>
        </p:nvSpPr>
        <p:spPr>
          <a:xfrm>
            <a:off x="43662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Шапка панели 2"/>
          <p:cNvSpPr/>
          <p:nvPr/>
        </p:nvSpPr>
        <p:spPr>
          <a:xfrm>
            <a:off x="4366260" y="1691640"/>
            <a:ext cx="347472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400" b="1">
                <a:solidFill>
                  <a:srgbClr val="FFED00"/>
                </a:solidFill>
                <a:latin typeface="Calibri"/>
              </a:rPr>
              <a:t>2 · СЛОИ ОДЕЖДЫ</a:t>
            </a:r>
          </a:p>
        </p:txBody>
      </p:sp>
      <p:sp>
        <p:nvSpPr>
          <p:cNvPr id="14" name="Панель 3"/>
          <p:cNvSpPr/>
          <p:nvPr/>
        </p:nvSpPr>
        <p:spPr>
          <a:xfrm>
            <a:off x="81381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Шапка панели 3"/>
          <p:cNvSpPr/>
          <p:nvPr/>
        </p:nvSpPr>
        <p:spPr>
          <a:xfrm>
            <a:off x="8138160" y="1691640"/>
            <a:ext cx="347472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400" b="1">
                <a:solidFill>
                  <a:srgbClr val="FFED00"/>
                </a:solidFill>
                <a:latin typeface="Calibri"/>
              </a:rPr>
              <a:t>3 · РАБОТА / ОТДЫХ</a:t>
            </a:r>
          </a:p>
        </p:txBody>
      </p:sp>
      <p:sp>
        <p:nvSpPr>
          <p:cNvPr id="16" name="Зоны на плакате"/>
          <p:cNvSpPr txBox="1"/>
          <p:nvPr/>
        </p:nvSpPr>
        <p:spPr>
          <a:xfrm>
            <a:off x="731520" y="2286000"/>
            <a:ext cx="3200400" cy="31089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Арктика: </a:t>
            </a:r>
            <a:r>
              <a:rPr sz="1400" b="0">
                <a:solidFill>
                  <a:srgbClr val="4B4B4B"/>
                </a:solidFill>
                <a:latin typeface="Calibri"/>
              </a:rPr>
              <a:t>−40…−55 °C, ночь 80–120 сут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За Полярным кругом: </a:t>
            </a:r>
            <a:r>
              <a:rPr sz="1400" b="0">
                <a:solidFill>
                  <a:srgbClr val="4B4B4B"/>
                </a:solidFill>
                <a:latin typeface="Calibri"/>
              </a:rPr>
              <a:t>−30…−45 °C, ночь до 45 сут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Крайний Север: </a:t>
            </a:r>
            <a:r>
              <a:rPr sz="1400" b="0">
                <a:solidFill>
                  <a:srgbClr val="4B4B4B"/>
                </a:solidFill>
                <a:latin typeface="Calibri"/>
              </a:rPr>
              <a:t>до −50…−67 °C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Приравненные: </a:t>
            </a:r>
            <a:r>
              <a:rPr sz="1400" b="0">
                <a:solidFill>
                  <a:srgbClr val="4B4B4B"/>
                </a:solidFill>
                <a:latin typeface="Calibri"/>
              </a:rPr>
              <a:t>−25…−40 °C, долгая зима</a:t>
            </a:r>
          </a:p>
        </p:txBody>
      </p:sp>
      <p:sp>
        <p:nvSpPr>
          <p:cNvPr id="17" name="Слои на плакате"/>
          <p:cNvSpPr txBox="1"/>
          <p:nvPr/>
        </p:nvSpPr>
        <p:spPr>
          <a:xfrm>
            <a:off x="4503420" y="2286000"/>
            <a:ext cx="3200400" cy="31089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1 · база: </a:t>
            </a:r>
            <a:r>
              <a:rPr sz="1400" b="0">
                <a:solidFill>
                  <a:srgbClr val="4B4B4B"/>
                </a:solidFill>
                <a:latin typeface="Calibri"/>
              </a:rPr>
              <a:t>синтетика или шерсть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2 · тепло: </a:t>
            </a:r>
            <a:r>
              <a:rPr sz="1400" b="0">
                <a:solidFill>
                  <a:srgbClr val="4B4B4B"/>
                </a:solidFill>
                <a:latin typeface="Calibri"/>
              </a:rPr>
              <a:t>флис, пух, шерсть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3 · защита: </a:t>
            </a:r>
            <a:r>
              <a:rPr sz="1400" b="0">
                <a:solidFill>
                  <a:srgbClr val="4B4B4B"/>
                </a:solidFill>
                <a:latin typeface="Calibri"/>
              </a:rPr>
              <a:t>ветро- и влагозащита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Руки и ноги: </a:t>
            </a:r>
            <a:r>
              <a:rPr sz="1400" b="0">
                <a:solidFill>
                  <a:srgbClr val="4B4B4B"/>
                </a:solidFill>
                <a:latin typeface="Calibri"/>
              </a:rPr>
              <a:t>рукавицы, обувь на размер больше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Правило: </a:t>
            </a:r>
            <a:r>
              <a:rPr sz="1400" b="0">
                <a:solidFill>
                  <a:srgbClr val="4B4B4B"/>
                </a:solidFill>
                <a:latin typeface="Calibri"/>
              </a:rPr>
              <a:t>сухо, без хлопка, не потеть</a:t>
            </a:r>
          </a:p>
        </p:txBody>
      </p:sp>
      <p:graphicFrame>
        <p:nvGraphicFramePr>
          <p:cNvPr id="18" name="Мини таблица режимов"/>
          <p:cNvGraphicFramePr>
            <a:graphicFrameLocks noGrp="1"/>
          </p:cNvGraphicFramePr>
          <p:nvPr/>
        </p:nvGraphicFramePr>
        <p:xfrm>
          <a:off x="8275320" y="2286000"/>
          <a:ext cx="3200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96012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ED00"/>
                          </a:solidFill>
                          <a:latin typeface="Calibri"/>
                        </a:rPr>
                        <a:t>Воздух, °C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ED00"/>
                          </a:solidFill>
                          <a:latin typeface="Calibri"/>
                        </a:rPr>
                        <a:t>Работа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ED00"/>
                          </a:solidFill>
                          <a:latin typeface="Calibri"/>
                        </a:rPr>
                        <a:t>Обогрев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0…−10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−10…−20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−20…−30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−30…−40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−40…−50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19" name="Мини примечание"/>
          <p:cNvSpPr txBox="1"/>
          <p:nvPr/>
        </p:nvSpPr>
        <p:spPr>
          <a:xfrm>
            <a:off x="8275320" y="5120640"/>
            <a:ext cx="320040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100" b="0">
                <a:solidFill>
                  <a:srgbClr val="4B4B4B"/>
                </a:solidFill>
                <a:latin typeface="Calibri"/>
              </a:rPr>
              <a:t>Минуты. Ниже −50 °C — только аварийные работы</a:t>
            </a:r>
          </a:p>
        </p:txBody>
      </p:sp>
      <p:sp>
        <p:nvSpPr>
          <p:cNvPr id="20" name="Девиз плаката"/>
          <p:cNvSpPr/>
          <p:nvPr/>
        </p:nvSpPr>
        <p:spPr>
          <a:xfrm>
            <a:off x="594360" y="5715000"/>
            <a:ext cx="11018520" cy="6400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2000" b="1">
                <a:solidFill>
                  <a:srgbClr val="FFED00"/>
                </a:solidFill>
                <a:latin typeface="Calibri"/>
              </a:rPr>
              <a:t>СУХО  ·  СЛОЯМИ  ·  ПАРАМИ  ·  ПО ГРАФИКУ  ·  НА СВЯЗИ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B4B4B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85233" y="919839"/>
            <a:ext cx="1057488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chemeClr val="bg1"/>
                </a:solidFill>
                <a:cs typeface="Arial" panose="020B0604020202020204" pitchFamily="34" charset="0"/>
              </a:rPr>
              <a:t>ПЕРВАЯ ПОМОЩЬ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483138" y="105291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29" name="Переохлаждение"/>
          <p:cNvSpPr/>
          <p:nvPr/>
        </p:nvSpPr>
        <p:spPr>
          <a:xfrm>
            <a:off x="594360" y="1783080"/>
            <a:ext cx="5394960" cy="324612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1892807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  <a:latin typeface="Calibri"/>
              </a:rPr>
              <a:t>Переохлаждение</a:t>
            </a:r>
          </a:p>
        </p:txBody>
      </p:sp>
      <p:sp>
        <p:nvSpPr>
          <p:cNvPr id="31" name="Переохлаждение список"/>
          <p:cNvSpPr txBox="1"/>
          <p:nvPr/>
        </p:nvSpPr>
        <p:spPr>
          <a:xfrm>
            <a:off x="731520" y="2350008"/>
            <a:ext cx="5120640" cy="2606039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700" b="0">
                <a:solidFill>
                  <a:srgbClr val="FFFFFF"/>
                </a:solidFill>
                <a:latin typeface="Calibri"/>
              </a:rPr>
              <a:t>В тепло, снять мокрую одежду, укутать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700" b="0">
                <a:solidFill>
                  <a:srgbClr val="FFFFFF"/>
                </a:solidFill>
                <a:latin typeface="Calibri"/>
              </a:rPr>
              <a:t>Тёплое сладкое питьё, если человек в сознании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700" b="0">
                <a:solidFill>
                  <a:srgbClr val="FFFFFF"/>
                </a:solidFill>
                <a:latin typeface="Calibri"/>
              </a:rPr>
              <a:t>Не давать алкоголь, не растирать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700" b="0">
                <a:solidFill>
                  <a:srgbClr val="FFFFFF"/>
                </a:solidFill>
                <a:latin typeface="Calibri"/>
              </a:rPr>
              <a:t>Если сознание нарушено — срочно вызвать помощь</a:t>
            </a:r>
          </a:p>
        </p:txBody>
      </p:sp>
      <p:sp>
        <p:nvSpPr>
          <p:cNvPr id="32" name="Отморожение"/>
          <p:cNvSpPr/>
          <p:nvPr/>
        </p:nvSpPr>
        <p:spPr>
          <a:xfrm>
            <a:off x="6217920" y="1783080"/>
            <a:ext cx="5394960" cy="324612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1892807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  <a:latin typeface="Calibri"/>
              </a:rPr>
              <a:t>Отморожение</a:t>
            </a:r>
          </a:p>
        </p:txBody>
      </p:sp>
      <p:sp>
        <p:nvSpPr>
          <p:cNvPr id="34" name="Отморожение список"/>
          <p:cNvSpPr txBox="1"/>
          <p:nvPr/>
        </p:nvSpPr>
        <p:spPr>
          <a:xfrm>
            <a:off x="6355080" y="2350008"/>
            <a:ext cx="5120640" cy="2606039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700" b="0">
                <a:solidFill>
                  <a:srgbClr val="FFFFFF"/>
                </a:solidFill>
                <a:latin typeface="Calibri"/>
              </a:rPr>
              <a:t>Уйти в тепло, снять кольца и тесную обувь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700" b="0">
                <a:solidFill>
                  <a:srgbClr val="FFFFFF"/>
                </a:solidFill>
                <a:latin typeface="Calibri"/>
              </a:rPr>
              <a:t>Не растирать снегом, не греть у огня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700" b="0">
                <a:solidFill>
                  <a:srgbClr val="FFFFFF"/>
                </a:solidFill>
                <a:latin typeface="Calibri"/>
              </a:rPr>
              <a:t>Согреть тёплой, не горячей водой, сухая повязка</a:t>
            </a:r>
          </a:p>
          <a:p>
            <a:pPr algn="l">
              <a:spcAft>
                <a:spcPts val="18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700" b="0">
                <a:solidFill>
                  <a:srgbClr val="FFFFFF"/>
                </a:solidFill>
                <a:latin typeface="Calibri"/>
              </a:rPr>
              <a:t>Показать врачу, даже если боль прошла</a:t>
            </a:r>
          </a:p>
        </p:txBody>
      </p:sp>
      <p:sp>
        <p:nvSpPr>
          <p:cNvPr id="35" name="Вызов помощи"/>
          <p:cNvSpPr/>
          <p:nvPr/>
        </p:nvSpPr>
        <p:spPr>
          <a:xfrm>
            <a:off x="594360" y="525780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Вызов помощи: 112. </a:t>
            </a:r>
            <a:r>
              <a:rPr sz="1600" b="0">
                <a:solidFill>
                  <a:srgbClr val="2B2B2B"/>
                </a:solidFill>
                <a:latin typeface="Calibri"/>
              </a:rPr>
              <a:t>Не оставляйте пострадавшего одного и сообщите точное место и время холодового воздействия</a:t>
            </a:r>
          </a:p>
        </p:txBody>
      </p:sp>
    </p:spTree>
    <p:extLst>
      <p:ext uri="{BB962C8B-B14F-4D97-AF65-F5344CB8AC3E}">
        <p14:creationId xmlns:p14="http://schemas.microsoft.com/office/powerpoint/2010/main" val="1123883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797165" y="2978931"/>
            <a:ext cx="4907902" cy="990698"/>
          </a:xfrm>
        </p:spPr>
        <p:txBody>
          <a:bodyPr>
            <a:normAutofit/>
          </a:bodyPr>
          <a:lstStyle/>
          <a:p>
            <a:pPr algn="l"/>
            <a:r>
              <a:rPr lang="ru-RU" sz="4000" dirty="0">
                <a:latin typeface="Druk Wide Cyr" pitchFamily="50" charset="-52"/>
              </a:rPr>
              <a:t>Выводы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865589" y="5437059"/>
            <a:ext cx="4447592" cy="652722"/>
          </a:xfrm>
        </p:spPr>
        <p:txBody>
          <a:bodyPr>
            <a:normAutofit/>
          </a:bodyPr>
          <a:lstStyle/>
          <a:p>
            <a:pPr algn="l"/>
            <a:r>
              <a:rPr lang="ru-RU" dirty="0">
                <a:latin typeface="Mabry Pro" panose="020D0503040002040303" pitchFamily="34" charset="0"/>
              </a:rPr>
              <a:t>Север не прощает ошибок: готовьтесь заранее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48" y="461707"/>
            <a:ext cx="5185009" cy="1989134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318504" y="106070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1</a:t>
            </a:r>
          </a:p>
        </p:txBody>
      </p:sp>
      <p:sp>
        <p:nvSpPr>
          <p:cNvPr id="6" name="Вывод 1"/>
          <p:cNvSpPr txBox="1"/>
          <p:nvPr/>
        </p:nvSpPr>
        <p:spPr>
          <a:xfrm>
            <a:off x="6903720" y="91440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Знайте зону: от неё зависят холод, ночь и нормы</a:t>
            </a:r>
          </a:p>
        </p:txBody>
      </p:sp>
      <p:sp>
        <p:nvSpPr>
          <p:cNvPr id="7" name="Oval 6"/>
          <p:cNvSpPr/>
          <p:nvPr/>
        </p:nvSpPr>
        <p:spPr>
          <a:xfrm>
            <a:off x="6318504" y="2066543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2</a:t>
            </a:r>
          </a:p>
        </p:txBody>
      </p:sp>
      <p:sp>
        <p:nvSpPr>
          <p:cNvPr id="8" name="Вывод 2"/>
          <p:cNvSpPr txBox="1"/>
          <p:nvPr/>
        </p:nvSpPr>
        <p:spPr>
          <a:xfrm>
            <a:off x="6903720" y="192024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Холод плюс ветер опаснее, чем показывает термометр</a:t>
            </a:r>
          </a:p>
        </p:txBody>
      </p:sp>
      <p:sp>
        <p:nvSpPr>
          <p:cNvPr id="9" name="Oval 8"/>
          <p:cNvSpPr/>
          <p:nvPr/>
        </p:nvSpPr>
        <p:spPr>
          <a:xfrm>
            <a:off x="6318504" y="307238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3</a:t>
            </a:r>
          </a:p>
        </p:txBody>
      </p:sp>
      <p:sp>
        <p:nvSpPr>
          <p:cNvPr id="10" name="Вывод 3"/>
          <p:cNvSpPr txBox="1"/>
          <p:nvPr/>
        </p:nvSpPr>
        <p:spPr>
          <a:xfrm>
            <a:off x="6903720" y="292608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Одевайтесь слоями и держите тело сухим</a:t>
            </a:r>
          </a:p>
        </p:txBody>
      </p:sp>
      <p:sp>
        <p:nvSpPr>
          <p:cNvPr id="11" name="Oval 10"/>
          <p:cNvSpPr/>
          <p:nvPr/>
        </p:nvSpPr>
        <p:spPr>
          <a:xfrm>
            <a:off x="6318504" y="407822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4</a:t>
            </a:r>
          </a:p>
        </p:txBody>
      </p:sp>
      <p:sp>
        <p:nvSpPr>
          <p:cNvPr id="12" name="Вывод 4"/>
          <p:cNvSpPr txBox="1"/>
          <p:nvPr/>
        </p:nvSpPr>
        <p:spPr>
          <a:xfrm>
            <a:off x="6903720" y="393192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Работайте по графику с обогревом и в паре</a:t>
            </a:r>
          </a:p>
        </p:txBody>
      </p:sp>
      <p:sp>
        <p:nvSpPr>
          <p:cNvPr id="13" name="Oval 12"/>
          <p:cNvSpPr/>
          <p:nvPr/>
        </p:nvSpPr>
        <p:spPr>
          <a:xfrm>
            <a:off x="6318504" y="508406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5</a:t>
            </a:r>
          </a:p>
        </p:txBody>
      </p:sp>
      <p:sp>
        <p:nvSpPr>
          <p:cNvPr id="14" name="Вывод 5"/>
          <p:cNvSpPr txBox="1"/>
          <p:nvPr/>
        </p:nvSpPr>
        <p:spPr>
          <a:xfrm>
            <a:off x="6903720" y="493776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В полярную ночь и в изоляции: свет, режим, связь, запас</a:t>
            </a:r>
          </a:p>
        </p:txBody>
      </p:sp>
    </p:spTree>
    <p:extLst>
      <p:ext uri="{BB962C8B-B14F-4D97-AF65-F5344CB8AC3E}">
        <p14:creationId xmlns:p14="http://schemas.microsoft.com/office/powerpoint/2010/main" val="36863586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Источники и нормативная база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БЕЗОПАСНОСТЬ НА СЕВЕРЕ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03504" y="1856232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1</a:t>
            </a:r>
          </a:p>
        </p:txBody>
      </p:sp>
      <p:sp>
        <p:nvSpPr>
          <p:cNvPr id="11" name="Источник 1"/>
          <p:cNvSpPr txBox="1"/>
          <p:nvPr/>
        </p:nvSpPr>
        <p:spPr>
          <a:xfrm>
            <a:off x="1234440" y="173736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Трудовой кодекс РФ: гарантии для работающих в районах Крайнего Севера (гл. 50), ст. 109 (перерывы для обогревания и отдыха)</a:t>
            </a:r>
          </a:p>
        </p:txBody>
      </p:sp>
      <p:sp>
        <p:nvSpPr>
          <p:cNvPr id="12" name="Oval 11"/>
          <p:cNvSpPr/>
          <p:nvPr/>
        </p:nvSpPr>
        <p:spPr>
          <a:xfrm>
            <a:off x="603504" y="272491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2</a:t>
            </a:r>
          </a:p>
        </p:txBody>
      </p:sp>
      <p:sp>
        <p:nvSpPr>
          <p:cNvPr id="13" name="Источник 2"/>
          <p:cNvSpPr txBox="1"/>
          <p:nvPr/>
        </p:nvSpPr>
        <p:spPr>
          <a:xfrm>
            <a:off x="1234440" y="2606039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МР 2.2.7.2129-06 «Режимы труда и отдыха работающих в холодное время года на открытой территории или в неотапливаемых помещениях»</a:t>
            </a:r>
          </a:p>
        </p:txBody>
      </p:sp>
      <p:sp>
        <p:nvSpPr>
          <p:cNvPr id="14" name="Oval 13"/>
          <p:cNvSpPr/>
          <p:nvPr/>
        </p:nvSpPr>
        <p:spPr>
          <a:xfrm>
            <a:off x="603504" y="359359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3</a:t>
            </a:r>
          </a:p>
        </p:txBody>
      </p:sp>
      <p:sp>
        <p:nvSpPr>
          <p:cNvPr id="15" name="Источник 3"/>
          <p:cNvSpPr txBox="1"/>
          <p:nvPr/>
        </p:nvSpPr>
        <p:spPr>
          <a:xfrm>
            <a:off x="1234440" y="347472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Перечень районов Крайнего Севера и приравненных к ним местностей (постановление Совмина СССР № 1029 от 10.11.1967 с изменениями)</a:t>
            </a:r>
          </a:p>
        </p:txBody>
      </p:sp>
      <p:sp>
        <p:nvSpPr>
          <p:cNvPr id="16" name="Oval 15"/>
          <p:cNvSpPr/>
          <p:nvPr/>
        </p:nvSpPr>
        <p:spPr>
          <a:xfrm>
            <a:off x="603504" y="4462272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4</a:t>
            </a:r>
          </a:p>
        </p:txBody>
      </p:sp>
      <p:sp>
        <p:nvSpPr>
          <p:cNvPr id="17" name="Источник 4"/>
          <p:cNvSpPr txBox="1"/>
          <p:nvPr/>
        </p:nvSpPr>
        <p:spPr>
          <a:xfrm>
            <a:off x="1234440" y="434340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Индекс ветро-холодового охлаждения JAG/TI (Environment Canada, NWS, 2001)</a:t>
            </a:r>
          </a:p>
        </p:txBody>
      </p:sp>
      <p:sp>
        <p:nvSpPr>
          <p:cNvPr id="18" name="Oval 17"/>
          <p:cNvSpPr/>
          <p:nvPr/>
        </p:nvSpPr>
        <p:spPr>
          <a:xfrm>
            <a:off x="603504" y="533095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5</a:t>
            </a:r>
          </a:p>
        </p:txBody>
      </p:sp>
      <p:sp>
        <p:nvSpPr>
          <p:cNvPr id="19" name="Источник 5"/>
          <p:cNvSpPr txBox="1"/>
          <p:nvPr/>
        </p:nvSpPr>
        <p:spPr>
          <a:xfrm>
            <a:off x="1234440" y="5212079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Данные Росгидромета о климате Оймякона, Норильска, Мурманска</a:t>
            </a:r>
          </a:p>
        </p:txBody>
      </p:sp>
      <p:sp>
        <p:nvSpPr>
          <p:cNvPr id="20" name="Оговорка"/>
          <p:cNvSpPr txBox="1"/>
          <p:nvPr/>
        </p:nvSpPr>
        <p:spPr>
          <a:xfrm>
            <a:off x="594360" y="608076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  <a:latin typeface="Calibri"/>
              </a:rPr>
              <a:t>Числовые режимы на плакате — ориентир; перед применением сверяйте с действующими нормами и локальными актами.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331E3F"/>
      </a:dk1>
      <a:lt1>
        <a:srgbClr val="FFFAF3"/>
      </a:lt1>
      <a:dk2>
        <a:srgbClr val="C5144C"/>
      </a:dk2>
      <a:lt2>
        <a:srgbClr val="FF7140"/>
      </a:lt2>
      <a:accent1>
        <a:srgbClr val="FFB0BF"/>
      </a:accent1>
      <a:accent2>
        <a:srgbClr val="FF8E9E"/>
      </a:accent2>
      <a:accent3>
        <a:srgbClr val="FFA39A"/>
      </a:accent3>
      <a:accent4>
        <a:srgbClr val="FFD6C8"/>
      </a:accent4>
      <a:accent5>
        <a:srgbClr val="6E0A2A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337</Words>
  <Application>Microsoft Office PowerPoint</Application>
  <PresentationFormat>Широкоэкранный</PresentationFormat>
  <Paragraphs>85</Paragraphs>
  <Slides>21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21</vt:i4>
      </vt:variant>
    </vt:vector>
  </HeadingPairs>
  <TitlesOfParts>
    <vt:vector size="33" baseType="lpstr">
      <vt:lpstr>Amatic SC</vt:lpstr>
      <vt:lpstr>Arial</vt:lpstr>
      <vt:lpstr>Calibri</vt:lpstr>
      <vt:lpstr>Calibri Light</vt:lpstr>
      <vt:lpstr>Druk Wide Cyr</vt:lpstr>
      <vt:lpstr>Mabry Pro</vt:lpstr>
      <vt:lpstr>Proxima Nova</vt:lpstr>
      <vt:lpstr>Roboto Medium</vt:lpstr>
      <vt:lpstr>Times New Roman</vt:lpstr>
      <vt:lpstr>Wingdings</vt:lpstr>
      <vt:lpstr>Тема Office</vt:lpstr>
      <vt:lpstr>Slidesgo Final Pages</vt:lpstr>
      <vt:lpstr>Презентация PowerPoint</vt:lpstr>
      <vt:lpstr>Название слайда</vt:lpstr>
      <vt:lpstr>Презентация PowerPoint</vt:lpstr>
      <vt:lpstr>Презентация PowerPoint</vt:lpstr>
      <vt:lpstr>Слайд</vt:lpstr>
      <vt:lpstr>Заголовок</vt:lpstr>
      <vt:lpstr>Слайд</vt:lpstr>
      <vt:lpstr>Слайд</vt:lpstr>
      <vt:lpstr>Use our editable graphic resources...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...and our sets of editable icons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</dc:title>
  <dc:creator>Щекатурова Екатерина Юрьевна</dc:creator>
  <cp:lastModifiedBy>Алексей</cp:lastModifiedBy>
  <cp:revision>7</cp:revision>
  <dcterms:created xsi:type="dcterms:W3CDTF">2024-06-07T11:08:18Z</dcterms:created>
  <dcterms:modified xsi:type="dcterms:W3CDTF">2025-08-29T11:14:13Z</dcterms:modified>
</cp:coreProperties>
</file>