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3.xml"/><Relationship Id="rId39" Type="http://schemas.openxmlformats.org/officeDocument/2006/relationships/slide" Target="slides/slide5.xml"/><Relationship Id="rId40" Type="http://schemas.openxmlformats.org/officeDocument/2006/relationships/slide" Target="slides/slide11.xml"/><Relationship Id="rId41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Ориентир по температуре воздуха, °C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Работа на холоде, мин</c:v>
                </c:pt>
              </c:strCache>
            </c:strRef>
          </c:tx>
          <c:spPr>
            <a:solidFill>
              <a:srgbClr val="2B2B2B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Обогрев в тепле, мин</c:v>
                </c:pt>
              </c:strCache>
            </c:strRef>
          </c:tx>
          <c:spPr>
            <a:solidFill>
              <a:srgbClr val="FFED00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Меня зовут Егор Некрасов, группа 202. Тема моего доклада — безопасность в условиях Крайнего Севера. Я расскажу о четырёх главных факторах риска: холоде, полярной ночи, изоляции и специфике одежды, а также покажу плакат: карту зон, многослойную систему одежды и график работ и отдыха при низких температурах.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Север — это не просто «очень холодно». Это сочетание факторов, которые усиливают друг друга. В Оймяконе зафиксирован минимум −67,7 °C. В Норильске полярная ночь длится около 45 суток. Ветер в 10 метров в секунду превращает −20 °C в ощущаемые примерно −34 °C. А помощь может быть в часах или сутках пути, поэтому при выезде нужен аварийный запас минимум на трое суток. Дальше по плану: карта зон, холод, полярная ночь, изоляция, одежда и график работ.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четыре зоны с севера на юг. Арктика: острова и побережье севернее 70-й параллели, зимой −40…−55 °C, полярная ночь 80–120 и более суток. За Полярным кругом, начиная с 66,5° северной широты: Мурманск, Воркута, Норильск, там ночь до 45 суток и полярный день летом. Районы Крайнего Севера, например Якутия и Чукотка, самые холодные: до −50…−67 °C. Приравненные местности расположены южнее, но зима там тоже долгая. Реальный перечень районов Крайнего Севера задан постановлением Совмина СССР № 1029 и более поздними изменениями, и по нему положены гарантии по Трудовому кодексу. Границы климата зависят ещё от рельефа и удалённости от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Холод опасен несколькими способами. Первое — переохлаждение: температура тела падает ниже 35 °C, появляются дрожь, апатия и спутанность сознания, потом человек теряет сознание. Второе — отморожения: чаще всего страдают нос, щёки, уши и пальцы, кожа белеет и перестаёт чувствовать. Третье — ветер и метель: ветер резко увеличивает потерю тепла, а в пургу пропадает видимость. Четвёртое — техника и материалы: металл прилипает к коже, сталь и пластик становятся хрупкими, батареи быстро садятся. В таблице справа видно, как ветер меняет ощущения: при −20 °C и ветре 10 м/с ощущается около −34 °C. Когда ощущаемая температура ниже −40 °C, открытая кожа может обморозиться за 10–30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Полярная ночь — это период, когда солнце не поднимается над горизонтом. В таблице видно: в Мурманске она длится около 40 суток, в Норильске около 45, в Диксоне около 80, а на арктических островах может превышать 100. Опасность в том, что сбивается суточный ритм: человек сонлив, внимание падает. В темноте растёт число травм, падений и аварий, легко потерять ориентацию, особенно в пургу. Возможна сезонная депрессия и раздражительность. Что делать: иметь налобный фонарь и держать запасные батареи в тепле, использовать светоотражающие элементы и вешки на маршруте, соблюдать режим сна, обеспечить яркий свет в помещении. Витамин D и светотерапию применяют только по рекомендации врача.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Изоляция — это удалённость от помощи и от привычной жизни. Риски: рядом нет врача и спасателей, помощь идёт часами и сутками; нет сотовой связи, нужны рация и спутниковый телефон; в небольшой группе из-за тесноты, усталости и однообразия возникают конфликты; нарушается сон. Меры: правило «не один» — выезды и работа минимум вдвоём; план маршрута сдаётся диспетчеру, и связь идёт по графику; автономный запас еды, топлива и тепла и аптечка минимум на 72 часа; режим дня, распределение обязанностей и общение внутри группы. Главное правило: никто не выходит в одиночку, без связи и без сообщённого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 защиты от холода — три слоя. Каждый слой я разобрал в отдельной колонке: задача, материалы и чего не допускать. Первый, базовый, отводит пот от кожи: синтетика или тонкая мериносовая шерсть плотно к телу. Хлопок не подходит: мокрый, он остывает. Второй слой утепляет, задерживая воздух: флис, шерсть, пух, синтетический утеплитель. Слоёв может быть несколько, но одежда не должна пережимать, потому что тепло — это воздух. Третий слой защищает от ветра и влаги: парка или комбинезон с капюшоном, регулируемыми манжетами и поясом. Важна вентиляция через молнии, чтобы не вспотеть. Лучше немного расстегнуться, чем намокнуть: мокрая одежда в мороз опаснее лёгкого озноба.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специфике северной одежды. Голова и лицо: шапка с ветрозащитой или балаклава, капюшон с меховой оторочкой, она не обмерзает от дыхания, тёмные очки от снежной слепоты. Не оставлять уши открытыми. Руки: рукавицы тёплее перчаток, внутри тонкие перчатки-вкладыши, запасная пара обязательна. Нельзя трогать голой рукой металл. Ноги: обувь на 1–1,5 размера больше, тёплые стельки, две пары носков, не сдавливающих ногу. Тесная и влажная обувь ведёт к отморожению. Корпус: свободный крой, регулировка манжет, пояса и капюшона; джинсы и хлопок на морозе не подходят. И главное правило пота: раньше расстёгиваться, чем вспотеть.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ориентировочный график. При температуре от 0 до −10 °C можно работать около двух часов подряд и греться около 10 минут. От −10 до −20: 90 минут работы и 15 минут обогрева. От −20 до −30: час работы и 15 минут обогрева. От −30 до −40: 45 минут и 20 минут. От −40 до −50: около 30 минут работы и 20 минут в тепле. Ниже −50 °C открытые работы прекращают, кроме аварийных. Ниже −30 °C работают парами и следят друг за другом: лицо и руки. Если ветер 10 м/с и больше, температуру считают на ступень ниже. Тёплое помещение должно быть +21…+25 °C, с горячим питьём и сушкой одежды. Точные режимы определяет МР 2.2.7.2129-06 и локальные акты предприятия.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Плакат собирает главное на одном слайде. Слева карта зон с типичными зимними температурами: до −55 °C в Арктике, −45 за Полярным кругом, до −67 на Крайнем Севере. В центре три слоя одежды: база, тепло, защита, и правило «сухо, без хлопка». Справа таблица режима работы и обогрева в минутах по диапазонам температур. Внизу девиз плаката: сухо, слоями, парами, по графику, на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помощь. При переохлаждении: отвести в тепло, снять мокрую одежду, укутать, дать тёплое сладкое питьё, если человек в сознании. Алкоголь не давать и не растирать. Если сознание нарушено — срочно вызывать помощь. При отморожении: уйти в тепло, снять кольца и тесную обувь, не растирать снегом и не греть у огня, согреть тёплой, но не горячей водой, наложить сухую повязку. Обязательно показать врачу, даже если боль прошла. Номер вызова помощи — 112. Не оставляйте пострадавшего одного и сообщите точное место и время холодового воздействия.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итоги. Первое: знайте свою зону, от неё зависят холод, полярная ночь и нормы труда. Второе: холод вместе с ветром опаснее, чем показывает термометр. Третье: одевайтесь слоями и держите тело сухим. Четвёртое: работайте по графику с обогревом и в паре. Пятое: в полярную ночь и в изоляции заботьтесь о свете, режиме, связи и запасе. Север не прощает ошибок, поэтому готовиться нужно заранее.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подготовке я опирался на Трудовой кодекс, МР 2.2.7.2129-06 о режимах труда на холоде, перечень районов Крайнего Севера, индекс ветро-холодового охлаждения и данные Росгидромета. Числовые режимы на плакате ориентировочные, перед применением их нужно сверять с действующими нормами.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2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в условиях Крайнего Севера: холод, полярная ночь, изоляция, специфика одежды»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Некрасов Егор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Север требует особой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−67,7 °C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Оймякон: абсолютный минимум среди постоянно обитаемых мест (1933 г.)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45 сут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непрерывной полярной ночи в Норильске (с конца ноября до середины января)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−34 °C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ощущается при −20 °C и ветре 10 м/с: ветер усиливает охлаждение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72 ч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рекомендуемый аварийный запас еды, тепла и воды при выезде из посёлка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Карта зон</a:t>
            </a:r>
          </a:p>
        </p:txBody>
      </p:sp>
      <p:sp>
        <p:nvSpPr>
          <p:cNvPr id="28" name="План 2"/>
          <p:cNvSpPr/>
          <p:nvPr/>
        </p:nvSpPr>
        <p:spPr>
          <a:xfrm>
            <a:off x="248533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Холод</a:t>
            </a:r>
          </a:p>
        </p:txBody>
      </p:sp>
      <p:sp>
        <p:nvSpPr>
          <p:cNvPr id="29" name="План 3"/>
          <p:cNvSpPr/>
          <p:nvPr/>
        </p:nvSpPr>
        <p:spPr>
          <a:xfrm>
            <a:off x="437631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Полярная ночь</a:t>
            </a:r>
          </a:p>
        </p:txBody>
      </p:sp>
      <p:sp>
        <p:nvSpPr>
          <p:cNvPr id="30" name="План 4"/>
          <p:cNvSpPr/>
          <p:nvPr/>
        </p:nvSpPr>
        <p:spPr>
          <a:xfrm>
            <a:off x="6267297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Изоляция</a:t>
            </a:r>
          </a:p>
        </p:txBody>
      </p:sp>
      <p:sp>
        <p:nvSpPr>
          <p:cNvPr id="31" name="План 5"/>
          <p:cNvSpPr/>
          <p:nvPr/>
        </p:nvSpPr>
        <p:spPr>
          <a:xfrm>
            <a:off x="815827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Многослойная одежда</a:t>
            </a:r>
          </a:p>
        </p:txBody>
      </p:sp>
      <p:sp>
        <p:nvSpPr>
          <p:cNvPr id="32" name="План 6"/>
          <p:cNvSpPr/>
          <p:nvPr/>
        </p:nvSpPr>
        <p:spPr>
          <a:xfrm>
            <a:off x="100492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График работ и отдыха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зон: где и насколько суров климат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зон"/>
          <p:cNvGraphicFramePr>
            <a:graphicFrameLocks noGrp="1"/>
          </p:cNvGraphicFramePr>
          <p:nvPr/>
        </p:nvGraphicFramePr>
        <p:xfrm>
          <a:off x="594360" y="1691640"/>
          <a:ext cx="1101852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1600200"/>
                <a:gridCol w="3566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Зона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Где находится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Зимой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Особенности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Арктика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Арктические острова и побережье севернее ≈ 70° с. ш.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−40…−55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Полярная ночь 80–120 и более суток, штормовые ветра, лёд, белые медведи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За Полярным кругом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66,5–70° с. ш.: Мурманск, Воркута, Салехард, Норильск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−30…−45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Полярная ночь от 1 до 45 суток, полярный день летом, частые пурги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Крайний Север (РКС)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Якутия, Чукотка, Магадан, север Сибири и Дальнего Востока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до −50…−67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Самые низкие температуры в обитаемых местах, резкий континентальный климат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Приравненные местности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Южнее РКС: часть Сибири, Дальнего Востока, севера европейской части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−25…−40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Долгая холодная зима, те же гарантии по Трудовому кодексу РФ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ояснение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Перечень районов Крайнего Севера и приравненных местностей задан законодательно, климатические значения указаны как типичные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Холод: что угрожает и как ощущается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Переохлаждение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Температура тела ниже 35 °C: дрожь, апатия, путаница, затем потеря сознания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Отморожения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Нос, щёки, уши, пальцы: белеет кожа, пропадает чувствительность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Ветер и метель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Ветер резко усиливает потерю тепла; в пургу пропадает видимость (white-out)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Техника и материалы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Металл прилипает к коже, сталь и пластик становятся хрупкими, садятся батареи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Ощущаемая температура, °C</a:t>
            </a:r>
          </a:p>
        </p:txBody>
      </p:sp>
      <p:graphicFrame>
        <p:nvGraphicFramePr>
          <p:cNvPr id="27" name="Таблица ветро-холодового индекса"/>
          <p:cNvGraphicFramePr>
            <a:graphicFrameLocks noGrp="1"/>
          </p:cNvGraphicFramePr>
          <p:nvPr/>
        </p:nvGraphicFramePr>
        <p:xfrm>
          <a:off x="7498079" y="2103120"/>
          <a:ext cx="411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960120"/>
                <a:gridCol w="960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Воздух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−10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−20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−30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−34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−36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−30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−42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−47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−50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−40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−55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−60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−63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512064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  <a:latin typeface="Calibri"/>
              </a:rPr>
              <a:t>Ниже −40 °C ощущаемой температуры открытая кожа может обморозиться за 10–30 минут. Расчёт по индексу JAG/TI.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ПОЛЯРНАЯ НОЧЬ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graphicFrame>
        <p:nvGraphicFramePr>
          <p:cNvPr id="29" name="Таблица полярной ночи"/>
          <p:cNvGraphicFramePr>
            <a:graphicFrameLocks noGrp="1"/>
          </p:cNvGraphicFramePr>
          <p:nvPr/>
        </p:nvGraphicFramePr>
        <p:xfrm>
          <a:off x="594360" y="178308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Место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Суток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Мурманск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40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Норильск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45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Диксон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80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Арктические острова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100 и более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</a:tbl>
          </a:graphicData>
        </a:graphic>
      </p:graphicFrame>
      <p:sp>
        <p:nvSpPr>
          <p:cNvPr id="30" name="Пояснение полярной ночи"/>
          <p:cNvSpPr txBox="1"/>
          <p:nvPr/>
        </p:nvSpPr>
        <p:spPr>
          <a:xfrm>
            <a:off x="594360" y="4663440"/>
            <a:ext cx="5303520" cy="1554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В полярную ночь солнце не поднимается над горизонтом, а светлое время ограничено сумерками. К этому прибавляются холод и пурга, поэтому основная нагрузка ложится на нервную систему и внимание.</a:t>
            </a:r>
          </a:p>
        </p:txBody>
      </p:sp>
      <p:sp>
        <p:nvSpPr>
          <p:cNvPr id="31" name="Чем опасна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Чем опасна</a:t>
            </a:r>
          </a:p>
        </p:txBody>
      </p:sp>
      <p:sp>
        <p:nvSpPr>
          <p:cNvPr id="33" name="Чем опасна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Сбой суточного ритма, сонливость, падает внимание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Рост травм, ДТП и падений в темноте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Потеря ориентации, особенно в пургу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Сезонная депрессия и раздражительность</a:t>
            </a:r>
          </a:p>
        </p:txBody>
      </p:sp>
      <p:sp>
        <p:nvSpPr>
          <p:cNvPr id="34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Что делать</a:t>
            </a:r>
          </a:p>
        </p:txBody>
      </p:sp>
      <p:sp>
        <p:nvSpPr>
          <p:cNvPr id="36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Налобный фонарь и запасные элементы питания в тепле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Светоотражающие элементы, вешки на маршруте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Фиксированный режим сна, яркий свет в помещении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Витамин D и светотерапия — по рекомендации врача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Изоляция: автономность и психологическая устойчивость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Нет помощи рядом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спасатели и врач в часах и сутках пути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Потеря связи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сотовой связи нет, нужны рация и спутник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Конфликты в группе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теснота, усталость, однообразие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Нарушения сна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свет, ритм, нагрузка, настроение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Правило «не один»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работа и выезды минимум вдвоём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План маршрута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сдан диспетчеру, связь по графику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Автономный запас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еда, топливо, тепло, аптечка на 72 часа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Режим и роли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распорядок дня, обязанности, общение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  <a:latin typeface="Calibri"/>
              </a:rPr>
              <a:t>Золотое правило: </a:t>
            </a:r>
            <a:r>
              <a:rPr sz="1500" b="0">
                <a:solidFill>
                  <a:srgbClr val="FFFFFF"/>
                </a:solidFill>
                <a:latin typeface="Calibri"/>
              </a:rPr>
              <a:t>никто не выходит в одиночку, без связи и без сообщённого маршрута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Многослойная система одежды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Слой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Слой 1 заголовок"/>
          <p:cNvSpPr txBox="1"/>
          <p:nvPr/>
        </p:nvSpPr>
        <p:spPr>
          <a:xfrm>
            <a:off x="13716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Базовый слой</a:t>
            </a:r>
          </a:p>
        </p:txBody>
      </p:sp>
      <p:sp>
        <p:nvSpPr>
          <p:cNvPr id="13" name="Слой 1 текст"/>
          <p:cNvSpPr txBox="1"/>
          <p:nvPr/>
        </p:nvSpPr>
        <p:spPr>
          <a:xfrm>
            <a:off x="7772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отводить пот от кожи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синтетика или тонкая мериносовая шерсть, плотно по фигуре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хлопка, он намокает и остывает</a:t>
            </a:r>
          </a:p>
        </p:txBody>
      </p:sp>
      <p:sp>
        <p:nvSpPr>
          <p:cNvPr id="14" name="Слой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399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Слой 2 заголовок"/>
          <p:cNvSpPr txBox="1"/>
          <p:nvPr/>
        </p:nvSpPr>
        <p:spPr>
          <a:xfrm>
            <a:off x="51435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Утепляющий слой</a:t>
            </a:r>
          </a:p>
        </p:txBody>
      </p:sp>
      <p:sp>
        <p:nvSpPr>
          <p:cNvPr id="17" name="Слой 2 текст"/>
          <p:cNvSpPr txBox="1"/>
          <p:nvPr/>
        </p:nvSpPr>
        <p:spPr>
          <a:xfrm>
            <a:off x="45491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держать воздух и тепло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флис, шерсть, пух, синтетический утеплитель, слоёв может быть несколько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пережима, тепло создаёт воздух</a:t>
            </a:r>
          </a:p>
        </p:txBody>
      </p:sp>
      <p:sp>
        <p:nvSpPr>
          <p:cNvPr id="18" name="Слой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Слой 3 заголовок"/>
          <p:cNvSpPr txBox="1"/>
          <p:nvPr/>
        </p:nvSpPr>
        <p:spPr>
          <a:xfrm>
            <a:off x="89154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Защитный слой</a:t>
            </a:r>
          </a:p>
        </p:txBody>
      </p:sp>
      <p:sp>
        <p:nvSpPr>
          <p:cNvPr id="21" name="Слой 3 текст"/>
          <p:cNvSpPr txBox="1"/>
          <p:nvPr/>
        </p:nvSpPr>
        <p:spPr>
          <a:xfrm>
            <a:off x="83210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защита от ветра, снега и влаги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мембрана или плотная ткань, парка или комбинезон с капюшоном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отсутствия вентиляции: нужны молнии под мышками</a:t>
            </a:r>
          </a:p>
        </p:txBody>
      </p:sp>
      <p:sp>
        <p:nvSpPr>
          <p:cNvPr id="22" name="Правило слоёв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Лучше слегка замёрзнуть в начале пути, чем вспотеть: мокрая одежда в мороз опаснее лёгкого озноба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Специфика северной одежды и обуви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одежды"/>
          <p:cNvGraphicFramePr>
            <a:graphicFrameLocks noGrp="1"/>
          </p:cNvGraphicFramePr>
          <p:nvPr/>
        </p:nvGraphicFramePr>
        <p:xfrm>
          <a:off x="594360" y="169164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Элемент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Выбирать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Избегать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Голова и лицо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Шапка с ветрозащитой или балаклава, капюшон с меховой оторочкой, тёмные очки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Открытые уши, шарф, влажный от дыхания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Руки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Рукавицы с тонкими перчатками-вкладышами, запасная пара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Металл голой рукой — кожа прилипает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Ноги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Обувь на 1–1,5 размера больше, тёплые стельки, 2 пары носков, не сдавливающих ногу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Тесная и влажная обувь, хлопковые носки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Корпус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Свободный крой, регулируемые манжеты, пояс и капюшон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Хлопок и джинсы, одежда, сковывающая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Правило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Раньше расстёгиваться, чем вспотеть: сухая одежда — это тепло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Работа в одежде, мокрой от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1" name="Совет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Береги кожу и дыхание: закрывай лицо маской или балаклавой, но следи, чтобы они не покрывались льдом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График работ и отдыха при низких температурах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иаграмма режимов"/>
          <p:cNvGraphicFramePr>
            <a:graphicFrameLocks noGrp="1"/>
          </p:cNvGraphicFramePr>
          <p:nvPr/>
        </p:nvGraphicFramePr>
        <p:xfrm>
          <a:off x="594360" y="1691640"/>
          <a:ext cx="621792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Правило 1"/>
          <p:cNvSpPr/>
          <p:nvPr/>
        </p:nvSpPr>
        <p:spPr>
          <a:xfrm>
            <a:off x="7086600" y="1691640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равило 1 текст"/>
          <p:cNvSpPr txBox="1"/>
          <p:nvPr/>
        </p:nvSpPr>
        <p:spPr>
          <a:xfrm>
            <a:off x="7223760" y="1691640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Ниже −30 °C: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работать парами и вести взаимный контроль лица и рук</a:t>
            </a:r>
          </a:p>
        </p:txBody>
      </p:sp>
      <p:sp>
        <p:nvSpPr>
          <p:cNvPr id="13" name="Правило 2"/>
          <p:cNvSpPr/>
          <p:nvPr/>
        </p:nvSpPr>
        <p:spPr>
          <a:xfrm>
            <a:off x="7086600" y="2761488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равило 2 текст"/>
          <p:cNvSpPr txBox="1"/>
          <p:nvPr/>
        </p:nvSpPr>
        <p:spPr>
          <a:xfrm>
            <a:off x="7223760" y="2761488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Ветер 10 м/с и больше: </a:t>
            </a:r>
            <a:r>
              <a:rPr sz="1400" b="0">
                <a:solidFill>
                  <a:srgbClr val="4B4B4B"/>
                </a:solidFill>
                <a:latin typeface="Calibri"/>
              </a:rPr>
              <a:t>считать температуру на ступень ниже</a:t>
            </a:r>
          </a:p>
        </p:txBody>
      </p:sp>
      <p:sp>
        <p:nvSpPr>
          <p:cNvPr id="15" name="Правило 3"/>
          <p:cNvSpPr/>
          <p:nvPr/>
        </p:nvSpPr>
        <p:spPr>
          <a:xfrm>
            <a:off x="7086600" y="3831335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равило 3 текст"/>
          <p:cNvSpPr txBox="1"/>
          <p:nvPr/>
        </p:nvSpPr>
        <p:spPr>
          <a:xfrm>
            <a:off x="7223760" y="3831335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Тёплое помещение: </a:t>
            </a:r>
            <a:r>
              <a:rPr sz="1400" b="0">
                <a:solidFill>
                  <a:srgbClr val="4B4B4B"/>
                </a:solidFill>
                <a:latin typeface="Calibri"/>
              </a:rPr>
              <a:t>+21…+25 °C, горячее питьё, сушка одежды</a:t>
            </a:r>
          </a:p>
        </p:txBody>
      </p:sp>
      <p:sp>
        <p:nvSpPr>
          <p:cNvPr id="17" name="Правило 4"/>
          <p:cNvSpPr/>
          <p:nvPr/>
        </p:nvSpPr>
        <p:spPr>
          <a:xfrm>
            <a:off x="7086600" y="4901183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равило 4 текст"/>
          <p:cNvSpPr txBox="1"/>
          <p:nvPr/>
        </p:nvSpPr>
        <p:spPr>
          <a:xfrm>
            <a:off x="7223760" y="4901183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Ниже −50 °C: </a:t>
            </a:r>
            <a:r>
              <a:rPr sz="1400" b="0">
                <a:solidFill>
                  <a:srgbClr val="4B4B4B"/>
                </a:solidFill>
                <a:latin typeface="Calibri"/>
              </a:rPr>
              <a:t>открытые работы прекращаются, кроме аварийных</a:t>
            </a:r>
          </a:p>
        </p:txBody>
      </p:sp>
      <p:sp>
        <p:nvSpPr>
          <p:cNvPr id="19" name="Примечание"/>
          <p:cNvSpPr txBox="1"/>
          <p:nvPr/>
        </p:nvSpPr>
        <p:spPr>
          <a:xfrm>
            <a:off x="594360" y="5943600"/>
            <a:ext cx="6217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Ориентир; действующие нормы — МР 2.2.7.2129-06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на Крайнем Севере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943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1 · КАРТА ЗОН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3662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2 · СЛОИ ОДЕЖДЫ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1381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3 · РАБОТА / ОТДЫХ</a:t>
            </a:r>
          </a:p>
        </p:txBody>
      </p:sp>
      <p:sp>
        <p:nvSpPr>
          <p:cNvPr id="16" name="Зоны на плакате"/>
          <p:cNvSpPr txBox="1"/>
          <p:nvPr/>
        </p:nvSpPr>
        <p:spPr>
          <a:xfrm>
            <a:off x="7315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Арктика: </a:t>
            </a:r>
            <a:r>
              <a:rPr sz="1600" b="0">
                <a:solidFill>
                  <a:srgbClr val="4B4B4B"/>
                </a:solidFill>
                <a:latin typeface="Calibri"/>
              </a:rPr>
              <a:t>−40…−55 °C, ночь 80–120 сут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 Полярным кругом: </a:t>
            </a:r>
            <a:r>
              <a:rPr sz="1600" b="0">
                <a:solidFill>
                  <a:srgbClr val="4B4B4B"/>
                </a:solidFill>
                <a:latin typeface="Calibri"/>
              </a:rPr>
              <a:t>−30…−45 °C, ночь до 45 сут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Крайний Север: </a:t>
            </a:r>
            <a:r>
              <a:rPr sz="1600" b="0">
                <a:solidFill>
                  <a:srgbClr val="4B4B4B"/>
                </a:solidFill>
                <a:latin typeface="Calibri"/>
              </a:rPr>
              <a:t>до −50…−67 °C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Приравненные: </a:t>
            </a:r>
            <a:r>
              <a:rPr sz="1600" b="0">
                <a:solidFill>
                  <a:srgbClr val="4B4B4B"/>
                </a:solidFill>
                <a:latin typeface="Calibri"/>
              </a:rPr>
              <a:t>−25…−40 °C, долгая зима</a:t>
            </a:r>
          </a:p>
        </p:txBody>
      </p:sp>
      <p:sp>
        <p:nvSpPr>
          <p:cNvPr id="17" name="Слои на плакате"/>
          <p:cNvSpPr txBox="1"/>
          <p:nvPr/>
        </p:nvSpPr>
        <p:spPr>
          <a:xfrm>
            <a:off x="45034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1 · база: </a:t>
            </a:r>
            <a:r>
              <a:rPr sz="1600" b="0">
                <a:solidFill>
                  <a:srgbClr val="4B4B4B"/>
                </a:solidFill>
                <a:latin typeface="Calibri"/>
              </a:rPr>
              <a:t>синтетика или шерсть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2 · тепло: </a:t>
            </a:r>
            <a:r>
              <a:rPr sz="1600" b="0">
                <a:solidFill>
                  <a:srgbClr val="4B4B4B"/>
                </a:solidFill>
                <a:latin typeface="Calibri"/>
              </a:rPr>
              <a:t>флис, пух, шерсть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3 · защита: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ветро- и влагозащита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Руки и ноги: </a:t>
            </a:r>
            <a:r>
              <a:rPr sz="1600" b="0">
                <a:solidFill>
                  <a:srgbClr val="4B4B4B"/>
                </a:solidFill>
                <a:latin typeface="Calibri"/>
              </a:rPr>
              <a:t>рукавицы, обувь на размер больше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Правило: </a:t>
            </a:r>
            <a:r>
              <a:rPr sz="1600" b="0">
                <a:solidFill>
                  <a:srgbClr val="4B4B4B"/>
                </a:solidFill>
                <a:latin typeface="Calibri"/>
              </a:rPr>
              <a:t>сухо, без хлопка, не потеть</a:t>
            </a:r>
          </a:p>
        </p:txBody>
      </p:sp>
      <p:graphicFrame>
        <p:nvGraphicFramePr>
          <p:cNvPr id="18" name="Мини таблица режимов"/>
          <p:cNvGraphicFramePr>
            <a:graphicFrameLocks noGrp="1"/>
          </p:cNvGraphicFramePr>
          <p:nvPr/>
        </p:nvGraphicFramePr>
        <p:xfrm>
          <a:off x="8275320" y="2286000"/>
          <a:ext cx="3200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6012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Воздух, °C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Работа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Обогрев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0…−10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−10…−20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−20…−30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−30…−40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−40…−50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9" name="Мини примечание"/>
          <p:cNvSpPr txBox="1"/>
          <p:nvPr/>
        </p:nvSpPr>
        <p:spPr>
          <a:xfrm>
            <a:off x="8275320" y="512064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100" b="0">
                <a:solidFill>
                  <a:srgbClr val="4B4B4B"/>
                </a:solidFill>
                <a:latin typeface="Calibri"/>
              </a:rPr>
              <a:t>Минуты. Ниже −50 °C — только аварийные работы</a:t>
            </a:r>
          </a:p>
        </p:txBody>
      </p:sp>
      <p:sp>
        <p:nvSpPr>
          <p:cNvPr id="20" name="Девиз плаката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  <a:latin typeface="Calibri"/>
              </a:rPr>
              <a:t>СУХО  ·  СЛОЯМИ  ·  ПАРАМИ  ·  ПО ГРАФИКУ  ·  НА СВЯЗИ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ПЕРВАЯ ПОМОЩЬ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Переохлаж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Переохлаждение</a:t>
            </a:r>
          </a:p>
        </p:txBody>
      </p:sp>
      <p:sp>
        <p:nvSpPr>
          <p:cNvPr id="31" name="Переохлаж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В тепло, снять мокрую одежду, укутать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Тёплое сладкое питьё, если человек в сознании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Не давать алкоголь, не растирать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Если сознание нарушено — срочно вызвать помощь</a:t>
            </a:r>
          </a:p>
        </p:txBody>
      </p:sp>
      <p:sp>
        <p:nvSpPr>
          <p:cNvPr id="32" name="Отморожени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Отморожение</a:t>
            </a:r>
          </a:p>
        </p:txBody>
      </p:sp>
      <p:sp>
        <p:nvSpPr>
          <p:cNvPr id="34" name="Отморожени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Уйти в тепло, снять кольца и тесную обувь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Не растирать снегом, не греть у огня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Согреть тёплой, не горячей водой, сухая повязка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Показать врачу, даже если боль прошла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Вызов помощи: 112. </a:t>
            </a:r>
            <a:r>
              <a:rPr sz="1600" b="0">
                <a:solidFill>
                  <a:srgbClr val="2B2B2B"/>
                </a:solidFill>
                <a:latin typeface="Calibri"/>
              </a:rPr>
              <a:t>Не оставляйте пострадавшего одного и сообщите точное место и время холодового воздействия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Север не прощает ошибок: готовьтесь заранее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Знайте зону: от неё зависят холод, ночь и нормы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Холод плюс ветер опаснее, чем показывает термометр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Одевайтесь слоями и держите тело сухим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Работайте по графику с обогревом и в паре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В полярную ночь и в изоляции: свет, режим, связь, запас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Трудовой кодекс РФ: гарантии для работающих в районах Крайнего Севера (гл. 50), ст. 109 (перерывы для обогревания и отдыха)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МР 2.2.7.2129-06 «Режимы труда и отдыха работающих в холодное время года на открытой территории или в неотапливаемых помещениях»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Перечень районов Крайнего Севера и приравненных к ним местностей (постановление Совмина СССР № 1029 от 10.11.1967 с изменениями)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Индекс ветро-холодового охлаждения JAG/TI (Environment Canada, NWS, 2001)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Данные Росгидромета о климате Оймякона, Норильска, Мурманска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Числовые режимы на плакате — ориентир; перед применением сверяйте с действующими нормами и локальными актами.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