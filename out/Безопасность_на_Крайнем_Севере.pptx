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4"/>
  </p:notesMasterIdLst>
  <p:sldIdLst>
    <p:sldId id="260" r:id="rId3"/>
    <p:sldId id="278" r:id="rId29"/>
    <p:sldId id="279" r:id="rId30"/>
    <p:sldId id="280" r:id="rId31"/>
    <p:sldId id="288" r:id="rId39"/>
    <p:sldId id="281" r:id="rId32"/>
    <p:sldId id="282" r:id="rId33"/>
    <p:sldId id="283" r:id="rId34"/>
    <p:sldId id="284" r:id="rId35"/>
    <p:sldId id="285" r:id="rId36"/>
    <p:sldId id="289" r:id="rId40"/>
    <p:sldId id="290" r:id="rId41"/>
    <p:sldId id="286" r:id="rId3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75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.xml"/><Relationship Id="rId30" Type="http://schemas.openxmlformats.org/officeDocument/2006/relationships/slide" Target="slides/slide3.xml"/><Relationship Id="rId31" Type="http://schemas.openxmlformats.org/officeDocument/2006/relationships/slide" Target="slides/slide4.xml"/><Relationship Id="rId32" Type="http://schemas.openxmlformats.org/officeDocument/2006/relationships/slide" Target="slides/slide6.xml"/><Relationship Id="rId33" Type="http://schemas.openxmlformats.org/officeDocument/2006/relationships/slide" Target="slides/slide7.xml"/><Relationship Id="rId34" Type="http://schemas.openxmlformats.org/officeDocument/2006/relationships/slide" Target="slides/slide8.xml"/><Relationship Id="rId35" Type="http://schemas.openxmlformats.org/officeDocument/2006/relationships/slide" Target="slides/slide9.xml"/><Relationship Id="rId36" Type="http://schemas.openxmlformats.org/officeDocument/2006/relationships/slide" Target="slides/slide10.xml"/><Relationship Id="rId37" Type="http://schemas.openxmlformats.org/officeDocument/2006/relationships/slide" Target="slides/slide13.xml"/><Relationship Id="rId39" Type="http://schemas.openxmlformats.org/officeDocument/2006/relationships/slide" Target="slides/slide5.xml"/><Relationship Id="rId40" Type="http://schemas.openxmlformats.org/officeDocument/2006/relationships/slide" Target="slides/slide11.xml"/><Relationship Id="rId41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Ориентир по температуре воздуха, °C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Работа на холоде, мин</c:v>
                </c:pt>
              </c:strCache>
            </c:strRef>
          </c:tx>
          <c:spPr>
            <a:solidFill>
              <a:srgbClr val="2B2B2B"/>
            </a:solidFill>
          </c:spPr>
          <c:cat>
            <c:strRef>
              <c:f>Sheet1!$A$2:$A$6</c:f>
              <c:strCache>
                <c:ptCount val="5"/>
                <c:pt idx="0">
                  <c:v>0…−10</c:v>
                </c:pt>
                <c:pt idx="1">
                  <c:v>−10…−20</c:v>
                </c:pt>
                <c:pt idx="2">
                  <c:v>−20…−30</c:v>
                </c:pt>
                <c:pt idx="3">
                  <c:v>−30…−40</c:v>
                </c:pt>
                <c:pt idx="4">
                  <c:v>−40…−50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90</c:v>
                </c:pt>
                <c:pt idx="2">
                  <c:v>60</c:v>
                </c:pt>
                <c:pt idx="3">
                  <c:v>45</c:v>
                </c:pt>
                <c:pt idx="4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Обогрев в тепле, мин</c:v>
                </c:pt>
              </c:strCache>
            </c:strRef>
          </c:tx>
          <c:spPr>
            <a:solidFill>
              <a:srgbClr val="FFED00"/>
            </a:solidFill>
          </c:spPr>
          <c:cat>
            <c:strRef>
              <c:f>Sheet1!$A$2:$A$6</c:f>
              <c:strCache>
                <c:ptCount val="5"/>
                <c:pt idx="0">
                  <c:v>0…−10</c:v>
                </c:pt>
                <c:pt idx="1">
                  <c:v>−10…−20</c:v>
                </c:pt>
                <c:pt idx="2">
                  <c:v>−20…−30</c:v>
                </c:pt>
                <c:pt idx="3">
                  <c:v>−30…−40</c:v>
                </c:pt>
                <c:pt idx="4">
                  <c:v>−40…−50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</c:v>
                </c:pt>
                <c:pt idx="1">
                  <c:v>15</c:v>
                </c:pt>
                <c:pt idx="2">
                  <c:v>15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C01305-19E7-4782-B941-09E80DE4569E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73E0B-056B-4491-865D-67CF282AB9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8683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Добрый день! Меня зовут Егор Некрасов, группа 202. Тема моего доклада — безопасность в условиях Крайнего Севера. Я расскажу о четырёх главных факторах риска: холоде, полярной ночи, изоляции и специфике одежды, а также покажу плакат: карту зон, многослойную систему одежды и график работ и отдыха при низких температурах.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Север — это не просто «очень холодно». Это сочетание факторов, которые усиливают друг друга. В Оймяконе зафиксирован минимум −67,7 °C. В Норильске полярная ночь длится около 45 суток. Ветер в 10 метров в секунду превращает −20 °C в ощущаемые примерно −33 °C. А помощь может быть в часах или сутках пути, поэтому при выезде нужен аварийный запас минимум на трое суток. Дальше по плану: карта зон, холод, полярная ночь, изоляция, одежда и график работ.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схема в проекции от Северного полюса: нуль меридиана внизу, Россия справа и сверху. Тёмный центр — Арктика с самыми суровыми условиями: полярная ночь больше ста суток, зимой до −40…−55 °C, пурга. Жёлтое кольцо — территории за Полярным кругом, 66,5° северной широты: там полярная ночь и полярный день. Светлое кольцо — районы Крайнего Севера и приравненные местности. Именно тут, в Якутии, бывает до −60 °C. Для сравнения серым показан умеренный пояс. Важно: это схема по широте. Реальный перечень районов Крайнего Севера задан постановлением Совмина СССР № 1029 и более поздними изменениями, и по нему положены гарантии по Трудовому кодексу. Границы климата зависят ещё от рельефа и удалённости от моря.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Холод опасен несколькими способами. Первое — переохлаждение: температура тела падает ниже 35 °C, появляются дрожь, апатия и спутанность сознания, потом человек теряет сознание. Второе — отморожения: чаще всего страдают нос, щёки, уши и пальцы, кожа белеет и перестаёт чувствовать. Третье — ветер и метель: ветер резко увеличивает потерю тепла, а в пургу пропадает видимость. Четвёртое — техника и материалы: металл прилипает к коже, сталь и пластик становятся хрупкими, батареи быстро садятся. В таблице справа видно, как ветер меняет ощущения: при −20 °C и ветре 10 м/с ощущается около −34 °C. Когда ощущаемая температура ниже −40 °C, открытая кожа может обморозиться за 10–30 минут.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Полярная ночь — это период, когда солнце не поднимается над горизонтом. В Мурманске она длится около 40 суток, в Норильске около 45, в Диксоне около 80, а на арктических островах может превышать 100. Опасность в том, что сбивается суточный ритм: человек сонлив, внимание падает. В темноте растёт число травм, падений и аварий, легко потерять ориентацию, особенно в пургу. Возможна сезонная депрессия и раздражительность. Что делать: иметь налобный фонарь и держать запасные батареи в тепле, использовать светоотражающие элементы и вешки на маршруте, соблюдать режим сна, обеспечить яркий свет в помещении. Витамин D и светотерапию применяют только по рекомендации врача.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Изоляция — это удалённость от помощи и от привычной жизни. Риски: рядом нет врача и спасателей, помощь идёт часами и сутками; нет сотовой связи, нужны рация и спутниковый телефон; в небольшой группе из-за тесноты, усталости и однообразия возникают конфликты; нарушается сон. Меры: правило «не один» — выезды и работа минимум вдвоём; план маршрута сдаётся диспетчеру, и связь идёт по графику; автономный запас еды, топлива и тепла и аптечка минимум на 72 часа; режим дня, распределение обязанностей и общение внутри группы. Главное правило: никто не выходит в одиночку, без связи и без сообщённого маршрута.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 защиты от холода — три слоя. Первый, базовый, отводит пот от кожи: синтетика или тонкая мериносовая шерсть плотно к телу. Хлопок не подходит: мокрый, он остывает. Второй слой утепляет, задерживая воздух: флис, шерсть, пух, синтетический утеплитель. Слоёв может быть несколько, но одежда не должна пережимать, потому что тепло — это воздух. Третий слой защищает от ветра и влаги: парка или комбинезон с капюшоном, регулируемыми манжетами и поясом. Важна вентиляция через молнии, чтобы не вспотеть. Лучше немного расстегнуться, чем намокнуть: мокрая одежда в мороз опаснее лёгкого озноба.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Теперь о специфике северной одежды. Голова и лицо: шапка с ветрозащитой или балаклава, капюшон с меховой оторочкой, она не обмерзает от дыхания, тёмные очки от снежной слепоты. Не оставлять уши открытыми. Руки: рукавицы тёплее перчаток, внутри тонкие перчатки-вкладыши, запасная пара обязательна. Нельзя трогать голой рукой металл. Ноги: обувь на 1–1,5 размера больше, тёплые стельки, две пары носков, не сдавливающих ногу. Тесная и влажная обувь ведёт к отморожению. Корпус: свободный крой, регулировка манжет, пояса и капюшона; джинсы и хлопок на морозе не подходят. И главное правило пота: раньше расстёгиваться, чем вспотеть.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ориентировочный график. При температуре от 0 до −10 °C можно работать около двух часов подряд и греться около 10 минут. От −10 до −20: 90 минут работы и 15 минут обогрева. От −20 до −30: час работы и 15 минут обогрева. От −30 до −40: 45 минут и 20 минут. От −40 до −50: около 30 минут работы и 20 минут в тепле. Ниже −50 °C открытые работы прекращают, кроме аварийных. Ниже −30 °C работают парами и следят друг за другом: лицо и руки. Если ветер 10 м/с и больше, температуру считают на ступень ниже. Тёплое помещение должно быть +21…+25 °C, с горячим питьём и сушкой одежды. Внизу пример смены при −30…−40 °C: четыре блока по 45 минут, между ними обогрев, а посередине час обеда в тепле. Точные режимы определяет МР 2.2.7.2129-06 и локальные акты предприятия.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Плакат собирает главное на одном слайде. Слева карта зон с типичными зимними температурами: около −55 °C в Арктике, −45 за Полярным кругом и до −60 в Якутии. В центре три слоя одежды: база, тепло, защита, и правило «сухо, свободно, слоями, без хлопка». Справа таблица режима работы и обогрева в минутах по диапазонам температур. Внизу девиз плаката: сухо, слоями, парами, по графику, на связи.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Первая помощь. При переохлаждении: отвести в тепло, снять мокрую одежду, укутать, дать тёплое сладкое питьё, если человек в сознании. Алкоголь не давать и не растирать. Если сознание нарушено — срочно вызывать помощь. При отморожении: уйти в тепло, снять кольца и тесную обувь, не растирать снегом и не греть у огня, согреть тёплой, но не горячей водой, наложить сухую повязку. Обязательно показать врачу, даже если боль прошла. Номер вызова помощи — 112. Не оставляйте пострадавшего одного и сообщите точное место и время холодового воздействия.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Подведу итоги. Первое: знайте свою зону, от неё зависят холод, полярная ночь и нормы труда. Второе: холод вместе с ветром опаснее, чем показывает термометр. Третье: одевайтесь слоями и держите тело сухим. Четвёртое: работайте по графику с обогревом и в паре. Пятое: в полярную ночь и в изоляции заботьтесь о свете, режиме, связи и запасе. Север не прощает ошибок, поэтому готовиться нужно заранее. Спасибо за внимание!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 подготовке я опирался на Трудовой кодекс, МР 2.2.7.2129-06 о режимах труда на холоде, перечень районов Крайнего Севера, индекс ветро-холодового охлаждения и данные Росгидромета. Числовые режимы на плакате ориентировочные, перед применением их нужно сверять с действующими нормами.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429D-32CD-436D-B3F7-74D0C90C7685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7E73-0034-42F3-845B-2D45F76D9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765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429D-32CD-436D-B3F7-74D0C90C7685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7E73-0034-42F3-845B-2D45F76D9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9504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429D-32CD-436D-B3F7-74D0C90C7685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7E73-0034-42F3-845B-2D45F76D9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4388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429D-32CD-436D-B3F7-74D0C90C7685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7E73-0034-42F3-845B-2D45F76D9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0352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429D-32CD-436D-B3F7-74D0C90C7685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7E73-0034-42F3-845B-2D45F76D9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939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429D-32CD-436D-B3F7-74D0C90C7685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7E73-0034-42F3-845B-2D45F76D9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4643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429D-32CD-436D-B3F7-74D0C90C7685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7E73-0034-42F3-845B-2D45F76D9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114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429D-32CD-436D-B3F7-74D0C90C7685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7E73-0034-42F3-845B-2D45F76D9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4036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429D-32CD-436D-B3F7-74D0C90C7685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7E73-0034-42F3-845B-2D45F76D9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9579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429D-32CD-436D-B3F7-74D0C90C7685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7E73-0034-42F3-845B-2D45F76D9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328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429D-32CD-436D-B3F7-74D0C90C7685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7E73-0034-42F3-845B-2D45F76D9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40942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 slide">
    <p:spTree>
      <p:nvGrpSpPr>
        <p:cNvPr id="1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579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" name="Google Shape;1996;p34"/>
          <p:cNvSpPr txBox="1">
            <a:spLocks noGrp="1"/>
          </p:cNvSpPr>
          <p:nvPr>
            <p:ph type="title"/>
          </p:nvPr>
        </p:nvSpPr>
        <p:spPr>
          <a:xfrm>
            <a:off x="1397800" y="431800"/>
            <a:ext cx="93964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085823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C429D-32CD-436D-B3F7-74D0C90C7685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F7E73-0034-42F3-845B-2D45F76D9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0805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32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993" name="Google Shape;1993;p32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274313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3.png"/><Relationship Id="rId12" Type="http://schemas.openxmlformats.org/officeDocument/2006/relationships/notesSlide" Target="../notesSlides/notesSlide1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2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3.png"/><Relationship Id="rId12" Type="http://schemas.openxmlformats.org/officeDocument/2006/relationships/notesSlide" Target="../notesSlides/notesSlide2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ПРЕЗЕНТАЦИЯ</a:t>
            </a:r>
            <a:r>
              <a:rPr lang="ru-RU"/>
              <a:t> </a:t>
            </a:r>
          </a:p>
          <a:p>
            <a:pPr algn="ctr"/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по дисциплине</a:t>
            </a:r>
          </a:p>
          <a:p>
            <a:pPr algn="ctr"/>
            <a:r>
              <a:rPr lang="ru-RU"/>
              <a:t>«Безопасность жизнедеятельности»</a:t>
            </a:r>
          </a:p>
          <a:p>
            <a:pPr algn="ctr"/>
            <a:endParaRPr lang="ru-RU"/>
          </a:p>
          <a:p>
            <a:pPr algn="ctr"/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</a:t>
            </a:r>
          </a:p>
          <a:p>
            <a:pPr algn="ctr"/>
            <a:r>
              <a:rPr lang="ru-RU"/>
              <a:t>«Безопасность в условиях Крайнего Севера: холод, полярная ночь, изоляция, специфика одежды»</a:t>
            </a:r>
          </a:p>
          <a:p>
            <a:pPr algn="ctr"/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972" y="192523"/>
            <a:ext cx="7617667" cy="238184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543" y="544078"/>
            <a:ext cx="4614297" cy="17701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6193D2-C5AA-C648-1208-9618951538E2}"/>
              </a:ext>
            </a:extLst>
          </p:cNvPr>
          <p:cNvSpPr txBox="1"/>
          <p:nvPr/>
        </p:nvSpPr>
        <p:spPr>
          <a:xfrm>
            <a:off x="535972" y="4578588"/>
            <a:ext cx="61016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</a:t>
            </a:r>
          </a:p>
          <a:p>
            <a:r>
              <a:rPr 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202</a:t>
            </a:r>
          </a:p>
          <a:p>
            <a:r>
              <a:rPr 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Некрасов Егор</a:t>
            </a:r>
          </a:p>
          <a:p>
            <a:r>
              <a:rPr 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131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7988" y="765175"/>
            <a:ext cx="10515600" cy="681885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Почему Север требует особой безопасности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330738" y="132112"/>
            <a:ext cx="34733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ru-RU" sz="1600" b="1" dirty="0">
                <a:solidFill>
                  <a:schemeClr val="bg1"/>
                </a:solidFill>
              </a:rPr>
              <a:t>БЕЗОПАСНОСТЬ НА СЕВЕРЕ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-2992"/>
            <a:ext cx="12192000" cy="57140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95" y="141442"/>
            <a:ext cx="3185962" cy="351041"/>
          </a:xfrm>
          <a:prstGeom prst="rect">
            <a:avLst/>
          </a:prstGeom>
        </p:spPr>
      </p:pic>
      <p:sp>
        <p:nvSpPr>
          <p:cNvPr id="10" name="Карточка 1"/>
          <p:cNvSpPr/>
          <p:nvPr/>
        </p:nvSpPr>
        <p:spPr>
          <a:xfrm>
            <a:off x="594360" y="1691640"/>
            <a:ext cx="2651760" cy="25146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Показатель 1"/>
          <p:cNvSpPr txBox="1"/>
          <p:nvPr/>
        </p:nvSpPr>
        <p:spPr>
          <a:xfrm>
            <a:off x="685800" y="1828800"/>
            <a:ext cx="2468879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>
                <a:solidFill>
                  <a:srgbClr val="2B2B2B"/>
                </a:solidFill>
                <a:latin typeface="Calibri"/>
              </a:rPr>
              <a:t>−67,7 °C</a:t>
            </a:r>
          </a:p>
        </p:txBody>
      </p:sp>
      <p:sp>
        <p:nvSpPr>
          <p:cNvPr id="12" name="Метка 1"/>
          <p:cNvSpPr/>
          <p:nvPr/>
        </p:nvSpPr>
        <p:spPr>
          <a:xfrm>
            <a:off x="731520" y="2697480"/>
            <a:ext cx="502920" cy="109728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Описание 1"/>
          <p:cNvSpPr txBox="1"/>
          <p:nvPr/>
        </p:nvSpPr>
        <p:spPr>
          <a:xfrm>
            <a:off x="685800" y="2926080"/>
            <a:ext cx="2468879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4B4B4B"/>
                </a:solidFill>
                <a:latin typeface="Calibri"/>
              </a:rPr>
              <a:t>Оймякон: абсолютный минимум среди постоянно обитаемых мест (1933 г.)</a:t>
            </a:r>
          </a:p>
        </p:txBody>
      </p:sp>
      <p:sp>
        <p:nvSpPr>
          <p:cNvPr id="14" name="Карточка 2"/>
          <p:cNvSpPr/>
          <p:nvPr/>
        </p:nvSpPr>
        <p:spPr>
          <a:xfrm>
            <a:off x="3474720" y="1691640"/>
            <a:ext cx="2651760" cy="25146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Показатель 2"/>
          <p:cNvSpPr txBox="1"/>
          <p:nvPr/>
        </p:nvSpPr>
        <p:spPr>
          <a:xfrm>
            <a:off x="3566160" y="1828800"/>
            <a:ext cx="2468879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>
                <a:solidFill>
                  <a:srgbClr val="2B2B2B"/>
                </a:solidFill>
                <a:latin typeface="Calibri"/>
              </a:rPr>
              <a:t>≈ 45 сут</a:t>
            </a:r>
          </a:p>
        </p:txBody>
      </p:sp>
      <p:sp>
        <p:nvSpPr>
          <p:cNvPr id="16" name="Метка 2"/>
          <p:cNvSpPr/>
          <p:nvPr/>
        </p:nvSpPr>
        <p:spPr>
          <a:xfrm>
            <a:off x="3611879" y="2697480"/>
            <a:ext cx="502920" cy="109728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Описание 2"/>
          <p:cNvSpPr txBox="1"/>
          <p:nvPr/>
        </p:nvSpPr>
        <p:spPr>
          <a:xfrm>
            <a:off x="3566160" y="2926080"/>
            <a:ext cx="2468879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4B4B4B"/>
                </a:solidFill>
                <a:latin typeface="Calibri"/>
              </a:rPr>
              <a:t>непрерывной полярной ночи в Норильске (около 3 дек — 13 янв)</a:t>
            </a:r>
          </a:p>
        </p:txBody>
      </p:sp>
      <p:sp>
        <p:nvSpPr>
          <p:cNvPr id="18" name="Карточка 3"/>
          <p:cNvSpPr/>
          <p:nvPr/>
        </p:nvSpPr>
        <p:spPr>
          <a:xfrm>
            <a:off x="6355080" y="1691640"/>
            <a:ext cx="2651760" cy="25146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Показатель 3"/>
          <p:cNvSpPr txBox="1"/>
          <p:nvPr/>
        </p:nvSpPr>
        <p:spPr>
          <a:xfrm>
            <a:off x="6446520" y="1828800"/>
            <a:ext cx="2468879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>
                <a:solidFill>
                  <a:srgbClr val="2B2B2B"/>
                </a:solidFill>
                <a:latin typeface="Calibri"/>
              </a:rPr>
              <a:t>≈ −33 °C</a:t>
            </a:r>
          </a:p>
        </p:txBody>
      </p:sp>
      <p:sp>
        <p:nvSpPr>
          <p:cNvPr id="20" name="Метка 3"/>
          <p:cNvSpPr/>
          <p:nvPr/>
        </p:nvSpPr>
        <p:spPr>
          <a:xfrm>
            <a:off x="6492240" y="2697480"/>
            <a:ext cx="502920" cy="109728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Описание 3"/>
          <p:cNvSpPr txBox="1"/>
          <p:nvPr/>
        </p:nvSpPr>
        <p:spPr>
          <a:xfrm>
            <a:off x="6446520" y="2926080"/>
            <a:ext cx="2468879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4B4B4B"/>
                </a:solidFill>
                <a:latin typeface="Calibri"/>
              </a:rPr>
              <a:t>ощущается при −20 °C и ветре 10 м/с: ветер усиливает охлаждение</a:t>
            </a:r>
          </a:p>
        </p:txBody>
      </p:sp>
      <p:sp>
        <p:nvSpPr>
          <p:cNvPr id="22" name="Карточка 4"/>
          <p:cNvSpPr/>
          <p:nvPr/>
        </p:nvSpPr>
        <p:spPr>
          <a:xfrm>
            <a:off x="9235440" y="1691640"/>
            <a:ext cx="2651760" cy="25146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Показатель 4"/>
          <p:cNvSpPr txBox="1"/>
          <p:nvPr/>
        </p:nvSpPr>
        <p:spPr>
          <a:xfrm>
            <a:off x="9326880" y="1828800"/>
            <a:ext cx="2468879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>
                <a:solidFill>
                  <a:srgbClr val="2B2B2B"/>
                </a:solidFill>
                <a:latin typeface="Calibri"/>
              </a:rPr>
              <a:t>72 ч</a:t>
            </a:r>
          </a:p>
        </p:txBody>
      </p:sp>
      <p:sp>
        <p:nvSpPr>
          <p:cNvPr id="24" name="Метка 4"/>
          <p:cNvSpPr/>
          <p:nvPr/>
        </p:nvSpPr>
        <p:spPr>
          <a:xfrm>
            <a:off x="9372600" y="2697480"/>
            <a:ext cx="502920" cy="109728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Описание 4"/>
          <p:cNvSpPr txBox="1"/>
          <p:nvPr/>
        </p:nvSpPr>
        <p:spPr>
          <a:xfrm>
            <a:off x="9326880" y="2926080"/>
            <a:ext cx="2468879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4B4B4B"/>
                </a:solidFill>
                <a:latin typeface="Calibri"/>
              </a:rPr>
              <a:t>рекомендуемый аварийный запас еды, тепла и воды при выезде из посёлка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5262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Calibri"/>
              </a:rPr>
              <a:t>ПЛАН ДОКЛАДА</a:t>
            </a:r>
          </a:p>
        </p:txBody>
      </p:sp>
      <p:sp>
        <p:nvSpPr>
          <p:cNvPr id="27" name="План 1"/>
          <p:cNvSpPr/>
          <p:nvPr/>
        </p:nvSpPr>
        <p:spPr>
          <a:xfrm>
            <a:off x="594360" y="5029200"/>
            <a:ext cx="1719072" cy="109728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FED00"/>
                </a:solidFill>
                <a:latin typeface="Calibri"/>
              </a:rPr>
              <a:t>1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Карта зон</a:t>
            </a:r>
          </a:p>
        </p:txBody>
      </p:sp>
      <p:sp>
        <p:nvSpPr>
          <p:cNvPr id="28" name="План 2"/>
          <p:cNvSpPr/>
          <p:nvPr/>
        </p:nvSpPr>
        <p:spPr>
          <a:xfrm>
            <a:off x="2485339" y="5029200"/>
            <a:ext cx="1719072" cy="1097280"/>
          </a:xfrm>
          <a:prstGeom prst="roundRect">
            <a:avLst>
              <a:gd name="adj" fmla="val 8000"/>
            </a:avLst>
          </a:prstGeom>
          <a:solidFill>
            <a:srgbClr val="4B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FED00"/>
                </a:solidFill>
                <a:latin typeface="Calibri"/>
              </a:rPr>
              <a:t>2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Холод</a:t>
            </a:r>
          </a:p>
        </p:txBody>
      </p:sp>
      <p:sp>
        <p:nvSpPr>
          <p:cNvPr id="29" name="План 3"/>
          <p:cNvSpPr/>
          <p:nvPr/>
        </p:nvSpPr>
        <p:spPr>
          <a:xfrm>
            <a:off x="4376318" y="5029200"/>
            <a:ext cx="1719072" cy="109728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FED00"/>
                </a:solidFill>
                <a:latin typeface="Calibri"/>
              </a:rPr>
              <a:t>3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Полярная ночь</a:t>
            </a:r>
          </a:p>
        </p:txBody>
      </p:sp>
      <p:sp>
        <p:nvSpPr>
          <p:cNvPr id="30" name="План 4"/>
          <p:cNvSpPr/>
          <p:nvPr/>
        </p:nvSpPr>
        <p:spPr>
          <a:xfrm>
            <a:off x="6267297" y="5029200"/>
            <a:ext cx="1719072" cy="1097280"/>
          </a:xfrm>
          <a:prstGeom prst="roundRect">
            <a:avLst>
              <a:gd name="adj" fmla="val 8000"/>
            </a:avLst>
          </a:prstGeom>
          <a:solidFill>
            <a:srgbClr val="4B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FED00"/>
                </a:solidFill>
                <a:latin typeface="Calibri"/>
              </a:rPr>
              <a:t>4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Изоляция</a:t>
            </a:r>
          </a:p>
        </p:txBody>
      </p:sp>
      <p:sp>
        <p:nvSpPr>
          <p:cNvPr id="31" name="План 5"/>
          <p:cNvSpPr/>
          <p:nvPr/>
        </p:nvSpPr>
        <p:spPr>
          <a:xfrm>
            <a:off x="8158276" y="5029200"/>
            <a:ext cx="1719072" cy="109728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FED00"/>
                </a:solidFill>
                <a:latin typeface="Calibri"/>
              </a:rPr>
              <a:t>5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Многослойная одежда</a:t>
            </a:r>
          </a:p>
        </p:txBody>
      </p:sp>
      <p:sp>
        <p:nvSpPr>
          <p:cNvPr id="32" name="План 6"/>
          <p:cNvSpPr/>
          <p:nvPr/>
        </p:nvSpPr>
        <p:spPr>
          <a:xfrm>
            <a:off x="10049256" y="5029200"/>
            <a:ext cx="1719072" cy="1097280"/>
          </a:xfrm>
          <a:prstGeom prst="roundRect">
            <a:avLst>
              <a:gd name="adj" fmla="val 8000"/>
            </a:avLst>
          </a:prstGeom>
          <a:solidFill>
            <a:srgbClr val="4B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FED00"/>
                </a:solidFill>
                <a:latin typeface="Calibri"/>
              </a:rPr>
              <a:t>6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График работ и отдыха</a:t>
            </a:r>
          </a:p>
        </p:txBody>
      </p:sp>
    </p:spTree>
    <p:extLst>
      <p:ext uri="{BB962C8B-B14F-4D97-AF65-F5344CB8AC3E}">
        <p14:creationId xmlns:p14="http://schemas.microsoft.com/office/powerpoint/2010/main" val="527513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7988" y="765175"/>
            <a:ext cx="10515600" cy="681885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Карта зон: где и насколько суров климат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330738" y="132112"/>
            <a:ext cx="34733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ru-RU" sz="1600" b="1" dirty="0">
                <a:solidFill>
                  <a:schemeClr val="bg1"/>
                </a:solidFill>
              </a:rPr>
              <a:t>БЕЗОПАСНОСТЬ НА СЕВЕРЕ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-2992"/>
            <a:ext cx="12192000" cy="57140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95" y="141442"/>
            <a:ext cx="3185962" cy="351041"/>
          </a:xfrm>
          <a:prstGeom prst="rect">
            <a:avLst/>
          </a:prstGeom>
        </p:spPr>
      </p:pic>
      <p:sp>
        <p:nvSpPr>
          <p:cNvPr id="10" name="Кольцо 50°"/>
          <p:cNvSpPr/>
          <p:nvPr/>
        </p:nvSpPr>
        <p:spPr>
          <a:xfrm>
            <a:off x="640080" y="1691640"/>
            <a:ext cx="4663440" cy="4663440"/>
          </a:xfrm>
          <a:prstGeom prst="ellipse">
            <a:avLst/>
          </a:prstGeom>
          <a:solidFill>
            <a:srgbClr val="E9E9E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Кольцо 60°"/>
          <p:cNvSpPr/>
          <p:nvPr/>
        </p:nvSpPr>
        <p:spPr>
          <a:xfrm>
            <a:off x="1223010" y="2274570"/>
            <a:ext cx="3497579" cy="3497579"/>
          </a:xfrm>
          <a:prstGeom prst="ellipse">
            <a:avLst/>
          </a:prstGeom>
          <a:solidFill>
            <a:srgbClr val="FFF7B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Кольцо 66.5°"/>
          <p:cNvSpPr/>
          <p:nvPr/>
        </p:nvSpPr>
        <p:spPr>
          <a:xfrm>
            <a:off x="1601914" y="2653474"/>
            <a:ext cx="2739771" cy="2739771"/>
          </a:xfrm>
          <a:prstGeom prst="ellipse">
            <a:avLst/>
          </a:prstGeom>
          <a:solidFill>
            <a:srgbClr val="FFED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Кольцо 80°"/>
          <p:cNvSpPr/>
          <p:nvPr/>
        </p:nvSpPr>
        <p:spPr>
          <a:xfrm>
            <a:off x="2388870" y="3440430"/>
            <a:ext cx="1165860" cy="1165860"/>
          </a:xfrm>
          <a:prstGeom prst="ellipse">
            <a:avLst/>
          </a:prstGeom>
          <a:solidFill>
            <a:srgbClr val="4B4B4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Меридиан 0"/>
          <p:cNvCxnSpPr/>
          <p:nvPr/>
        </p:nvCxnSpPr>
        <p:spPr>
          <a:xfrm>
            <a:off x="2971800" y="4606290"/>
            <a:ext cx="0" cy="174879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Меридиан 45"/>
          <p:cNvCxnSpPr/>
          <p:nvPr/>
        </p:nvCxnSpPr>
        <p:spPr>
          <a:xfrm>
            <a:off x="3383993" y="4435553"/>
            <a:ext cx="1236582" cy="123658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Меридиан 90"/>
          <p:cNvCxnSpPr/>
          <p:nvPr/>
        </p:nvCxnSpPr>
        <p:spPr>
          <a:xfrm>
            <a:off x="3554730" y="4023360"/>
            <a:ext cx="1748790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Меридиан 135"/>
          <p:cNvCxnSpPr/>
          <p:nvPr/>
        </p:nvCxnSpPr>
        <p:spPr>
          <a:xfrm flipV="1">
            <a:off x="3383993" y="2374584"/>
            <a:ext cx="1236582" cy="123658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Меридиан 180"/>
          <p:cNvCxnSpPr/>
          <p:nvPr/>
        </p:nvCxnSpPr>
        <p:spPr>
          <a:xfrm flipV="1">
            <a:off x="2971800" y="1691640"/>
            <a:ext cx="0" cy="174879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Меридиан 225"/>
          <p:cNvCxnSpPr/>
          <p:nvPr/>
        </p:nvCxnSpPr>
        <p:spPr>
          <a:xfrm flipH="1" flipV="1">
            <a:off x="1323024" y="2374584"/>
            <a:ext cx="1236582" cy="123658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Меридиан 270"/>
          <p:cNvCxnSpPr/>
          <p:nvPr/>
        </p:nvCxnSpPr>
        <p:spPr>
          <a:xfrm flipH="1" flipV="1">
            <a:off x="640080" y="4023359"/>
            <a:ext cx="1748790" cy="1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Меридиан 315"/>
          <p:cNvCxnSpPr/>
          <p:nvPr/>
        </p:nvCxnSpPr>
        <p:spPr>
          <a:xfrm flipH="1">
            <a:off x="1323024" y="4435553"/>
            <a:ext cx="1236582" cy="1236582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Точка Мурманск"/>
          <p:cNvSpPr/>
          <p:nvPr/>
        </p:nvSpPr>
        <p:spPr>
          <a:xfrm>
            <a:off x="3586403" y="4995456"/>
            <a:ext cx="109728" cy="109728"/>
          </a:xfrm>
          <a:prstGeom prst="ellipse">
            <a:avLst/>
          </a:prstGeom>
          <a:solidFill>
            <a:srgbClr val="2B2B2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Подпись Мурманск"/>
          <p:cNvSpPr txBox="1"/>
          <p:nvPr/>
        </p:nvSpPr>
        <p:spPr>
          <a:xfrm>
            <a:off x="3705275" y="4940592"/>
            <a:ext cx="676656" cy="219456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000" b="1">
                <a:solidFill>
                  <a:srgbClr val="2B2B2B"/>
                </a:solidFill>
                <a:latin typeface="Calibri"/>
              </a:rPr>
              <a:t>Мурманск</a:t>
            </a:r>
          </a:p>
        </p:txBody>
      </p:sp>
      <p:sp>
        <p:nvSpPr>
          <p:cNvPr id="24" name="Точка Архангельск"/>
          <p:cNvSpPr/>
          <p:nvPr/>
        </p:nvSpPr>
        <p:spPr>
          <a:xfrm>
            <a:off x="3882322" y="5098817"/>
            <a:ext cx="109728" cy="109728"/>
          </a:xfrm>
          <a:prstGeom prst="ellipse">
            <a:avLst/>
          </a:prstGeom>
          <a:solidFill>
            <a:srgbClr val="2B2B2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Подпись Архангельск"/>
          <p:cNvSpPr txBox="1"/>
          <p:nvPr/>
        </p:nvSpPr>
        <p:spPr>
          <a:xfrm>
            <a:off x="4001194" y="5043953"/>
            <a:ext cx="896112" cy="219456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000" b="1">
                <a:solidFill>
                  <a:srgbClr val="2B2B2B"/>
                </a:solidFill>
                <a:latin typeface="Calibri"/>
              </a:rPr>
              <a:t>Архангельск</a:t>
            </a:r>
          </a:p>
        </p:txBody>
      </p:sp>
      <p:sp>
        <p:nvSpPr>
          <p:cNvPr id="26" name="Точка Воркута"/>
          <p:cNvSpPr/>
          <p:nvPr/>
        </p:nvSpPr>
        <p:spPr>
          <a:xfrm>
            <a:off x="4095787" y="4543460"/>
            <a:ext cx="109728" cy="109728"/>
          </a:xfrm>
          <a:prstGeom prst="ellipse">
            <a:avLst/>
          </a:prstGeom>
          <a:solidFill>
            <a:srgbClr val="2B2B2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Подпись Воркута"/>
          <p:cNvSpPr txBox="1"/>
          <p:nvPr/>
        </p:nvSpPr>
        <p:spPr>
          <a:xfrm>
            <a:off x="4214659" y="4488596"/>
            <a:ext cx="603504" cy="219456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000" b="1">
                <a:solidFill>
                  <a:srgbClr val="2B2B2B"/>
                </a:solidFill>
                <a:latin typeface="Calibri"/>
              </a:rPr>
              <a:t>Воркута</a:t>
            </a:r>
          </a:p>
        </p:txBody>
      </p:sp>
      <p:sp>
        <p:nvSpPr>
          <p:cNvPr id="28" name="Точка Диксон"/>
          <p:cNvSpPr/>
          <p:nvPr/>
        </p:nvSpPr>
        <p:spPr>
          <a:xfrm>
            <a:off x="3865579" y="4127244"/>
            <a:ext cx="109728" cy="109728"/>
          </a:xfrm>
          <a:prstGeom prst="ellipse">
            <a:avLst/>
          </a:prstGeom>
          <a:solidFill>
            <a:srgbClr val="2B2B2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Подпись Диксон"/>
          <p:cNvSpPr txBox="1"/>
          <p:nvPr/>
        </p:nvSpPr>
        <p:spPr>
          <a:xfrm>
            <a:off x="3984451" y="4072380"/>
            <a:ext cx="530352" cy="219456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000" b="1">
                <a:solidFill>
                  <a:srgbClr val="2B2B2B"/>
                </a:solidFill>
                <a:latin typeface="Calibri"/>
              </a:rPr>
              <a:t>Диксон</a:t>
            </a:r>
          </a:p>
        </p:txBody>
      </p:sp>
      <p:sp>
        <p:nvSpPr>
          <p:cNvPr id="30" name="Точка Норильск"/>
          <p:cNvSpPr/>
          <p:nvPr/>
        </p:nvSpPr>
        <p:spPr>
          <a:xfrm>
            <a:off x="4120092" y="4006306"/>
            <a:ext cx="109728" cy="109728"/>
          </a:xfrm>
          <a:prstGeom prst="ellipse">
            <a:avLst/>
          </a:prstGeom>
          <a:solidFill>
            <a:srgbClr val="2B2B2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Подпись Норильск"/>
          <p:cNvSpPr txBox="1"/>
          <p:nvPr/>
        </p:nvSpPr>
        <p:spPr>
          <a:xfrm>
            <a:off x="4238964" y="3951442"/>
            <a:ext cx="676656" cy="219456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000" b="1">
                <a:solidFill>
                  <a:srgbClr val="2B2B2B"/>
                </a:solidFill>
                <a:latin typeface="Calibri"/>
              </a:rPr>
              <a:t>Норильск</a:t>
            </a:r>
          </a:p>
        </p:txBody>
      </p:sp>
      <p:sp>
        <p:nvSpPr>
          <p:cNvPr id="32" name="Точка Тикси"/>
          <p:cNvSpPr/>
          <p:nvPr/>
        </p:nvSpPr>
        <p:spPr>
          <a:xfrm>
            <a:off x="3751672" y="3294948"/>
            <a:ext cx="109728" cy="109728"/>
          </a:xfrm>
          <a:prstGeom prst="ellipse">
            <a:avLst/>
          </a:prstGeom>
          <a:solidFill>
            <a:srgbClr val="2B2B2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Подпись Тикси"/>
          <p:cNvSpPr txBox="1"/>
          <p:nvPr/>
        </p:nvSpPr>
        <p:spPr>
          <a:xfrm>
            <a:off x="3870544" y="3240084"/>
            <a:ext cx="457200" cy="219456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000" b="1">
                <a:solidFill>
                  <a:srgbClr val="2B2B2B"/>
                </a:solidFill>
                <a:latin typeface="Calibri"/>
              </a:rPr>
              <a:t>Тикси</a:t>
            </a:r>
          </a:p>
        </p:txBody>
      </p:sp>
      <p:sp>
        <p:nvSpPr>
          <p:cNvPr id="34" name="Точка Якутск"/>
          <p:cNvSpPr/>
          <p:nvPr/>
        </p:nvSpPr>
        <p:spPr>
          <a:xfrm>
            <a:off x="4172753" y="2925896"/>
            <a:ext cx="109728" cy="109728"/>
          </a:xfrm>
          <a:prstGeom prst="ellipse">
            <a:avLst/>
          </a:prstGeom>
          <a:solidFill>
            <a:srgbClr val="2B2B2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Подпись Якутск"/>
          <p:cNvSpPr txBox="1"/>
          <p:nvPr/>
        </p:nvSpPr>
        <p:spPr>
          <a:xfrm>
            <a:off x="4291625" y="2871032"/>
            <a:ext cx="530352" cy="219456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000" b="1">
                <a:solidFill>
                  <a:srgbClr val="2B2B2B"/>
                </a:solidFill>
                <a:latin typeface="Calibri"/>
              </a:rPr>
              <a:t>Якутск</a:t>
            </a:r>
          </a:p>
        </p:txBody>
      </p:sp>
      <p:sp>
        <p:nvSpPr>
          <p:cNvPr id="36" name="Точка Оймякон"/>
          <p:cNvSpPr/>
          <p:nvPr/>
        </p:nvSpPr>
        <p:spPr>
          <a:xfrm>
            <a:off x="3850899" y="2738044"/>
            <a:ext cx="109728" cy="109728"/>
          </a:xfrm>
          <a:prstGeom prst="ellipse">
            <a:avLst/>
          </a:prstGeom>
          <a:solidFill>
            <a:srgbClr val="2B2B2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Подпись Оймякон"/>
          <p:cNvSpPr txBox="1"/>
          <p:nvPr/>
        </p:nvSpPr>
        <p:spPr>
          <a:xfrm>
            <a:off x="3969771" y="2683180"/>
            <a:ext cx="603504" cy="219456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000" b="1">
                <a:solidFill>
                  <a:srgbClr val="2B2B2B"/>
                </a:solidFill>
                <a:latin typeface="Calibri"/>
              </a:rPr>
              <a:t>Оймякон</a:t>
            </a:r>
          </a:p>
        </p:txBody>
      </p:sp>
      <p:sp>
        <p:nvSpPr>
          <p:cNvPr id="38" name="Точка Певек"/>
          <p:cNvSpPr/>
          <p:nvPr/>
        </p:nvSpPr>
        <p:spPr>
          <a:xfrm>
            <a:off x="3116317" y="2802065"/>
            <a:ext cx="109728" cy="109728"/>
          </a:xfrm>
          <a:prstGeom prst="ellipse">
            <a:avLst/>
          </a:prstGeom>
          <a:solidFill>
            <a:srgbClr val="2B2B2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Подпись Певек"/>
          <p:cNvSpPr txBox="1"/>
          <p:nvPr/>
        </p:nvSpPr>
        <p:spPr>
          <a:xfrm>
            <a:off x="2649973" y="2747201"/>
            <a:ext cx="457200" cy="219456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r"/>
            <a:r>
              <a:rPr sz="1000" b="1">
                <a:solidFill>
                  <a:srgbClr val="2B2B2B"/>
                </a:solidFill>
                <a:latin typeface="Calibri"/>
              </a:rPr>
              <a:t>Певек</a:t>
            </a:r>
          </a:p>
        </p:txBody>
      </p:sp>
      <p:sp>
        <p:nvSpPr>
          <p:cNvPr id="40" name="Примечание"/>
          <p:cNvSpPr txBox="1"/>
          <p:nvPr/>
        </p:nvSpPr>
        <p:spPr>
          <a:xfrm>
            <a:off x="457200" y="6291072"/>
            <a:ext cx="5029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  <a:latin typeface="Calibri"/>
              </a:rPr>
              <a:t>Схема в проекции от Северного полюса, не в масштабе. Нуль меридиана — внизу, 90° в. д. — справа.</a:t>
            </a:r>
          </a:p>
        </p:txBody>
      </p:sp>
      <p:sp>
        <p:nvSpPr>
          <p:cNvPr id="41" name="Легенда 1"/>
          <p:cNvSpPr/>
          <p:nvPr/>
        </p:nvSpPr>
        <p:spPr>
          <a:xfrm>
            <a:off x="5943600" y="1737360"/>
            <a:ext cx="457200" cy="457200"/>
          </a:xfrm>
          <a:prstGeom prst="rect">
            <a:avLst/>
          </a:prstGeom>
          <a:solidFill>
            <a:srgbClr val="4B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Зона 1"/>
          <p:cNvSpPr txBox="1"/>
          <p:nvPr/>
        </p:nvSpPr>
        <p:spPr>
          <a:xfrm>
            <a:off x="6583680" y="1673352"/>
            <a:ext cx="5029200" cy="32004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  <a:latin typeface="Calibri"/>
              </a:rPr>
              <a:t>Арктика (севернее ≈ 80° с. ш. и арктические острова)</a:t>
            </a:r>
          </a:p>
        </p:txBody>
      </p:sp>
      <p:sp>
        <p:nvSpPr>
          <p:cNvPr id="43" name="Описание зоны 1"/>
          <p:cNvSpPr txBox="1"/>
          <p:nvPr/>
        </p:nvSpPr>
        <p:spPr>
          <a:xfrm>
            <a:off x="6583680" y="2148840"/>
            <a:ext cx="5029200" cy="59436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400" b="0">
                <a:solidFill>
                  <a:srgbClr val="4B4B4B"/>
                </a:solidFill>
                <a:latin typeface="Calibri"/>
              </a:rPr>
              <a:t>Полярная ночь 100+ суток, зимой −40…−55 °C, ветра и пурга</a:t>
            </a:r>
          </a:p>
        </p:txBody>
      </p:sp>
      <p:sp>
        <p:nvSpPr>
          <p:cNvPr id="44" name="Легенда 2"/>
          <p:cNvSpPr/>
          <p:nvPr/>
        </p:nvSpPr>
        <p:spPr>
          <a:xfrm>
            <a:off x="5943600" y="2880360"/>
            <a:ext cx="457200" cy="457200"/>
          </a:xfrm>
          <a:prstGeom prst="rect">
            <a:avLst/>
          </a:prstGeom>
          <a:solidFill>
            <a:srgbClr val="FFED00"/>
          </a:solidFill>
          <a:ln w="1270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Зона 2"/>
          <p:cNvSpPr txBox="1"/>
          <p:nvPr/>
        </p:nvSpPr>
        <p:spPr>
          <a:xfrm>
            <a:off x="6583680" y="2816352"/>
            <a:ext cx="5029200" cy="32004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  <a:latin typeface="Calibri"/>
              </a:rPr>
              <a:t>За Полярным кругом (66,5–80° с. ш.)</a:t>
            </a:r>
          </a:p>
        </p:txBody>
      </p:sp>
      <p:sp>
        <p:nvSpPr>
          <p:cNvPr id="46" name="Описание зоны 2"/>
          <p:cNvSpPr txBox="1"/>
          <p:nvPr/>
        </p:nvSpPr>
        <p:spPr>
          <a:xfrm>
            <a:off x="6583680" y="3291840"/>
            <a:ext cx="5029200" cy="59436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400" b="0">
                <a:solidFill>
                  <a:srgbClr val="4B4B4B"/>
                </a:solidFill>
                <a:latin typeface="Calibri"/>
              </a:rPr>
              <a:t>Полярная ночь 1–100 суток, зимой −30…−45 °C, полярный день летом</a:t>
            </a:r>
          </a:p>
        </p:txBody>
      </p:sp>
      <p:sp>
        <p:nvSpPr>
          <p:cNvPr id="47" name="Легенда 3"/>
          <p:cNvSpPr/>
          <p:nvPr/>
        </p:nvSpPr>
        <p:spPr>
          <a:xfrm>
            <a:off x="5943600" y="4023359"/>
            <a:ext cx="457200" cy="457200"/>
          </a:xfrm>
          <a:prstGeom prst="rect">
            <a:avLst/>
          </a:prstGeom>
          <a:solidFill>
            <a:srgbClr val="FFF7B0"/>
          </a:solidFill>
          <a:ln w="1270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Зона 3"/>
          <p:cNvSpPr txBox="1"/>
          <p:nvPr/>
        </p:nvSpPr>
        <p:spPr>
          <a:xfrm>
            <a:off x="6583680" y="3959352"/>
            <a:ext cx="5029200" cy="32004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  <a:latin typeface="Calibri"/>
              </a:rPr>
              <a:t>Крайний Север и приравненные местности (≈ 60–66,5°)</a:t>
            </a:r>
          </a:p>
        </p:txBody>
      </p:sp>
      <p:sp>
        <p:nvSpPr>
          <p:cNvPr id="49" name="Описание зоны 3"/>
          <p:cNvSpPr txBox="1"/>
          <p:nvPr/>
        </p:nvSpPr>
        <p:spPr>
          <a:xfrm>
            <a:off x="6583680" y="4434840"/>
            <a:ext cx="5029200" cy="59436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400" b="0">
                <a:solidFill>
                  <a:srgbClr val="4B4B4B"/>
                </a:solidFill>
                <a:latin typeface="Calibri"/>
              </a:rPr>
              <a:t>Зимой до −50…−60 °C (Якутия), длинная холодная зима, гарантии по ТК РФ</a:t>
            </a:r>
          </a:p>
        </p:txBody>
      </p:sp>
      <p:sp>
        <p:nvSpPr>
          <p:cNvPr id="50" name="Легенда 4"/>
          <p:cNvSpPr/>
          <p:nvPr/>
        </p:nvSpPr>
        <p:spPr>
          <a:xfrm>
            <a:off x="5943600" y="5166359"/>
            <a:ext cx="457200" cy="457200"/>
          </a:xfrm>
          <a:prstGeom prst="rect">
            <a:avLst/>
          </a:prstGeom>
          <a:solidFill>
            <a:srgbClr val="E9E9E9"/>
          </a:solidFill>
          <a:ln w="1270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Зона 4"/>
          <p:cNvSpPr txBox="1"/>
          <p:nvPr/>
        </p:nvSpPr>
        <p:spPr>
          <a:xfrm>
            <a:off x="6583680" y="5102352"/>
            <a:ext cx="5029200" cy="32004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  <a:latin typeface="Calibri"/>
              </a:rPr>
              <a:t>Умеренный пояс (для сравнения)</a:t>
            </a:r>
          </a:p>
        </p:txBody>
      </p:sp>
      <p:sp>
        <p:nvSpPr>
          <p:cNvPr id="52" name="Описание зоны 4"/>
          <p:cNvSpPr txBox="1"/>
          <p:nvPr/>
        </p:nvSpPr>
        <p:spPr>
          <a:xfrm>
            <a:off x="6583680" y="5577840"/>
            <a:ext cx="5029200" cy="59436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400" b="0">
                <a:solidFill>
                  <a:srgbClr val="4B4B4B"/>
                </a:solidFill>
                <a:latin typeface="Calibri"/>
              </a:rPr>
              <a:t>Холод опасен, но режим стандартный</a:t>
            </a:r>
          </a:p>
        </p:txBody>
      </p:sp>
    </p:spTree>
    <p:extLst>
      <p:ext uri="{BB962C8B-B14F-4D97-AF65-F5344CB8AC3E}">
        <p14:creationId xmlns:p14="http://schemas.microsoft.com/office/powerpoint/2010/main" val="527513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7988" y="765175"/>
            <a:ext cx="10515600" cy="681885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Холод: что угрожает и как ощущается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330738" y="132112"/>
            <a:ext cx="34733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ru-RU" sz="1600" b="1" dirty="0">
                <a:solidFill>
                  <a:schemeClr val="bg1"/>
                </a:solidFill>
              </a:rPr>
              <a:t>БЕЗОПАСНОСТЬ НА СЕВЕРЕ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-2992"/>
            <a:ext cx="12192000" cy="57140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95" y="141442"/>
            <a:ext cx="3185962" cy="351041"/>
          </a:xfrm>
          <a:prstGeom prst="rect">
            <a:avLst/>
          </a:prstGeom>
        </p:spPr>
      </p:pic>
      <p:sp>
        <p:nvSpPr>
          <p:cNvPr id="10" name="Угроза 1"/>
          <p:cNvSpPr/>
          <p:nvPr/>
        </p:nvSpPr>
        <p:spPr>
          <a:xfrm>
            <a:off x="594360" y="1691640"/>
            <a:ext cx="3200400" cy="214884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1856231"/>
            <a:ext cx="402336" cy="402336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400" b="1">
                <a:solidFill>
                  <a:srgbClr val="2B2B2B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874520"/>
            <a:ext cx="2423160" cy="41148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  <a:latin typeface="Calibri"/>
              </a:rPr>
              <a:t>Переохлаждение</a:t>
            </a:r>
          </a:p>
        </p:txBody>
      </p:sp>
      <p:sp>
        <p:nvSpPr>
          <p:cNvPr id="13" name="Угроза 1 описание"/>
          <p:cNvSpPr txBox="1"/>
          <p:nvPr/>
        </p:nvSpPr>
        <p:spPr>
          <a:xfrm>
            <a:off x="731520" y="2468880"/>
            <a:ext cx="29260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4B4B4B"/>
                </a:solidFill>
                <a:latin typeface="Calibri"/>
              </a:rPr>
              <a:t>Температура тела ниже 35 °C: дрожь, апатия, путаница, затем потеря сознания</a:t>
            </a:r>
          </a:p>
        </p:txBody>
      </p:sp>
      <p:sp>
        <p:nvSpPr>
          <p:cNvPr id="14" name="Угроза 2"/>
          <p:cNvSpPr/>
          <p:nvPr/>
        </p:nvSpPr>
        <p:spPr>
          <a:xfrm>
            <a:off x="3977640" y="1691640"/>
            <a:ext cx="3200400" cy="214884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42232" y="1856231"/>
            <a:ext cx="402336" cy="402336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400" b="1">
                <a:solidFill>
                  <a:srgbClr val="2B2B2B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874520"/>
            <a:ext cx="2423160" cy="41148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  <a:latin typeface="Calibri"/>
              </a:rPr>
              <a:t>Отморожения</a:t>
            </a:r>
          </a:p>
        </p:txBody>
      </p:sp>
      <p:sp>
        <p:nvSpPr>
          <p:cNvPr id="17" name="Угроза 2 описание"/>
          <p:cNvSpPr txBox="1"/>
          <p:nvPr/>
        </p:nvSpPr>
        <p:spPr>
          <a:xfrm>
            <a:off x="4114800" y="2468880"/>
            <a:ext cx="29260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4B4B4B"/>
                </a:solidFill>
                <a:latin typeface="Calibri"/>
              </a:rPr>
              <a:t>Нос, щёки, уши, пальцы: белеет кожа, пропадает чувствительность</a:t>
            </a:r>
          </a:p>
        </p:txBody>
      </p:sp>
      <p:sp>
        <p:nvSpPr>
          <p:cNvPr id="18" name="Угроза 3"/>
          <p:cNvSpPr/>
          <p:nvPr/>
        </p:nvSpPr>
        <p:spPr>
          <a:xfrm>
            <a:off x="594360" y="4023360"/>
            <a:ext cx="3200400" cy="214884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8952" y="4187952"/>
            <a:ext cx="402336" cy="402336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400" b="1">
                <a:solidFill>
                  <a:srgbClr val="2B2B2B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206240"/>
            <a:ext cx="2423160" cy="41148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  <a:latin typeface="Calibri"/>
              </a:rPr>
              <a:t>Ветер и метель</a:t>
            </a:r>
          </a:p>
        </p:txBody>
      </p:sp>
      <p:sp>
        <p:nvSpPr>
          <p:cNvPr id="21" name="Угроза 3 описание"/>
          <p:cNvSpPr txBox="1"/>
          <p:nvPr/>
        </p:nvSpPr>
        <p:spPr>
          <a:xfrm>
            <a:off x="731520" y="4800600"/>
            <a:ext cx="29260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4B4B4B"/>
                </a:solidFill>
                <a:latin typeface="Calibri"/>
              </a:rPr>
              <a:t>Ветер резко усиливает потерю тепла; в пургу пропадает видимость (white-out)</a:t>
            </a:r>
          </a:p>
        </p:txBody>
      </p:sp>
      <p:sp>
        <p:nvSpPr>
          <p:cNvPr id="22" name="Угроза 4"/>
          <p:cNvSpPr/>
          <p:nvPr/>
        </p:nvSpPr>
        <p:spPr>
          <a:xfrm>
            <a:off x="3977640" y="4023360"/>
            <a:ext cx="3200400" cy="214884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42232" y="4187952"/>
            <a:ext cx="402336" cy="402336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400" b="1">
                <a:solidFill>
                  <a:srgbClr val="2B2B2B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206240"/>
            <a:ext cx="2423160" cy="41148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  <a:latin typeface="Calibri"/>
              </a:rPr>
              <a:t>Техника и материалы</a:t>
            </a:r>
          </a:p>
        </p:txBody>
      </p:sp>
      <p:sp>
        <p:nvSpPr>
          <p:cNvPr id="25" name="Угроза 4 описание"/>
          <p:cNvSpPr txBox="1"/>
          <p:nvPr/>
        </p:nvSpPr>
        <p:spPr>
          <a:xfrm>
            <a:off x="4114800" y="4800600"/>
            <a:ext cx="29260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4B4B4B"/>
                </a:solidFill>
                <a:latin typeface="Calibri"/>
              </a:rPr>
              <a:t>Металл прилипает к коже, сталь и пластик становятся хрупкими, садятся батареи</a:t>
            </a:r>
          </a:p>
        </p:txBody>
      </p:sp>
      <p:sp>
        <p:nvSpPr>
          <p:cNvPr id="26" name="Заголовок таблицы"/>
          <p:cNvSpPr txBox="1"/>
          <p:nvPr/>
        </p:nvSpPr>
        <p:spPr>
          <a:xfrm>
            <a:off x="7498079" y="1645920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  <a:latin typeface="Calibri"/>
              </a:rPr>
              <a:t>Ощущаемая температура, °C</a:t>
            </a:r>
          </a:p>
        </p:txBody>
      </p:sp>
      <p:graphicFrame>
        <p:nvGraphicFramePr>
          <p:cNvPr id="27" name="Таблица ветро-холодового индекса"/>
          <p:cNvGraphicFramePr>
            <a:graphicFrameLocks noGrp="1"/>
          </p:cNvGraphicFramePr>
          <p:nvPr/>
        </p:nvGraphicFramePr>
        <p:xfrm>
          <a:off x="7498079" y="2103120"/>
          <a:ext cx="4114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960120"/>
                <a:gridCol w="960120"/>
                <a:gridCol w="960120"/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Воздух</a:t>
                      </a:r>
                    </a:p>
                  </a:txBody>
                  <a:tcPr anchor="ctr"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5 м/с</a:t>
                      </a:r>
                    </a:p>
                  </a:txBody>
                  <a:tcPr anchor="ctr"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10 м/с</a:t>
                      </a:r>
                    </a:p>
                  </a:txBody>
                  <a:tcPr anchor="ctr"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15 м/с</a:t>
                      </a:r>
                    </a:p>
                  </a:txBody>
                  <a:tcPr anchor="ctr">
                    <a:solidFill>
                      <a:srgbClr val="2B2B2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-10 °C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-17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-20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-22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-20 °C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-30</a:t>
                      </a:r>
                    </a:p>
                  </a:txBody>
                  <a:tcPr anchor="ctr">
                    <a:solidFill>
                      <a:srgbClr val="FFF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-34</a:t>
                      </a:r>
                    </a:p>
                  </a:txBody>
                  <a:tcPr anchor="ctr">
                    <a:solidFill>
                      <a:srgbClr val="FFF7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-36</a:t>
                      </a:r>
                    </a:p>
                  </a:txBody>
                  <a:tcPr anchor="ctr">
                    <a:solidFill>
                      <a:srgbClr val="FFF7B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-30 °C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-42</a:t>
                      </a:r>
                    </a:p>
                  </a:txBody>
                  <a:tcPr anchor="ctr">
                    <a:solidFill>
                      <a:srgbClr val="FFED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-47</a:t>
                      </a:r>
                    </a:p>
                  </a:txBody>
                  <a:tcPr anchor="ctr">
                    <a:solidFill>
                      <a:srgbClr val="FFED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-50</a:t>
                      </a:r>
                    </a:p>
                  </a:txBody>
                  <a:tcPr anchor="ctr">
                    <a:solidFill>
                      <a:srgbClr val="FFED0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-40 °C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-55</a:t>
                      </a:r>
                    </a:p>
                  </a:txBody>
                  <a:tcPr anchor="ctr">
                    <a:solidFill>
                      <a:srgbClr val="FFED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-60</a:t>
                      </a:r>
                    </a:p>
                  </a:txBody>
                  <a:tcPr anchor="ctr">
                    <a:solidFill>
                      <a:srgbClr val="FFED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-63</a:t>
                      </a:r>
                    </a:p>
                  </a:txBody>
                  <a:tcPr anchor="ctr">
                    <a:solidFill>
                      <a:srgbClr val="FFED00"/>
                    </a:solidFill>
                  </a:tcPr>
                </a:tc>
              </a:tr>
            </a:tbl>
          </a:graphicData>
        </a:graphic>
      </p:graphicFrame>
      <p:sp>
        <p:nvSpPr>
          <p:cNvPr id="28" name="Пояснение таблицы"/>
          <p:cNvSpPr txBox="1"/>
          <p:nvPr/>
        </p:nvSpPr>
        <p:spPr>
          <a:xfrm>
            <a:off x="7498079" y="5120640"/>
            <a:ext cx="41148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4B4B4B"/>
                </a:solidFill>
                <a:latin typeface="Calibri"/>
              </a:rPr>
              <a:t>Ниже −40 °C ощущаемой температуры открытая кожа может обморозиться за 10–30 минут. Расчёт по индексу JAG/TI.</a:t>
            </a:r>
          </a:p>
        </p:txBody>
      </p:sp>
    </p:spTree>
    <p:extLst>
      <p:ext uri="{BB962C8B-B14F-4D97-AF65-F5344CB8AC3E}">
        <p14:creationId xmlns:p14="http://schemas.microsoft.com/office/powerpoint/2010/main" val="527513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B4B4B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85233" y="919839"/>
            <a:ext cx="105748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cs typeface="Arial" panose="020B0604020202020204" pitchFamily="34" charset="0"/>
              </a:rPr>
              <a:t>ПОЛЯРНАЯ НОЧЬ</a:t>
            </a: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95" y="141442"/>
            <a:ext cx="3185962" cy="351041"/>
          </a:xfrm>
          <a:prstGeom prst="rect">
            <a:avLst/>
          </a:prstGeom>
        </p:spPr>
      </p:pic>
      <p:sp>
        <p:nvSpPr>
          <p:cNvPr id="28" name="Прямоугольник 27"/>
          <p:cNvSpPr/>
          <p:nvPr/>
        </p:nvSpPr>
        <p:spPr>
          <a:xfrm>
            <a:off x="8483138" y="105291"/>
            <a:ext cx="34733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ru-RU" sz="1600" b="1" dirty="0">
                <a:solidFill>
                  <a:schemeClr val="bg1"/>
                </a:solidFill>
              </a:rPr>
              <a:t>БЕЗОПАСНОСТЬ НА СЕВЕРЕ</a:t>
            </a:r>
          </a:p>
        </p:txBody>
      </p:sp>
      <p:sp>
        <p:nvSpPr>
          <p:cNvPr id="29" name="Заголовок диаграммы"/>
          <p:cNvSpPr txBox="1"/>
          <p:nvPr/>
        </p:nvSpPr>
        <p:spPr>
          <a:xfrm>
            <a:off x="594360" y="178308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ED00"/>
                </a:solidFill>
                <a:latin typeface="Calibri"/>
              </a:rPr>
              <a:t>Продолжительность, суток (ориентир)</a:t>
            </a:r>
          </a:p>
        </p:txBody>
      </p:sp>
      <p:sp>
        <p:nvSpPr>
          <p:cNvPr id="30" name="Город 1"/>
          <p:cNvSpPr txBox="1"/>
          <p:nvPr/>
        </p:nvSpPr>
        <p:spPr>
          <a:xfrm>
            <a:off x="594360" y="2286000"/>
            <a:ext cx="5303520" cy="32004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Мурманск</a:t>
            </a:r>
          </a:p>
        </p:txBody>
      </p:sp>
      <p:sp>
        <p:nvSpPr>
          <p:cNvPr id="31" name="Столбец 1"/>
          <p:cNvSpPr/>
          <p:nvPr/>
        </p:nvSpPr>
        <p:spPr>
          <a:xfrm>
            <a:off x="594360" y="2633472"/>
            <a:ext cx="1402080" cy="347472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Значение 1"/>
          <p:cNvSpPr txBox="1"/>
          <p:nvPr/>
        </p:nvSpPr>
        <p:spPr>
          <a:xfrm>
            <a:off x="2087880" y="2633472"/>
            <a:ext cx="91440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≈40</a:t>
            </a:r>
          </a:p>
        </p:txBody>
      </p:sp>
      <p:sp>
        <p:nvSpPr>
          <p:cNvPr id="33" name="Город 2"/>
          <p:cNvSpPr txBox="1"/>
          <p:nvPr/>
        </p:nvSpPr>
        <p:spPr>
          <a:xfrm>
            <a:off x="594360" y="3154680"/>
            <a:ext cx="5303520" cy="32004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Норильск</a:t>
            </a:r>
          </a:p>
        </p:txBody>
      </p:sp>
      <p:sp>
        <p:nvSpPr>
          <p:cNvPr id="34" name="Столбец 2"/>
          <p:cNvSpPr/>
          <p:nvPr/>
        </p:nvSpPr>
        <p:spPr>
          <a:xfrm>
            <a:off x="594360" y="3502152"/>
            <a:ext cx="1577339" cy="347472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Значение 2"/>
          <p:cNvSpPr txBox="1"/>
          <p:nvPr/>
        </p:nvSpPr>
        <p:spPr>
          <a:xfrm>
            <a:off x="2263140" y="3502152"/>
            <a:ext cx="91440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≈45</a:t>
            </a:r>
          </a:p>
        </p:txBody>
      </p:sp>
      <p:sp>
        <p:nvSpPr>
          <p:cNvPr id="36" name="Город 3"/>
          <p:cNvSpPr txBox="1"/>
          <p:nvPr/>
        </p:nvSpPr>
        <p:spPr>
          <a:xfrm>
            <a:off x="594360" y="4023360"/>
            <a:ext cx="5303520" cy="32004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Диксон</a:t>
            </a:r>
          </a:p>
        </p:txBody>
      </p:sp>
      <p:sp>
        <p:nvSpPr>
          <p:cNvPr id="37" name="Столбец 3"/>
          <p:cNvSpPr/>
          <p:nvPr/>
        </p:nvSpPr>
        <p:spPr>
          <a:xfrm>
            <a:off x="594360" y="4370832"/>
            <a:ext cx="2804160" cy="347472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Значение 3"/>
          <p:cNvSpPr txBox="1"/>
          <p:nvPr/>
        </p:nvSpPr>
        <p:spPr>
          <a:xfrm>
            <a:off x="3489960" y="4370832"/>
            <a:ext cx="91440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≈80</a:t>
            </a:r>
          </a:p>
        </p:txBody>
      </p:sp>
      <p:sp>
        <p:nvSpPr>
          <p:cNvPr id="39" name="Город 4"/>
          <p:cNvSpPr txBox="1"/>
          <p:nvPr/>
        </p:nvSpPr>
        <p:spPr>
          <a:xfrm>
            <a:off x="594360" y="4892040"/>
            <a:ext cx="5303520" cy="32004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Арктические острова</a:t>
            </a:r>
          </a:p>
        </p:txBody>
      </p:sp>
      <p:sp>
        <p:nvSpPr>
          <p:cNvPr id="40" name="Столбец 4"/>
          <p:cNvSpPr/>
          <p:nvPr/>
        </p:nvSpPr>
        <p:spPr>
          <a:xfrm>
            <a:off x="594360" y="5239512"/>
            <a:ext cx="4206240" cy="347472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Значение 4"/>
          <p:cNvSpPr txBox="1"/>
          <p:nvPr/>
        </p:nvSpPr>
        <p:spPr>
          <a:xfrm>
            <a:off x="4892040" y="5239512"/>
            <a:ext cx="91440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≈120</a:t>
            </a:r>
          </a:p>
        </p:txBody>
      </p:sp>
      <p:sp>
        <p:nvSpPr>
          <p:cNvPr id="42" name="Примечание"/>
          <p:cNvSpPr txBox="1"/>
          <p:nvPr/>
        </p:nvSpPr>
        <p:spPr>
          <a:xfrm>
            <a:off x="594360" y="580644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Calibri"/>
              </a:rPr>
              <a:t>Для островов — «до ≈ 120 и более», точное значение зависит от широты.</a:t>
            </a:r>
          </a:p>
        </p:txBody>
      </p:sp>
      <p:sp>
        <p:nvSpPr>
          <p:cNvPr id="43" name="Чем опасна"/>
          <p:cNvSpPr/>
          <p:nvPr/>
        </p:nvSpPr>
        <p:spPr>
          <a:xfrm>
            <a:off x="6309360" y="1783080"/>
            <a:ext cx="5303520" cy="2148840"/>
          </a:xfrm>
          <a:prstGeom prst="roundRect">
            <a:avLst>
              <a:gd name="adj" fmla="val 8000"/>
            </a:avLst>
          </a:prstGeom>
          <a:solidFill>
            <a:srgbClr val="4B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1892807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600" b="1">
                <a:solidFill>
                  <a:srgbClr val="FFED00"/>
                </a:solidFill>
                <a:latin typeface="Calibri"/>
              </a:rPr>
              <a:t>Чем опасна</a:t>
            </a:r>
          </a:p>
        </p:txBody>
      </p:sp>
      <p:sp>
        <p:nvSpPr>
          <p:cNvPr id="45" name="Чем опасна список"/>
          <p:cNvSpPr txBox="1"/>
          <p:nvPr/>
        </p:nvSpPr>
        <p:spPr>
          <a:xfrm>
            <a:off x="6446520" y="2350008"/>
            <a:ext cx="5029200" cy="150876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FFED00"/>
                </a:solidFill>
                <a:latin typeface="Calibri"/>
              </a:rPr>
              <a:t>■  </a:t>
            </a:r>
            <a:r>
              <a:rPr sz="1400" b="0">
                <a:solidFill>
                  <a:srgbClr val="FFFFFF"/>
                </a:solidFill>
                <a:latin typeface="Calibri"/>
              </a:rPr>
              <a:t>Сбой суточного ритма, сонливость, падает внимание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FFED00"/>
                </a:solidFill>
                <a:latin typeface="Calibri"/>
              </a:rPr>
              <a:t>■  </a:t>
            </a:r>
            <a:r>
              <a:rPr sz="1400" b="0">
                <a:solidFill>
                  <a:srgbClr val="FFFFFF"/>
                </a:solidFill>
                <a:latin typeface="Calibri"/>
              </a:rPr>
              <a:t>Рост травм, ДТП и падений в темноте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FFED00"/>
                </a:solidFill>
                <a:latin typeface="Calibri"/>
              </a:rPr>
              <a:t>■  </a:t>
            </a:r>
            <a:r>
              <a:rPr sz="1400" b="0">
                <a:solidFill>
                  <a:srgbClr val="FFFFFF"/>
                </a:solidFill>
                <a:latin typeface="Calibri"/>
              </a:rPr>
              <a:t>Потеря ориентации, особенно в пургу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FFED00"/>
                </a:solidFill>
                <a:latin typeface="Calibri"/>
              </a:rPr>
              <a:t>■  </a:t>
            </a:r>
            <a:r>
              <a:rPr sz="1400" b="0">
                <a:solidFill>
                  <a:srgbClr val="FFFFFF"/>
                </a:solidFill>
                <a:latin typeface="Calibri"/>
              </a:rPr>
              <a:t>Сезонная депрессия и раздражительность</a:t>
            </a:r>
          </a:p>
        </p:txBody>
      </p:sp>
      <p:sp>
        <p:nvSpPr>
          <p:cNvPr id="46" name="Что делать"/>
          <p:cNvSpPr/>
          <p:nvPr/>
        </p:nvSpPr>
        <p:spPr>
          <a:xfrm>
            <a:off x="6309360" y="4114800"/>
            <a:ext cx="5303520" cy="2148840"/>
          </a:xfrm>
          <a:prstGeom prst="roundRect">
            <a:avLst>
              <a:gd name="adj" fmla="val 8000"/>
            </a:avLst>
          </a:prstGeom>
          <a:solidFill>
            <a:srgbClr val="4B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4224528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600" b="1">
                <a:solidFill>
                  <a:srgbClr val="FFED00"/>
                </a:solidFill>
                <a:latin typeface="Calibri"/>
              </a:rPr>
              <a:t>Что делать</a:t>
            </a:r>
          </a:p>
        </p:txBody>
      </p:sp>
      <p:sp>
        <p:nvSpPr>
          <p:cNvPr id="48" name="Что делать список"/>
          <p:cNvSpPr txBox="1"/>
          <p:nvPr/>
        </p:nvSpPr>
        <p:spPr>
          <a:xfrm>
            <a:off x="6446520" y="4681728"/>
            <a:ext cx="5029200" cy="150876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FFED00"/>
                </a:solidFill>
                <a:latin typeface="Calibri"/>
              </a:rPr>
              <a:t>■  </a:t>
            </a:r>
            <a:r>
              <a:rPr sz="1400" b="0">
                <a:solidFill>
                  <a:srgbClr val="FFFFFF"/>
                </a:solidFill>
                <a:latin typeface="Calibri"/>
              </a:rPr>
              <a:t>Налобный фонарь и запасные элементы питания в тепле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FFED00"/>
                </a:solidFill>
                <a:latin typeface="Calibri"/>
              </a:rPr>
              <a:t>■  </a:t>
            </a:r>
            <a:r>
              <a:rPr sz="1400" b="0">
                <a:solidFill>
                  <a:srgbClr val="FFFFFF"/>
                </a:solidFill>
                <a:latin typeface="Calibri"/>
              </a:rPr>
              <a:t>Светоотражающие элементы, вешки на маршруте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FFED00"/>
                </a:solidFill>
                <a:latin typeface="Calibri"/>
              </a:rPr>
              <a:t>■  </a:t>
            </a:r>
            <a:r>
              <a:rPr sz="1400" b="0">
                <a:solidFill>
                  <a:srgbClr val="FFFFFF"/>
                </a:solidFill>
                <a:latin typeface="Calibri"/>
              </a:rPr>
              <a:t>Фиксированный режим сна, яркий свет в помещении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FFED00"/>
                </a:solidFill>
                <a:latin typeface="Calibri"/>
              </a:rPr>
              <a:t>■  </a:t>
            </a:r>
            <a:r>
              <a:rPr sz="1400" b="0">
                <a:solidFill>
                  <a:srgbClr val="FFFFFF"/>
                </a:solidFill>
                <a:latin typeface="Calibri"/>
              </a:rPr>
              <a:t>Витамин D и светотерапия — по рекомендации врача</a:t>
            </a:r>
          </a:p>
        </p:txBody>
      </p:sp>
    </p:spTree>
    <p:extLst>
      <p:ext uri="{BB962C8B-B14F-4D97-AF65-F5344CB8AC3E}">
        <p14:creationId xmlns:p14="http://schemas.microsoft.com/office/powerpoint/2010/main" val="1123883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7988" y="765175"/>
            <a:ext cx="10515600" cy="681885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Изоляция: автономность и психологическая устойчивость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330738" y="132112"/>
            <a:ext cx="34733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ru-RU" sz="1600" b="1" dirty="0">
                <a:solidFill>
                  <a:schemeClr val="bg1"/>
                </a:solidFill>
              </a:rPr>
              <a:t>БЕЗОПАСНОСТЬ НА СЕВЕРЕ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-2992"/>
            <a:ext cx="12192000" cy="57140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95" y="141442"/>
            <a:ext cx="3185962" cy="351041"/>
          </a:xfrm>
          <a:prstGeom prst="rect">
            <a:avLst/>
          </a:prstGeom>
        </p:spPr>
      </p:pic>
      <p:sp>
        <p:nvSpPr>
          <p:cNvPr id="10" name="Риски"/>
          <p:cNvSpPr/>
          <p:nvPr/>
        </p:nvSpPr>
        <p:spPr>
          <a:xfrm>
            <a:off x="594360" y="1691640"/>
            <a:ext cx="5394960" cy="54864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" bIns="27432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Риски</a:t>
            </a:r>
          </a:p>
        </p:txBody>
      </p:sp>
      <p:sp>
        <p:nvSpPr>
          <p:cNvPr id="11" name="Риски 1"/>
          <p:cNvSpPr/>
          <p:nvPr/>
        </p:nvSpPr>
        <p:spPr>
          <a:xfrm>
            <a:off x="594360" y="2377440"/>
            <a:ext cx="5394960" cy="658368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Риски 1 текст"/>
          <p:cNvSpPr txBox="1"/>
          <p:nvPr/>
        </p:nvSpPr>
        <p:spPr>
          <a:xfrm>
            <a:off x="731520" y="2377440"/>
            <a:ext cx="5120640" cy="658368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Calibri"/>
              </a:rPr>
              <a:t>Нет помощи рядом — </a:t>
            </a:r>
            <a:r>
              <a:rPr sz="1400" b="0">
                <a:solidFill>
                  <a:srgbClr val="4B4B4B"/>
                </a:solidFill>
                <a:latin typeface="Calibri"/>
              </a:rPr>
              <a:t>спасатели и врач в часах и сутках пути</a:t>
            </a:r>
          </a:p>
        </p:txBody>
      </p:sp>
      <p:sp>
        <p:nvSpPr>
          <p:cNvPr id="13" name="Риски 2"/>
          <p:cNvSpPr/>
          <p:nvPr/>
        </p:nvSpPr>
        <p:spPr>
          <a:xfrm>
            <a:off x="594360" y="3127248"/>
            <a:ext cx="5394960" cy="658368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Риски 2 текст"/>
          <p:cNvSpPr txBox="1"/>
          <p:nvPr/>
        </p:nvSpPr>
        <p:spPr>
          <a:xfrm>
            <a:off x="731520" y="3127248"/>
            <a:ext cx="5120640" cy="658368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Calibri"/>
              </a:rPr>
              <a:t>Потеря связи — </a:t>
            </a:r>
            <a:r>
              <a:rPr sz="1400" b="0">
                <a:solidFill>
                  <a:srgbClr val="4B4B4B"/>
                </a:solidFill>
                <a:latin typeface="Calibri"/>
              </a:rPr>
              <a:t>сотовой связи нет, нужны рация и спутник</a:t>
            </a:r>
          </a:p>
        </p:txBody>
      </p:sp>
      <p:sp>
        <p:nvSpPr>
          <p:cNvPr id="15" name="Риски 3"/>
          <p:cNvSpPr/>
          <p:nvPr/>
        </p:nvSpPr>
        <p:spPr>
          <a:xfrm>
            <a:off x="594360" y="3877056"/>
            <a:ext cx="5394960" cy="658368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Риски 3 текст"/>
          <p:cNvSpPr txBox="1"/>
          <p:nvPr/>
        </p:nvSpPr>
        <p:spPr>
          <a:xfrm>
            <a:off x="731520" y="3877056"/>
            <a:ext cx="5120640" cy="658368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Calibri"/>
              </a:rPr>
              <a:t>Конфликты в группе — </a:t>
            </a:r>
            <a:r>
              <a:rPr sz="1400" b="0">
                <a:solidFill>
                  <a:srgbClr val="4B4B4B"/>
                </a:solidFill>
                <a:latin typeface="Calibri"/>
              </a:rPr>
              <a:t>теснота, усталость, однообразие</a:t>
            </a:r>
          </a:p>
        </p:txBody>
      </p:sp>
      <p:sp>
        <p:nvSpPr>
          <p:cNvPr id="17" name="Риски 4"/>
          <p:cNvSpPr/>
          <p:nvPr/>
        </p:nvSpPr>
        <p:spPr>
          <a:xfrm>
            <a:off x="594360" y="4626864"/>
            <a:ext cx="5394960" cy="658368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Риски 4 текст"/>
          <p:cNvSpPr txBox="1"/>
          <p:nvPr/>
        </p:nvSpPr>
        <p:spPr>
          <a:xfrm>
            <a:off x="731520" y="4626864"/>
            <a:ext cx="5120640" cy="658368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Calibri"/>
              </a:rPr>
              <a:t>Нарушения сна — </a:t>
            </a:r>
            <a:r>
              <a:rPr sz="1400" b="0">
                <a:solidFill>
                  <a:srgbClr val="4B4B4B"/>
                </a:solidFill>
                <a:latin typeface="Calibri"/>
              </a:rPr>
              <a:t>свет, ритм, нагрузка, настроение</a:t>
            </a:r>
          </a:p>
        </p:txBody>
      </p:sp>
      <p:sp>
        <p:nvSpPr>
          <p:cNvPr id="19" name="Меры"/>
          <p:cNvSpPr/>
          <p:nvPr/>
        </p:nvSpPr>
        <p:spPr>
          <a:xfrm>
            <a:off x="6217920" y="1691640"/>
            <a:ext cx="5394960" cy="548640"/>
          </a:xfrm>
          <a:prstGeom prst="roundRect">
            <a:avLst>
              <a:gd name="adj" fmla="val 8000"/>
            </a:avLst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" bIns="27432"/>
          <a:lstStyle/>
          <a:p>
            <a:pPr algn="l"/>
            <a:r>
              <a:rPr sz="1600" b="1">
                <a:solidFill>
                  <a:srgbClr val="2B2B2B"/>
                </a:solidFill>
                <a:latin typeface="Calibri"/>
              </a:rPr>
              <a:t>Меры</a:t>
            </a:r>
          </a:p>
        </p:txBody>
      </p:sp>
      <p:sp>
        <p:nvSpPr>
          <p:cNvPr id="20" name="Меры 1"/>
          <p:cNvSpPr/>
          <p:nvPr/>
        </p:nvSpPr>
        <p:spPr>
          <a:xfrm>
            <a:off x="6217920" y="2377440"/>
            <a:ext cx="5394960" cy="658368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Меры 1 текст"/>
          <p:cNvSpPr txBox="1"/>
          <p:nvPr/>
        </p:nvSpPr>
        <p:spPr>
          <a:xfrm>
            <a:off x="6355080" y="2377440"/>
            <a:ext cx="5120640" cy="658368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Calibri"/>
              </a:rPr>
              <a:t>Правило «не один» — </a:t>
            </a:r>
            <a:r>
              <a:rPr sz="1400" b="0">
                <a:solidFill>
                  <a:srgbClr val="4B4B4B"/>
                </a:solidFill>
                <a:latin typeface="Calibri"/>
              </a:rPr>
              <a:t>работа и выезды минимум вдвоём</a:t>
            </a:r>
          </a:p>
        </p:txBody>
      </p:sp>
      <p:sp>
        <p:nvSpPr>
          <p:cNvPr id="22" name="Меры 2"/>
          <p:cNvSpPr/>
          <p:nvPr/>
        </p:nvSpPr>
        <p:spPr>
          <a:xfrm>
            <a:off x="6217920" y="3127248"/>
            <a:ext cx="5394960" cy="658368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Меры 2 текст"/>
          <p:cNvSpPr txBox="1"/>
          <p:nvPr/>
        </p:nvSpPr>
        <p:spPr>
          <a:xfrm>
            <a:off x="6355080" y="3127248"/>
            <a:ext cx="5120640" cy="658368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Calibri"/>
              </a:rPr>
              <a:t>План маршрута — </a:t>
            </a:r>
            <a:r>
              <a:rPr sz="1400" b="0">
                <a:solidFill>
                  <a:srgbClr val="4B4B4B"/>
                </a:solidFill>
                <a:latin typeface="Calibri"/>
              </a:rPr>
              <a:t>сдан диспетчеру, связь по графику</a:t>
            </a:r>
          </a:p>
        </p:txBody>
      </p:sp>
      <p:sp>
        <p:nvSpPr>
          <p:cNvPr id="24" name="Меры 3"/>
          <p:cNvSpPr/>
          <p:nvPr/>
        </p:nvSpPr>
        <p:spPr>
          <a:xfrm>
            <a:off x="6217920" y="3877056"/>
            <a:ext cx="5394960" cy="658368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Меры 3 текст"/>
          <p:cNvSpPr txBox="1"/>
          <p:nvPr/>
        </p:nvSpPr>
        <p:spPr>
          <a:xfrm>
            <a:off x="6355080" y="3877056"/>
            <a:ext cx="5120640" cy="658368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Calibri"/>
              </a:rPr>
              <a:t>Автономный запас — </a:t>
            </a:r>
            <a:r>
              <a:rPr sz="1400" b="0">
                <a:solidFill>
                  <a:srgbClr val="4B4B4B"/>
                </a:solidFill>
                <a:latin typeface="Calibri"/>
              </a:rPr>
              <a:t>еда, топливо, тепло, аптечка на 72 часа</a:t>
            </a:r>
          </a:p>
        </p:txBody>
      </p:sp>
      <p:sp>
        <p:nvSpPr>
          <p:cNvPr id="26" name="Меры 4"/>
          <p:cNvSpPr/>
          <p:nvPr/>
        </p:nvSpPr>
        <p:spPr>
          <a:xfrm>
            <a:off x="6217920" y="4626864"/>
            <a:ext cx="5394960" cy="658368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Меры 4 текст"/>
          <p:cNvSpPr txBox="1"/>
          <p:nvPr/>
        </p:nvSpPr>
        <p:spPr>
          <a:xfrm>
            <a:off x="6355080" y="4626864"/>
            <a:ext cx="5120640" cy="658368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Calibri"/>
              </a:rPr>
              <a:t>Режим и роли — </a:t>
            </a:r>
            <a:r>
              <a:rPr sz="1400" b="0">
                <a:solidFill>
                  <a:srgbClr val="4B4B4B"/>
                </a:solidFill>
                <a:latin typeface="Calibri"/>
              </a:rPr>
              <a:t>распорядок дня, обязанности, общение</a:t>
            </a:r>
          </a:p>
        </p:txBody>
      </p:sp>
      <p:sp>
        <p:nvSpPr>
          <p:cNvPr id="28" name="Правило"/>
          <p:cNvSpPr/>
          <p:nvPr/>
        </p:nvSpPr>
        <p:spPr>
          <a:xfrm>
            <a:off x="594360" y="5486400"/>
            <a:ext cx="11018520" cy="777240"/>
          </a:xfrm>
          <a:prstGeom prst="roundRect">
            <a:avLst>
              <a:gd name="adj" fmla="val 8000"/>
            </a:avLst>
          </a:prstGeom>
          <a:solidFill>
            <a:srgbClr val="4B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500" b="1">
                <a:solidFill>
                  <a:srgbClr val="FFED00"/>
                </a:solidFill>
                <a:latin typeface="Calibri"/>
              </a:rPr>
              <a:t>Золотое правило: </a:t>
            </a:r>
            <a:r>
              <a:rPr sz="1500" b="0">
                <a:solidFill>
                  <a:srgbClr val="FFFFFF"/>
                </a:solidFill>
                <a:latin typeface="Calibri"/>
              </a:rPr>
              <a:t>никто не выходит в одиночку, без связи и без сообщённого маршрута</a:t>
            </a:r>
          </a:p>
        </p:txBody>
      </p:sp>
    </p:spTree>
    <p:extLst>
      <p:ext uri="{BB962C8B-B14F-4D97-AF65-F5344CB8AC3E}">
        <p14:creationId xmlns:p14="http://schemas.microsoft.com/office/powerpoint/2010/main" val="527513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7988" y="765175"/>
            <a:ext cx="10515600" cy="681885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Многослойная система одежды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330738" y="132112"/>
            <a:ext cx="34733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ru-RU" sz="1600" b="1" dirty="0">
                <a:solidFill>
                  <a:schemeClr val="bg1"/>
                </a:solidFill>
              </a:rPr>
              <a:t>БЕЗОПАСНОСТЬ НА СЕВЕРЕ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-2992"/>
            <a:ext cx="12192000" cy="57140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95" y="141442"/>
            <a:ext cx="3185962" cy="351041"/>
          </a:xfrm>
          <a:prstGeom prst="rect">
            <a:avLst/>
          </a:prstGeom>
        </p:spPr>
      </p:pic>
      <p:sp>
        <p:nvSpPr>
          <p:cNvPr id="10" name="Слой 3 (защитный)"/>
          <p:cNvSpPr/>
          <p:nvPr/>
        </p:nvSpPr>
        <p:spPr>
          <a:xfrm>
            <a:off x="685800" y="1737360"/>
            <a:ext cx="4663440" cy="4663440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Слой 2 (утепляющий)"/>
          <p:cNvSpPr/>
          <p:nvPr/>
        </p:nvSpPr>
        <p:spPr>
          <a:xfrm>
            <a:off x="1234439" y="2286000"/>
            <a:ext cx="3566160" cy="3566160"/>
          </a:xfrm>
          <a:prstGeom prst="ellipse">
            <a:avLst/>
          </a:prstGeom>
          <a:solidFill>
            <a:srgbClr val="4B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Слой 1 (базовый)"/>
          <p:cNvSpPr/>
          <p:nvPr/>
        </p:nvSpPr>
        <p:spPr>
          <a:xfrm>
            <a:off x="1783079" y="2834640"/>
            <a:ext cx="2468880" cy="2468880"/>
          </a:xfrm>
          <a:prstGeom prst="ellipse">
            <a:avLst/>
          </a:prstGeom>
          <a:solidFill>
            <a:srgbClr val="FFF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Тело"/>
          <p:cNvSpPr/>
          <p:nvPr/>
        </p:nvSpPr>
        <p:spPr>
          <a:xfrm>
            <a:off x="2377439" y="3429000"/>
            <a:ext cx="1280160" cy="1280160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Подпись Тело"/>
          <p:cNvSpPr txBox="1"/>
          <p:nvPr/>
        </p:nvSpPr>
        <p:spPr>
          <a:xfrm>
            <a:off x="2377439" y="3886200"/>
            <a:ext cx="128016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2B2B2B"/>
                </a:solidFill>
                <a:latin typeface="Calibri"/>
              </a:rPr>
              <a:t>ТЕЛО</a:t>
            </a:r>
          </a:p>
        </p:txBody>
      </p:sp>
      <p:sp>
        <p:nvSpPr>
          <p:cNvPr id="15" name="Подпись 1 · БАЗА"/>
          <p:cNvSpPr txBox="1"/>
          <p:nvPr/>
        </p:nvSpPr>
        <p:spPr>
          <a:xfrm>
            <a:off x="1920239" y="3026664"/>
            <a:ext cx="219456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2B2B2B"/>
                </a:solidFill>
                <a:latin typeface="Calibri"/>
              </a:rPr>
              <a:t>1 · БАЗА</a:t>
            </a:r>
          </a:p>
        </p:txBody>
      </p:sp>
      <p:sp>
        <p:nvSpPr>
          <p:cNvPr id="16" name="Подпись 2 · УТЕПЛЕНИЕ"/>
          <p:cNvSpPr txBox="1"/>
          <p:nvPr/>
        </p:nvSpPr>
        <p:spPr>
          <a:xfrm>
            <a:off x="1920239" y="2432304"/>
            <a:ext cx="219456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· УТЕПЛЕНИЕ</a:t>
            </a:r>
          </a:p>
        </p:txBody>
      </p:sp>
      <p:sp>
        <p:nvSpPr>
          <p:cNvPr id="17" name="Подпись 3 · ЗАЩИТА"/>
          <p:cNvSpPr txBox="1"/>
          <p:nvPr/>
        </p:nvSpPr>
        <p:spPr>
          <a:xfrm>
            <a:off x="1920239" y="1883664"/>
            <a:ext cx="219456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· ЗАЩИТА</a:t>
            </a:r>
          </a:p>
        </p:txBody>
      </p:sp>
      <p:sp>
        <p:nvSpPr>
          <p:cNvPr id="18" name="Слой 1"/>
          <p:cNvSpPr/>
          <p:nvPr/>
        </p:nvSpPr>
        <p:spPr>
          <a:xfrm>
            <a:off x="5897880" y="1691640"/>
            <a:ext cx="5715000" cy="146304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089904" y="1837943"/>
            <a:ext cx="438912" cy="438912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>
                <a:solidFill>
                  <a:srgbClr val="2B2B2B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801368"/>
            <a:ext cx="4846320" cy="36576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Calibri"/>
              </a:rPr>
              <a:t>Базовый слой</a:t>
            </a:r>
          </a:p>
        </p:txBody>
      </p:sp>
      <p:sp>
        <p:nvSpPr>
          <p:cNvPr id="21" name="Слой 1 описание"/>
          <p:cNvSpPr txBox="1"/>
          <p:nvPr/>
        </p:nvSpPr>
        <p:spPr>
          <a:xfrm>
            <a:off x="6675120" y="2194560"/>
            <a:ext cx="4846320" cy="54864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300" b="0">
                <a:solidFill>
                  <a:srgbClr val="4B4B4B"/>
                </a:solidFill>
                <a:latin typeface="Calibri"/>
              </a:rPr>
              <a:t>Отводит пот от кожи. Синтетика или тонкая мериносовая шерсть, плотно к телу.</a:t>
            </a:r>
          </a:p>
        </p:txBody>
      </p:sp>
      <p:sp>
        <p:nvSpPr>
          <p:cNvPr id="22" name="Слой 1 совет"/>
          <p:cNvSpPr txBox="1"/>
          <p:nvPr/>
        </p:nvSpPr>
        <p:spPr>
          <a:xfrm>
            <a:off x="6675120" y="2761488"/>
            <a:ext cx="4846320" cy="32004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200" b="1">
                <a:solidFill>
                  <a:srgbClr val="2B2B2B"/>
                </a:solidFill>
                <a:latin typeface="Calibri"/>
              </a:rPr>
              <a:t>▸ Не хлопок: мокрый, он остывает.</a:t>
            </a:r>
          </a:p>
        </p:txBody>
      </p:sp>
      <p:sp>
        <p:nvSpPr>
          <p:cNvPr id="23" name="Слой 2"/>
          <p:cNvSpPr/>
          <p:nvPr/>
        </p:nvSpPr>
        <p:spPr>
          <a:xfrm>
            <a:off x="5897880" y="3291840"/>
            <a:ext cx="5715000" cy="146304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89904" y="3438144"/>
            <a:ext cx="438912" cy="438912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>
                <a:solidFill>
                  <a:srgbClr val="2B2B2B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401568"/>
            <a:ext cx="4846320" cy="36576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Calibri"/>
              </a:rPr>
              <a:t>Утепляющий слой</a:t>
            </a:r>
          </a:p>
        </p:txBody>
      </p:sp>
      <p:sp>
        <p:nvSpPr>
          <p:cNvPr id="26" name="Слой 2 описание"/>
          <p:cNvSpPr txBox="1"/>
          <p:nvPr/>
        </p:nvSpPr>
        <p:spPr>
          <a:xfrm>
            <a:off x="6675120" y="3794760"/>
            <a:ext cx="4846320" cy="54864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300" b="0">
                <a:solidFill>
                  <a:srgbClr val="4B4B4B"/>
                </a:solidFill>
                <a:latin typeface="Calibri"/>
              </a:rPr>
              <a:t>Держит воздух и тепло. Флис, шерсть, пух, синтетический утеплитель. Слоёв может быть несколько.</a:t>
            </a:r>
          </a:p>
        </p:txBody>
      </p:sp>
      <p:sp>
        <p:nvSpPr>
          <p:cNvPr id="27" name="Слой 2 совет"/>
          <p:cNvSpPr txBox="1"/>
          <p:nvPr/>
        </p:nvSpPr>
        <p:spPr>
          <a:xfrm>
            <a:off x="6675120" y="4361688"/>
            <a:ext cx="4846320" cy="32004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200" b="1">
                <a:solidFill>
                  <a:srgbClr val="2B2B2B"/>
                </a:solidFill>
                <a:latin typeface="Calibri"/>
              </a:rPr>
              <a:t>▸ Не пережимать: тепло — это воздух.</a:t>
            </a:r>
          </a:p>
        </p:txBody>
      </p:sp>
      <p:sp>
        <p:nvSpPr>
          <p:cNvPr id="28" name="Слой 3"/>
          <p:cNvSpPr/>
          <p:nvPr/>
        </p:nvSpPr>
        <p:spPr>
          <a:xfrm>
            <a:off x="5897880" y="4892040"/>
            <a:ext cx="5715000" cy="146304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89904" y="5038344"/>
            <a:ext cx="438912" cy="438912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>
                <a:solidFill>
                  <a:srgbClr val="2B2B2B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001768"/>
            <a:ext cx="4846320" cy="36576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Calibri"/>
              </a:rPr>
              <a:t>Защитный слой</a:t>
            </a:r>
          </a:p>
        </p:txBody>
      </p:sp>
      <p:sp>
        <p:nvSpPr>
          <p:cNvPr id="31" name="Слой 3 описание"/>
          <p:cNvSpPr txBox="1"/>
          <p:nvPr/>
        </p:nvSpPr>
        <p:spPr>
          <a:xfrm>
            <a:off x="6675120" y="5394959"/>
            <a:ext cx="4846320" cy="54864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300" b="0">
                <a:solidFill>
                  <a:srgbClr val="4B4B4B"/>
                </a:solidFill>
                <a:latin typeface="Calibri"/>
              </a:rPr>
              <a:t>Ветро- и влагозащита, капюшон, манжеты и пояс на регулировке. Парка или комбинезон.</a:t>
            </a:r>
          </a:p>
        </p:txBody>
      </p:sp>
      <p:sp>
        <p:nvSpPr>
          <p:cNvPr id="32" name="Слой 3 совет"/>
          <p:cNvSpPr txBox="1"/>
          <p:nvPr/>
        </p:nvSpPr>
        <p:spPr>
          <a:xfrm>
            <a:off x="6675120" y="5961888"/>
            <a:ext cx="4846320" cy="32004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200" b="1">
                <a:solidFill>
                  <a:srgbClr val="2B2B2B"/>
                </a:solidFill>
                <a:latin typeface="Calibri"/>
              </a:rPr>
              <a:t>▸ Вентиляция: молнии, подмышки.</a:t>
            </a:r>
          </a:p>
        </p:txBody>
      </p:sp>
    </p:spTree>
    <p:extLst>
      <p:ext uri="{BB962C8B-B14F-4D97-AF65-F5344CB8AC3E}">
        <p14:creationId xmlns:p14="http://schemas.microsoft.com/office/powerpoint/2010/main" val="527513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7988" y="765175"/>
            <a:ext cx="10515600" cy="681885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Специфика северной одежды и обуви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330738" y="132112"/>
            <a:ext cx="34733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ru-RU" sz="1600" b="1" dirty="0">
                <a:solidFill>
                  <a:schemeClr val="bg1"/>
                </a:solidFill>
              </a:rPr>
              <a:t>БЕЗОПАСНОСТЬ НА СЕВЕРЕ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-2992"/>
            <a:ext cx="12192000" cy="57140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95" y="141442"/>
            <a:ext cx="3185962" cy="351041"/>
          </a:xfrm>
          <a:prstGeom prst="rect">
            <a:avLst/>
          </a:prstGeom>
        </p:spPr>
      </p:pic>
      <p:graphicFrame>
        <p:nvGraphicFramePr>
          <p:cNvPr id="10" name="Таблица одежды"/>
          <p:cNvGraphicFramePr>
            <a:graphicFrameLocks noGrp="1"/>
          </p:cNvGraphicFramePr>
          <p:nvPr/>
        </p:nvGraphicFramePr>
        <p:xfrm>
          <a:off x="594360" y="1691640"/>
          <a:ext cx="110185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120640"/>
                <a:gridCol w="40690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ED00"/>
                          </a:solidFill>
                          <a:latin typeface="Calibri"/>
                        </a:rPr>
                        <a:t>Элемент</a:t>
                      </a:r>
                    </a:p>
                  </a:txBody>
                  <a:tcPr anchor="ctr"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ED00"/>
                          </a:solidFill>
                          <a:latin typeface="Calibri"/>
                        </a:rPr>
                        <a:t>Выбирать</a:t>
                      </a:r>
                    </a:p>
                  </a:txBody>
                  <a:tcPr anchor="ctr"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ED00"/>
                          </a:solidFill>
                          <a:latin typeface="Calibri"/>
                        </a:rPr>
                        <a:t>Избегать</a:t>
                      </a:r>
                    </a:p>
                  </a:txBody>
                  <a:tcPr anchor="ctr">
                    <a:solidFill>
                      <a:srgbClr val="2B2B2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Голова и лицо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Шапка с ветрозащитой или балаклава, капюшон с меховой оторочкой, тёмные очки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Открытые уши, шарф, влажный от дыхания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Руки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Рукавицы с тонкими перчатками-вкладышами, запасная пара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Металл голой рукой — кожа прилипает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Ноги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Обувь на 1–1,5 размера больше, тёплые стельки, 2 пары носков, не сдавливающих ногу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Тесная и влажная обувь, хлопковые носки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Корпус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Свободный крой, регулируемые манжеты, пояс и капюшон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Хлопок и джинсы, одежда, сковывающая движения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Правило пота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Раньше расстёгиваться, чем вспотеть: сухая одежда — это тепло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Работа в одежде, мокрой от пота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11" name="Совет"/>
          <p:cNvSpPr/>
          <p:nvPr/>
        </p:nvSpPr>
        <p:spPr>
          <a:xfrm>
            <a:off x="594360" y="5852160"/>
            <a:ext cx="11018520" cy="502920"/>
          </a:xfrm>
          <a:prstGeom prst="roundRect">
            <a:avLst>
              <a:gd name="adj" fmla="val 8000"/>
            </a:avLst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300" b="1">
                <a:solidFill>
                  <a:srgbClr val="2B2B2B"/>
                </a:solidFill>
                <a:latin typeface="Calibri"/>
              </a:rPr>
              <a:t>Береги кожу и дыхание: закрывай лицо маской или балаклавой, но следи, чтобы они не покрывались льдом</a:t>
            </a:r>
          </a:p>
        </p:txBody>
      </p:sp>
    </p:spTree>
    <p:extLst>
      <p:ext uri="{BB962C8B-B14F-4D97-AF65-F5344CB8AC3E}">
        <p14:creationId xmlns:p14="http://schemas.microsoft.com/office/powerpoint/2010/main" val="527513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7988" y="765175"/>
            <a:ext cx="10515600" cy="681885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График работ и отдыха при низких температурах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330738" y="132112"/>
            <a:ext cx="34733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ru-RU" sz="1600" b="1" dirty="0">
                <a:solidFill>
                  <a:schemeClr val="bg1"/>
                </a:solidFill>
              </a:rPr>
              <a:t>БЕЗОПАСНОСТЬ НА СЕВЕРЕ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-2992"/>
            <a:ext cx="12192000" cy="57140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95" y="141442"/>
            <a:ext cx="3185962" cy="351041"/>
          </a:xfrm>
          <a:prstGeom prst="rect">
            <a:avLst/>
          </a:prstGeom>
        </p:spPr>
      </p:pic>
      <p:graphicFrame>
        <p:nvGraphicFramePr>
          <p:cNvPr id="10" name="Диаграмма режимов"/>
          <p:cNvGraphicFramePr>
            <a:graphicFrameLocks noGrp="1"/>
          </p:cNvGraphicFramePr>
          <p:nvPr/>
        </p:nvGraphicFramePr>
        <p:xfrm>
          <a:off x="502920" y="1645920"/>
          <a:ext cx="630936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Правило 1"/>
          <p:cNvSpPr/>
          <p:nvPr/>
        </p:nvSpPr>
        <p:spPr>
          <a:xfrm>
            <a:off x="7086600" y="1691640"/>
            <a:ext cx="4526280" cy="713232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Правило 1 текст"/>
          <p:cNvSpPr txBox="1"/>
          <p:nvPr/>
        </p:nvSpPr>
        <p:spPr>
          <a:xfrm>
            <a:off x="7223760" y="1691640"/>
            <a:ext cx="4297680" cy="713232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Calibri"/>
              </a:rPr>
              <a:t>Ниже −30 °C: </a:t>
            </a:r>
            <a:r>
              <a:rPr sz="1300" b="0">
                <a:solidFill>
                  <a:srgbClr val="4B4B4B"/>
                </a:solidFill>
                <a:latin typeface="Calibri"/>
              </a:rPr>
              <a:t>работать парами и вести взаимный контроль лица и рук</a:t>
            </a:r>
          </a:p>
        </p:txBody>
      </p:sp>
      <p:sp>
        <p:nvSpPr>
          <p:cNvPr id="13" name="Правило 2"/>
          <p:cNvSpPr/>
          <p:nvPr/>
        </p:nvSpPr>
        <p:spPr>
          <a:xfrm>
            <a:off x="7086600" y="2496312"/>
            <a:ext cx="4526280" cy="713232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Правило 2 текст"/>
          <p:cNvSpPr txBox="1"/>
          <p:nvPr/>
        </p:nvSpPr>
        <p:spPr>
          <a:xfrm>
            <a:off x="7223760" y="2496312"/>
            <a:ext cx="4297680" cy="713232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Calibri"/>
              </a:rPr>
              <a:t>Ветер 10 м/с и больше: </a:t>
            </a:r>
            <a:r>
              <a:rPr sz="1300" b="0">
                <a:solidFill>
                  <a:srgbClr val="4B4B4B"/>
                </a:solidFill>
                <a:latin typeface="Calibri"/>
              </a:rPr>
              <a:t>считать температуру на ступень ниже</a:t>
            </a:r>
          </a:p>
        </p:txBody>
      </p:sp>
      <p:sp>
        <p:nvSpPr>
          <p:cNvPr id="15" name="Правило 3"/>
          <p:cNvSpPr/>
          <p:nvPr/>
        </p:nvSpPr>
        <p:spPr>
          <a:xfrm>
            <a:off x="7086600" y="3300984"/>
            <a:ext cx="4526280" cy="713232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Правило 3 текст"/>
          <p:cNvSpPr txBox="1"/>
          <p:nvPr/>
        </p:nvSpPr>
        <p:spPr>
          <a:xfrm>
            <a:off x="7223760" y="3300984"/>
            <a:ext cx="4297680" cy="713232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Calibri"/>
              </a:rPr>
              <a:t>Тёплое помещение: </a:t>
            </a:r>
            <a:r>
              <a:rPr sz="1300" b="0">
                <a:solidFill>
                  <a:srgbClr val="4B4B4B"/>
                </a:solidFill>
                <a:latin typeface="Calibri"/>
              </a:rPr>
              <a:t>+21…+25 °C, горячее питьё, сушка одежды</a:t>
            </a:r>
          </a:p>
        </p:txBody>
      </p:sp>
      <p:sp>
        <p:nvSpPr>
          <p:cNvPr id="17" name="Правило 4"/>
          <p:cNvSpPr/>
          <p:nvPr/>
        </p:nvSpPr>
        <p:spPr>
          <a:xfrm>
            <a:off x="7086600" y="4105656"/>
            <a:ext cx="4526280" cy="713232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Правило 4 текст"/>
          <p:cNvSpPr txBox="1"/>
          <p:nvPr/>
        </p:nvSpPr>
        <p:spPr>
          <a:xfrm>
            <a:off x="7223760" y="4105656"/>
            <a:ext cx="4297680" cy="713232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Calibri"/>
              </a:rPr>
              <a:t>Ниже −50 °C: </a:t>
            </a:r>
            <a:r>
              <a:rPr sz="1300" b="0">
                <a:solidFill>
                  <a:srgbClr val="4B4B4B"/>
                </a:solidFill>
                <a:latin typeface="Calibri"/>
              </a:rPr>
              <a:t>открытые работы прекращаются, кроме аварийных</a:t>
            </a:r>
          </a:p>
        </p:txBody>
      </p:sp>
      <p:sp>
        <p:nvSpPr>
          <p:cNvPr id="19" name="Заголовок смены"/>
          <p:cNvSpPr txBox="1"/>
          <p:nvPr/>
        </p:nvSpPr>
        <p:spPr>
          <a:xfrm>
            <a:off x="594360" y="502920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Calibri"/>
              </a:rPr>
              <a:t>Пример смены при −30…−40 °C (ориентир), минуты</a:t>
            </a:r>
          </a:p>
        </p:txBody>
      </p:sp>
      <p:sp>
        <p:nvSpPr>
          <p:cNvPr id="20" name="Отрезок 1"/>
          <p:cNvSpPr/>
          <p:nvPr/>
        </p:nvSpPr>
        <p:spPr>
          <a:xfrm>
            <a:off x="594360" y="5440680"/>
            <a:ext cx="1616202" cy="64008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45</a:t>
            </a:r>
          </a:p>
        </p:txBody>
      </p:sp>
      <p:sp>
        <p:nvSpPr>
          <p:cNvPr id="21" name="Подпись отрезка 1"/>
          <p:cNvSpPr txBox="1"/>
          <p:nvPr/>
        </p:nvSpPr>
        <p:spPr>
          <a:xfrm>
            <a:off x="594360" y="6108192"/>
            <a:ext cx="1616202" cy="2743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/>
            <a:r>
              <a:rPr sz="1000" b="0">
                <a:solidFill>
                  <a:srgbClr val="4B4B4B"/>
                </a:solidFill>
                <a:latin typeface="Calibri"/>
              </a:rPr>
              <a:t>Работа</a:t>
            </a:r>
          </a:p>
        </p:txBody>
      </p:sp>
      <p:sp>
        <p:nvSpPr>
          <p:cNvPr id="22" name="Отрезок 2"/>
          <p:cNvSpPr/>
          <p:nvPr/>
        </p:nvSpPr>
        <p:spPr>
          <a:xfrm>
            <a:off x="2247138" y="5440680"/>
            <a:ext cx="697992" cy="640080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1600" b="1">
                <a:solidFill>
                  <a:srgbClr val="2B2B2B"/>
                </a:solidFill>
                <a:latin typeface="Calibri"/>
              </a:rPr>
              <a:t>20</a:t>
            </a:r>
          </a:p>
        </p:txBody>
      </p:sp>
      <p:sp>
        <p:nvSpPr>
          <p:cNvPr id="23" name="Подпись отрезка 2"/>
          <p:cNvSpPr txBox="1"/>
          <p:nvPr/>
        </p:nvSpPr>
        <p:spPr>
          <a:xfrm>
            <a:off x="2247138" y="6108192"/>
            <a:ext cx="697992" cy="2743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/>
            <a:r>
              <a:rPr sz="1000" b="0">
                <a:solidFill>
                  <a:srgbClr val="4B4B4B"/>
                </a:solidFill>
                <a:latin typeface="Calibri"/>
              </a:rPr>
              <a:t>Обогрев</a:t>
            </a:r>
          </a:p>
        </p:txBody>
      </p:sp>
      <p:sp>
        <p:nvSpPr>
          <p:cNvPr id="24" name="Отрезок 3"/>
          <p:cNvSpPr/>
          <p:nvPr/>
        </p:nvSpPr>
        <p:spPr>
          <a:xfrm>
            <a:off x="2981706" y="5440680"/>
            <a:ext cx="1616202" cy="64008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45</a:t>
            </a:r>
          </a:p>
        </p:txBody>
      </p:sp>
      <p:sp>
        <p:nvSpPr>
          <p:cNvPr id="25" name="Подпись отрезка 3"/>
          <p:cNvSpPr txBox="1"/>
          <p:nvPr/>
        </p:nvSpPr>
        <p:spPr>
          <a:xfrm>
            <a:off x="2981706" y="6108192"/>
            <a:ext cx="1616202" cy="2743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/>
            <a:r>
              <a:rPr sz="1000" b="0">
                <a:solidFill>
                  <a:srgbClr val="4B4B4B"/>
                </a:solidFill>
                <a:latin typeface="Calibri"/>
              </a:rPr>
              <a:t>Работа</a:t>
            </a:r>
          </a:p>
        </p:txBody>
      </p:sp>
      <p:sp>
        <p:nvSpPr>
          <p:cNvPr id="26" name="Отрезок 4"/>
          <p:cNvSpPr/>
          <p:nvPr/>
        </p:nvSpPr>
        <p:spPr>
          <a:xfrm>
            <a:off x="4634484" y="5440680"/>
            <a:ext cx="697992" cy="640080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1600" b="1">
                <a:solidFill>
                  <a:srgbClr val="2B2B2B"/>
                </a:solidFill>
                <a:latin typeface="Calibri"/>
              </a:rPr>
              <a:t>20</a:t>
            </a:r>
          </a:p>
        </p:txBody>
      </p:sp>
      <p:sp>
        <p:nvSpPr>
          <p:cNvPr id="27" name="Подпись отрезка 4"/>
          <p:cNvSpPr txBox="1"/>
          <p:nvPr/>
        </p:nvSpPr>
        <p:spPr>
          <a:xfrm>
            <a:off x="4634484" y="6108192"/>
            <a:ext cx="697992" cy="2743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/>
            <a:r>
              <a:rPr sz="1000" b="0">
                <a:solidFill>
                  <a:srgbClr val="4B4B4B"/>
                </a:solidFill>
                <a:latin typeface="Calibri"/>
              </a:rPr>
              <a:t>Обогрев</a:t>
            </a:r>
          </a:p>
        </p:txBody>
      </p:sp>
      <p:sp>
        <p:nvSpPr>
          <p:cNvPr id="28" name="Отрезок 5"/>
          <p:cNvSpPr/>
          <p:nvPr/>
        </p:nvSpPr>
        <p:spPr>
          <a:xfrm>
            <a:off x="5369052" y="5440680"/>
            <a:ext cx="1616202" cy="64008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45</a:t>
            </a:r>
          </a:p>
        </p:txBody>
      </p:sp>
      <p:sp>
        <p:nvSpPr>
          <p:cNvPr id="29" name="Подпись отрезка 5"/>
          <p:cNvSpPr txBox="1"/>
          <p:nvPr/>
        </p:nvSpPr>
        <p:spPr>
          <a:xfrm>
            <a:off x="5369052" y="6108192"/>
            <a:ext cx="1616202" cy="2743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/>
            <a:r>
              <a:rPr sz="1000" b="0">
                <a:solidFill>
                  <a:srgbClr val="4B4B4B"/>
                </a:solidFill>
                <a:latin typeface="Calibri"/>
              </a:rPr>
              <a:t>Работа</a:t>
            </a:r>
          </a:p>
        </p:txBody>
      </p:sp>
      <p:sp>
        <p:nvSpPr>
          <p:cNvPr id="30" name="Отрезок 6"/>
          <p:cNvSpPr/>
          <p:nvPr/>
        </p:nvSpPr>
        <p:spPr>
          <a:xfrm>
            <a:off x="7021830" y="5440680"/>
            <a:ext cx="2167128" cy="640080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1600" b="1">
                <a:solidFill>
                  <a:srgbClr val="2B2B2B"/>
                </a:solidFill>
                <a:latin typeface="Calibri"/>
              </a:rPr>
              <a:t>60</a:t>
            </a:r>
          </a:p>
        </p:txBody>
      </p:sp>
      <p:sp>
        <p:nvSpPr>
          <p:cNvPr id="31" name="Подпись отрезка 6"/>
          <p:cNvSpPr txBox="1"/>
          <p:nvPr/>
        </p:nvSpPr>
        <p:spPr>
          <a:xfrm>
            <a:off x="7021830" y="6108192"/>
            <a:ext cx="2167128" cy="2743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/>
            <a:r>
              <a:rPr sz="1000" b="0">
                <a:solidFill>
                  <a:srgbClr val="4B4B4B"/>
                </a:solidFill>
                <a:latin typeface="Calibri"/>
              </a:rPr>
              <a:t>Обед и тепло</a:t>
            </a:r>
          </a:p>
        </p:txBody>
      </p:sp>
      <p:sp>
        <p:nvSpPr>
          <p:cNvPr id="32" name="Отрезок 7"/>
          <p:cNvSpPr/>
          <p:nvPr/>
        </p:nvSpPr>
        <p:spPr>
          <a:xfrm>
            <a:off x="9225534" y="5440680"/>
            <a:ext cx="1616202" cy="64008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45</a:t>
            </a:r>
          </a:p>
        </p:txBody>
      </p:sp>
      <p:sp>
        <p:nvSpPr>
          <p:cNvPr id="33" name="Подпись отрезка 7"/>
          <p:cNvSpPr txBox="1"/>
          <p:nvPr/>
        </p:nvSpPr>
        <p:spPr>
          <a:xfrm>
            <a:off x="9225534" y="6108192"/>
            <a:ext cx="1616202" cy="2743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/>
            <a:r>
              <a:rPr sz="1000" b="0">
                <a:solidFill>
                  <a:srgbClr val="4B4B4B"/>
                </a:solidFill>
                <a:latin typeface="Calibri"/>
              </a:rPr>
              <a:t>Работа</a:t>
            </a:r>
          </a:p>
        </p:txBody>
      </p:sp>
      <p:sp>
        <p:nvSpPr>
          <p:cNvPr id="34" name="Отрезок 8"/>
          <p:cNvSpPr/>
          <p:nvPr/>
        </p:nvSpPr>
        <p:spPr>
          <a:xfrm>
            <a:off x="10878312" y="5440680"/>
            <a:ext cx="697992" cy="640080"/>
          </a:xfrm>
          <a:prstGeom prst="rect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27432" bIns="27432"/>
          <a:lstStyle/>
          <a:p>
            <a:pPr algn="ctr"/>
            <a:r>
              <a:rPr sz="1600" b="1">
                <a:solidFill>
                  <a:srgbClr val="2B2B2B"/>
                </a:solidFill>
                <a:latin typeface="Calibri"/>
              </a:rPr>
              <a:t>20</a:t>
            </a:r>
          </a:p>
        </p:txBody>
      </p:sp>
      <p:sp>
        <p:nvSpPr>
          <p:cNvPr id="35" name="Подпись отрезка 8"/>
          <p:cNvSpPr txBox="1"/>
          <p:nvPr/>
        </p:nvSpPr>
        <p:spPr>
          <a:xfrm>
            <a:off x="10878312" y="6108192"/>
            <a:ext cx="697992" cy="2743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/>
            <a:r>
              <a:rPr sz="1000" b="0">
                <a:solidFill>
                  <a:srgbClr val="4B4B4B"/>
                </a:solidFill>
                <a:latin typeface="Calibri"/>
              </a:rPr>
              <a:t>Обогрев</a:t>
            </a:r>
          </a:p>
        </p:txBody>
      </p:sp>
      <p:sp>
        <p:nvSpPr>
          <p:cNvPr id="36" name="Примечание"/>
          <p:cNvSpPr txBox="1"/>
          <p:nvPr/>
        </p:nvSpPr>
        <p:spPr>
          <a:xfrm>
            <a:off x="6400800" y="5029200"/>
            <a:ext cx="5212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8A8A8A"/>
                </a:solidFill>
                <a:latin typeface="Calibri"/>
              </a:rPr>
              <a:t>Ориентир; действующие нормы — МР 2.2.7.2129-06</a:t>
            </a:r>
          </a:p>
        </p:txBody>
      </p:sp>
    </p:spTree>
    <p:extLst>
      <p:ext uri="{BB962C8B-B14F-4D97-AF65-F5344CB8AC3E}">
        <p14:creationId xmlns:p14="http://schemas.microsoft.com/office/powerpoint/2010/main" val="527513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7988" y="765175"/>
            <a:ext cx="10515600" cy="681885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ПЛАКАТ: Безопасность на Крайнем Севере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330738" y="132112"/>
            <a:ext cx="34733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ru-RU" sz="1600" b="1" dirty="0">
                <a:solidFill>
                  <a:schemeClr val="bg1"/>
                </a:solidFill>
              </a:rPr>
              <a:t>БЕЗОПАСНОСТЬ НА СЕВЕРЕ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-2992"/>
            <a:ext cx="12192000" cy="57140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95" y="141442"/>
            <a:ext cx="3185962" cy="351041"/>
          </a:xfrm>
          <a:prstGeom prst="rect">
            <a:avLst/>
          </a:prstGeom>
        </p:spPr>
      </p:pic>
      <p:sp>
        <p:nvSpPr>
          <p:cNvPr id="10" name="Панель 1"/>
          <p:cNvSpPr/>
          <p:nvPr/>
        </p:nvSpPr>
        <p:spPr>
          <a:xfrm>
            <a:off x="502920" y="1600200"/>
            <a:ext cx="3611880" cy="38862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Шапка панели 1"/>
          <p:cNvSpPr/>
          <p:nvPr/>
        </p:nvSpPr>
        <p:spPr>
          <a:xfrm>
            <a:off x="502920" y="1600200"/>
            <a:ext cx="3611880" cy="45720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/>
          <a:lstStyle/>
          <a:p>
            <a:pPr algn="l"/>
            <a:r>
              <a:rPr sz="1400" b="1">
                <a:solidFill>
                  <a:srgbClr val="FFED00"/>
                </a:solidFill>
                <a:latin typeface="Calibri"/>
              </a:rPr>
              <a:t>1 · КАРТА ЗОН</a:t>
            </a:r>
          </a:p>
        </p:txBody>
      </p:sp>
      <p:sp>
        <p:nvSpPr>
          <p:cNvPr id="12" name="Панель 2"/>
          <p:cNvSpPr/>
          <p:nvPr/>
        </p:nvSpPr>
        <p:spPr>
          <a:xfrm>
            <a:off x="4288536" y="1600200"/>
            <a:ext cx="3611880" cy="38862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Шапка панели 2"/>
          <p:cNvSpPr/>
          <p:nvPr/>
        </p:nvSpPr>
        <p:spPr>
          <a:xfrm>
            <a:off x="4288536" y="1600200"/>
            <a:ext cx="3611880" cy="45720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/>
          <a:lstStyle/>
          <a:p>
            <a:pPr algn="l"/>
            <a:r>
              <a:rPr sz="1400" b="1">
                <a:solidFill>
                  <a:srgbClr val="FFED00"/>
                </a:solidFill>
                <a:latin typeface="Calibri"/>
              </a:rPr>
              <a:t>2 · СЛОИ ОДЕЖДЫ</a:t>
            </a:r>
          </a:p>
        </p:txBody>
      </p:sp>
      <p:sp>
        <p:nvSpPr>
          <p:cNvPr id="14" name="Панель 3"/>
          <p:cNvSpPr/>
          <p:nvPr/>
        </p:nvSpPr>
        <p:spPr>
          <a:xfrm>
            <a:off x="8074152" y="1600200"/>
            <a:ext cx="3611880" cy="3886200"/>
          </a:xfrm>
          <a:prstGeom prst="roundRect">
            <a:avLst>
              <a:gd name="adj" fmla="val 8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Шапка панели 3"/>
          <p:cNvSpPr/>
          <p:nvPr/>
        </p:nvSpPr>
        <p:spPr>
          <a:xfrm>
            <a:off x="8074152" y="1600200"/>
            <a:ext cx="3611880" cy="45720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/>
          <a:lstStyle/>
          <a:p>
            <a:pPr algn="l"/>
            <a:r>
              <a:rPr sz="1400" b="1">
                <a:solidFill>
                  <a:srgbClr val="FFED00"/>
                </a:solidFill>
                <a:latin typeface="Calibri"/>
              </a:rPr>
              <a:t>3 · РАБОТА / ОТДЫХ</a:t>
            </a:r>
          </a:p>
        </p:txBody>
      </p:sp>
      <p:sp>
        <p:nvSpPr>
          <p:cNvPr id="16" name="Мини Кольцо 50°"/>
          <p:cNvSpPr/>
          <p:nvPr/>
        </p:nvSpPr>
        <p:spPr>
          <a:xfrm>
            <a:off x="548640" y="2514600"/>
            <a:ext cx="2377440" cy="2377440"/>
          </a:xfrm>
          <a:prstGeom prst="ellipse">
            <a:avLst/>
          </a:prstGeom>
          <a:solidFill>
            <a:srgbClr val="E9E9E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Мини Кольцо 60°"/>
          <p:cNvSpPr/>
          <p:nvPr/>
        </p:nvSpPr>
        <p:spPr>
          <a:xfrm>
            <a:off x="845820" y="2811779"/>
            <a:ext cx="1783080" cy="1783080"/>
          </a:xfrm>
          <a:prstGeom prst="ellipse">
            <a:avLst/>
          </a:prstGeom>
          <a:solidFill>
            <a:srgbClr val="FFF7B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Мини Кольцо 66.5°"/>
          <p:cNvSpPr/>
          <p:nvPr/>
        </p:nvSpPr>
        <p:spPr>
          <a:xfrm>
            <a:off x="1038987" y="3004947"/>
            <a:ext cx="1396746" cy="1396746"/>
          </a:xfrm>
          <a:prstGeom prst="ellipse">
            <a:avLst/>
          </a:prstGeom>
          <a:solidFill>
            <a:srgbClr val="FFED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Мини Кольцо 80°"/>
          <p:cNvSpPr/>
          <p:nvPr/>
        </p:nvSpPr>
        <p:spPr>
          <a:xfrm>
            <a:off x="1440180" y="3406139"/>
            <a:ext cx="594360" cy="594360"/>
          </a:xfrm>
          <a:prstGeom prst="ellipse">
            <a:avLst/>
          </a:prstGeom>
          <a:solidFill>
            <a:srgbClr val="4B4B4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Мини Меридиан 0"/>
          <p:cNvCxnSpPr/>
          <p:nvPr/>
        </p:nvCxnSpPr>
        <p:spPr>
          <a:xfrm>
            <a:off x="1737360" y="4000500"/>
            <a:ext cx="0" cy="89154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Мини Меридиан 45"/>
          <p:cNvCxnSpPr/>
          <p:nvPr/>
        </p:nvCxnSpPr>
        <p:spPr>
          <a:xfrm>
            <a:off x="1947497" y="3913457"/>
            <a:ext cx="630414" cy="630414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Мини Меридиан 90"/>
          <p:cNvCxnSpPr/>
          <p:nvPr/>
        </p:nvCxnSpPr>
        <p:spPr>
          <a:xfrm>
            <a:off x="2034540" y="3703320"/>
            <a:ext cx="891540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Мини Меридиан 135"/>
          <p:cNvCxnSpPr/>
          <p:nvPr/>
        </p:nvCxnSpPr>
        <p:spPr>
          <a:xfrm flipV="1">
            <a:off x="1947497" y="2862768"/>
            <a:ext cx="630414" cy="630414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Мини Меридиан 180"/>
          <p:cNvCxnSpPr/>
          <p:nvPr/>
        </p:nvCxnSpPr>
        <p:spPr>
          <a:xfrm flipV="1">
            <a:off x="1737360" y="2514600"/>
            <a:ext cx="0" cy="891539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Мини Меридиан 225"/>
          <p:cNvCxnSpPr/>
          <p:nvPr/>
        </p:nvCxnSpPr>
        <p:spPr>
          <a:xfrm flipH="1" flipV="1">
            <a:off x="896808" y="2862768"/>
            <a:ext cx="630414" cy="630414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Мини Меридиан 270"/>
          <p:cNvCxnSpPr/>
          <p:nvPr/>
        </p:nvCxnSpPr>
        <p:spPr>
          <a:xfrm flipH="1">
            <a:off x="548640" y="3703320"/>
            <a:ext cx="891540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Мини Меридиан 315"/>
          <p:cNvCxnSpPr/>
          <p:nvPr/>
        </p:nvCxnSpPr>
        <p:spPr>
          <a:xfrm flipH="1">
            <a:off x="896808" y="3913457"/>
            <a:ext cx="630414" cy="630414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Мини легенда 1"/>
          <p:cNvSpPr/>
          <p:nvPr/>
        </p:nvSpPr>
        <p:spPr>
          <a:xfrm>
            <a:off x="640080" y="5029200"/>
            <a:ext cx="164592" cy="164592"/>
          </a:xfrm>
          <a:prstGeom prst="rect">
            <a:avLst/>
          </a:prstGeom>
          <a:solidFill>
            <a:srgbClr val="4B4B4B"/>
          </a:solidFill>
          <a:ln w="1270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Мини подпись 1"/>
          <p:cNvSpPr txBox="1"/>
          <p:nvPr/>
        </p:nvSpPr>
        <p:spPr>
          <a:xfrm>
            <a:off x="841248" y="4983480"/>
            <a:ext cx="1508760" cy="256032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000" b="0">
                <a:solidFill>
                  <a:srgbClr val="2B2B2B"/>
                </a:solidFill>
                <a:latin typeface="Calibri"/>
              </a:rPr>
              <a:t>Арктика</a:t>
            </a:r>
          </a:p>
        </p:txBody>
      </p:sp>
      <p:sp>
        <p:nvSpPr>
          <p:cNvPr id="30" name="Мини легенда 2"/>
          <p:cNvSpPr/>
          <p:nvPr/>
        </p:nvSpPr>
        <p:spPr>
          <a:xfrm>
            <a:off x="2377440" y="5029200"/>
            <a:ext cx="164592" cy="164592"/>
          </a:xfrm>
          <a:prstGeom prst="rect">
            <a:avLst/>
          </a:prstGeom>
          <a:solidFill>
            <a:srgbClr val="FFED00"/>
          </a:solidFill>
          <a:ln w="1270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Мини подпись 2"/>
          <p:cNvSpPr txBox="1"/>
          <p:nvPr/>
        </p:nvSpPr>
        <p:spPr>
          <a:xfrm>
            <a:off x="2578608" y="4983480"/>
            <a:ext cx="1508760" cy="256032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000" b="0">
                <a:solidFill>
                  <a:srgbClr val="2B2B2B"/>
                </a:solidFill>
                <a:latin typeface="Calibri"/>
              </a:rPr>
              <a:t>За Полярным кругом</a:t>
            </a:r>
          </a:p>
        </p:txBody>
      </p:sp>
      <p:sp>
        <p:nvSpPr>
          <p:cNvPr id="32" name="Мини легенда 3"/>
          <p:cNvSpPr/>
          <p:nvPr/>
        </p:nvSpPr>
        <p:spPr>
          <a:xfrm>
            <a:off x="640080" y="5285232"/>
            <a:ext cx="164592" cy="164592"/>
          </a:xfrm>
          <a:prstGeom prst="rect">
            <a:avLst/>
          </a:prstGeom>
          <a:solidFill>
            <a:srgbClr val="FFF7B0"/>
          </a:solidFill>
          <a:ln w="1270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Мини подпись 3"/>
          <p:cNvSpPr txBox="1"/>
          <p:nvPr/>
        </p:nvSpPr>
        <p:spPr>
          <a:xfrm>
            <a:off x="841248" y="5239512"/>
            <a:ext cx="1508760" cy="256032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000" b="0">
                <a:solidFill>
                  <a:srgbClr val="2B2B2B"/>
                </a:solidFill>
                <a:latin typeface="Calibri"/>
              </a:rPr>
              <a:t>РКС и приравненные</a:t>
            </a:r>
          </a:p>
        </p:txBody>
      </p:sp>
      <p:sp>
        <p:nvSpPr>
          <p:cNvPr id="34" name="Мини легенда 4"/>
          <p:cNvSpPr/>
          <p:nvPr/>
        </p:nvSpPr>
        <p:spPr>
          <a:xfrm>
            <a:off x="2377440" y="5285232"/>
            <a:ext cx="164592" cy="164592"/>
          </a:xfrm>
          <a:prstGeom prst="rect">
            <a:avLst/>
          </a:prstGeom>
          <a:solidFill>
            <a:srgbClr val="E9E9E9"/>
          </a:solidFill>
          <a:ln w="1270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Мини подпись 4"/>
          <p:cNvSpPr txBox="1"/>
          <p:nvPr/>
        </p:nvSpPr>
        <p:spPr>
          <a:xfrm>
            <a:off x="2578608" y="5239512"/>
            <a:ext cx="1508760" cy="256032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000" b="0">
                <a:solidFill>
                  <a:srgbClr val="2B2B2B"/>
                </a:solidFill>
                <a:latin typeface="Calibri"/>
              </a:rPr>
              <a:t>Умеренный пояс</a:t>
            </a:r>
          </a:p>
        </p:txBody>
      </p:sp>
      <p:sp>
        <p:nvSpPr>
          <p:cNvPr id="36" name="Мини температуры"/>
          <p:cNvSpPr txBox="1"/>
          <p:nvPr/>
        </p:nvSpPr>
        <p:spPr>
          <a:xfrm>
            <a:off x="3017520" y="2286000"/>
            <a:ext cx="1051560" cy="274320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Calibri"/>
              </a:rPr>
              <a:t>−55</a:t>
            </a:r>
          </a:p>
          <a:p>
            <a:pPr algn="l"/>
            <a:r>
              <a:rPr sz="1000" b="0">
                <a:solidFill>
                  <a:srgbClr val="4B4B4B"/>
                </a:solidFill>
                <a:latin typeface="Calibri"/>
              </a:rPr>
              <a:t>Арктика</a:t>
            </a:r>
          </a:p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/>
            </a:r>
          </a:p>
          <a:p>
            <a:pPr algn="l"/>
            <a:r>
              <a:rPr sz="1600" b="1">
                <a:solidFill>
                  <a:srgbClr val="2B2B2B"/>
                </a:solidFill>
                <a:latin typeface="Calibri"/>
              </a:rPr>
              <a:t>−45</a:t>
            </a:r>
          </a:p>
          <a:p>
            <a:pPr algn="l"/>
            <a:r>
              <a:rPr sz="1000" b="0">
                <a:solidFill>
                  <a:srgbClr val="4B4B4B"/>
                </a:solidFill>
                <a:latin typeface="Calibri"/>
              </a:rPr>
              <a:t>за Полярным кругом</a:t>
            </a:r>
          </a:p>
          <a:p>
            <a:pPr algn="l"/>
            <a:r>
              <a:rPr sz="1200" b="0">
                <a:solidFill>
                  <a:srgbClr val="2B2B2B"/>
                </a:solidFill>
                <a:latin typeface="Calibri"/>
              </a:rPr>
              <a:t/>
            </a:r>
          </a:p>
          <a:p>
            <a:pPr algn="l"/>
            <a:r>
              <a:rPr sz="1600" b="1">
                <a:solidFill>
                  <a:srgbClr val="2B2B2B"/>
                </a:solidFill>
                <a:latin typeface="Calibri"/>
              </a:rPr>
              <a:t>−60</a:t>
            </a:r>
          </a:p>
          <a:p>
            <a:pPr algn="l"/>
            <a:r>
              <a:rPr sz="1000" b="0">
                <a:solidFill>
                  <a:srgbClr val="4B4B4B"/>
                </a:solidFill>
                <a:latin typeface="Calibri"/>
              </a:rPr>
              <a:t>Якутия</a:t>
            </a:r>
          </a:p>
        </p:txBody>
      </p:sp>
      <p:sp>
        <p:nvSpPr>
          <p:cNvPr id="37" name="Мини слой 3"/>
          <p:cNvSpPr/>
          <p:nvPr/>
        </p:nvSpPr>
        <p:spPr>
          <a:xfrm>
            <a:off x="4814316" y="2468879"/>
            <a:ext cx="2560320" cy="2560320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Мини слой 2"/>
          <p:cNvSpPr/>
          <p:nvPr/>
        </p:nvSpPr>
        <p:spPr>
          <a:xfrm>
            <a:off x="5180076" y="2834639"/>
            <a:ext cx="1828800" cy="1828800"/>
          </a:xfrm>
          <a:prstGeom prst="ellipse">
            <a:avLst/>
          </a:prstGeom>
          <a:solidFill>
            <a:srgbClr val="4B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Мини слой 1"/>
          <p:cNvSpPr/>
          <p:nvPr/>
        </p:nvSpPr>
        <p:spPr>
          <a:xfrm>
            <a:off x="5527548" y="3182111"/>
            <a:ext cx="1133856" cy="1133856"/>
          </a:xfrm>
          <a:prstGeom prst="ellipse">
            <a:avLst/>
          </a:prstGeom>
          <a:solidFill>
            <a:srgbClr val="FFF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Мини тело"/>
          <p:cNvSpPr/>
          <p:nvPr/>
        </p:nvSpPr>
        <p:spPr>
          <a:xfrm>
            <a:off x="5838444" y="3493007"/>
            <a:ext cx="512064" cy="512064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45836" y="3621023"/>
            <a:ext cx="1097280" cy="256032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/>
            <a:r>
              <a:rPr sz="1000" b="1">
                <a:solidFill>
                  <a:srgbClr val="2B2B2B"/>
                </a:solidFill>
                <a:latin typeface="Calibri"/>
              </a:rPr>
              <a:t>ТЕЛО</a:t>
            </a:r>
          </a:p>
        </p:txBody>
      </p:sp>
      <p:sp>
        <p:nvSpPr>
          <p:cNvPr id="42" name="Мини подпись 1 · база"/>
          <p:cNvSpPr txBox="1"/>
          <p:nvPr/>
        </p:nvSpPr>
        <p:spPr>
          <a:xfrm>
            <a:off x="5545836" y="3227831"/>
            <a:ext cx="1097280" cy="2286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/>
            <a:r>
              <a:rPr sz="1000" b="1">
                <a:solidFill>
                  <a:srgbClr val="2B2B2B"/>
                </a:solidFill>
                <a:latin typeface="Calibri"/>
              </a:rPr>
              <a:t>1 · база</a:t>
            </a:r>
          </a:p>
        </p:txBody>
      </p:sp>
      <p:sp>
        <p:nvSpPr>
          <p:cNvPr id="43" name="Мини подпись 2 · тепло"/>
          <p:cNvSpPr txBox="1"/>
          <p:nvPr/>
        </p:nvSpPr>
        <p:spPr>
          <a:xfrm>
            <a:off x="5545836" y="2898647"/>
            <a:ext cx="1097280" cy="2286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 · тепло</a:t>
            </a:r>
          </a:p>
        </p:txBody>
      </p:sp>
      <p:sp>
        <p:nvSpPr>
          <p:cNvPr id="44" name="Мини подпись 3 · защита"/>
          <p:cNvSpPr txBox="1"/>
          <p:nvPr/>
        </p:nvSpPr>
        <p:spPr>
          <a:xfrm>
            <a:off x="5545836" y="2542031"/>
            <a:ext cx="1097280" cy="22860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 · защита</a:t>
            </a:r>
          </a:p>
        </p:txBody>
      </p:sp>
      <p:sp>
        <p:nvSpPr>
          <p:cNvPr id="45" name="Мини вывод слоёв"/>
          <p:cNvSpPr txBox="1"/>
          <p:nvPr/>
        </p:nvSpPr>
        <p:spPr>
          <a:xfrm>
            <a:off x="4425696" y="5074920"/>
            <a:ext cx="3337560" cy="36576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ctr"/>
            <a:r>
              <a:rPr sz="1200" b="1">
                <a:solidFill>
                  <a:srgbClr val="2B2B2B"/>
                </a:solidFill>
                <a:latin typeface="Calibri"/>
              </a:rPr>
              <a:t>Сухо, свободно, слоями; без хлопка</a:t>
            </a:r>
          </a:p>
        </p:txBody>
      </p:sp>
      <p:graphicFrame>
        <p:nvGraphicFramePr>
          <p:cNvPr id="46" name="Мини таблица режимов"/>
          <p:cNvGraphicFramePr>
            <a:graphicFrameLocks noGrp="1"/>
          </p:cNvGraphicFramePr>
          <p:nvPr/>
        </p:nvGraphicFramePr>
        <p:xfrm>
          <a:off x="8211312" y="2194560"/>
          <a:ext cx="33375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ED00"/>
                          </a:solidFill>
                          <a:latin typeface="Calibri"/>
                        </a:rPr>
                        <a:t>Воздух, °C</a:t>
                      </a:r>
                    </a:p>
                  </a:txBody>
                  <a:tcPr anchor="ctr"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ED00"/>
                          </a:solidFill>
                          <a:latin typeface="Calibri"/>
                        </a:rPr>
                        <a:t>Работа</a:t>
                      </a:r>
                    </a:p>
                  </a:txBody>
                  <a:tcPr anchor="ctr"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ED00"/>
                          </a:solidFill>
                          <a:latin typeface="Calibri"/>
                        </a:rPr>
                        <a:t>Обогрев</a:t>
                      </a:r>
                    </a:p>
                  </a:txBody>
                  <a:tcPr anchor="ctr">
                    <a:solidFill>
                      <a:srgbClr val="2B2B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B2B2B"/>
                          </a:solidFill>
                          <a:latin typeface="Calibri"/>
                        </a:rPr>
                        <a:t>0…−10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B2B2B"/>
                          </a:solidFill>
                          <a:latin typeface="Calibri"/>
                        </a:rPr>
                        <a:t>−10…−20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B2B2B"/>
                          </a:solidFill>
                          <a:latin typeface="Calibri"/>
                        </a:rPr>
                        <a:t>−20…−30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B2B2B"/>
                          </a:solidFill>
                          <a:latin typeface="Calibri"/>
                        </a:rPr>
                        <a:t>−30…−40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B2B2B"/>
                          </a:solidFill>
                          <a:latin typeface="Calibri"/>
                        </a:rPr>
                        <a:t>−40…−50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47" name="Мини примечание"/>
          <p:cNvSpPr txBox="1"/>
          <p:nvPr/>
        </p:nvSpPr>
        <p:spPr>
          <a:xfrm>
            <a:off x="8211312" y="5029200"/>
            <a:ext cx="3337560" cy="41148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100" b="0">
                <a:solidFill>
                  <a:srgbClr val="4B4B4B"/>
                </a:solidFill>
                <a:latin typeface="Calibri"/>
              </a:rPr>
              <a:t>Минуты. Ниже −50 °C — только аварийные работы</a:t>
            </a:r>
          </a:p>
        </p:txBody>
      </p:sp>
      <p:sp>
        <p:nvSpPr>
          <p:cNvPr id="48" name="Девиз плаката"/>
          <p:cNvSpPr/>
          <p:nvPr/>
        </p:nvSpPr>
        <p:spPr>
          <a:xfrm>
            <a:off x="502920" y="566928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2000" b="1">
                <a:solidFill>
                  <a:srgbClr val="FFED00"/>
                </a:solidFill>
                <a:latin typeface="Calibri"/>
              </a:rPr>
              <a:t>СУХО  ·  СЛОЯМИ  ·  ПАРАМИ  ·  ПО ГРАФИКУ  ·  НА СВЯЗИ</a:t>
            </a:r>
          </a:p>
        </p:txBody>
      </p:sp>
    </p:spTree>
    <p:extLst>
      <p:ext uri="{BB962C8B-B14F-4D97-AF65-F5344CB8AC3E}">
        <p14:creationId xmlns:p14="http://schemas.microsoft.com/office/powerpoint/2010/main" val="527513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4B4B4B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85233" y="919839"/>
            <a:ext cx="105748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cs typeface="Arial" panose="020B0604020202020204" pitchFamily="34" charset="0"/>
              </a:rPr>
              <a:t>ПЕРВАЯ ПОМОЩЬ</a:t>
            </a: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95" y="141442"/>
            <a:ext cx="3185962" cy="351041"/>
          </a:xfrm>
          <a:prstGeom prst="rect">
            <a:avLst/>
          </a:prstGeom>
        </p:spPr>
      </p:pic>
      <p:sp>
        <p:nvSpPr>
          <p:cNvPr id="28" name="Прямоугольник 27"/>
          <p:cNvSpPr/>
          <p:nvPr/>
        </p:nvSpPr>
        <p:spPr>
          <a:xfrm>
            <a:off x="8483138" y="105291"/>
            <a:ext cx="34733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ru-RU" sz="1600" b="1" dirty="0">
                <a:solidFill>
                  <a:schemeClr val="bg1"/>
                </a:solidFill>
              </a:rPr>
              <a:t>БЕЗОПАСНОСТЬ НА СЕВЕРЕ</a:t>
            </a:r>
          </a:p>
        </p:txBody>
      </p:sp>
      <p:sp>
        <p:nvSpPr>
          <p:cNvPr id="29" name="Переохлаждение"/>
          <p:cNvSpPr/>
          <p:nvPr/>
        </p:nvSpPr>
        <p:spPr>
          <a:xfrm>
            <a:off x="594360" y="1783080"/>
            <a:ext cx="5394960" cy="3246120"/>
          </a:xfrm>
          <a:prstGeom prst="roundRect">
            <a:avLst>
              <a:gd name="adj" fmla="val 8000"/>
            </a:avLst>
          </a:prstGeom>
          <a:solidFill>
            <a:srgbClr val="4B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1892807"/>
            <a:ext cx="5120640" cy="36576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600" b="1">
                <a:solidFill>
                  <a:srgbClr val="FFED00"/>
                </a:solidFill>
                <a:latin typeface="Calibri"/>
              </a:rPr>
              <a:t>Переохлаждение</a:t>
            </a:r>
          </a:p>
        </p:txBody>
      </p:sp>
      <p:sp>
        <p:nvSpPr>
          <p:cNvPr id="31" name="Переохлаждение список"/>
          <p:cNvSpPr txBox="1"/>
          <p:nvPr/>
        </p:nvSpPr>
        <p:spPr>
          <a:xfrm>
            <a:off x="731520" y="2350008"/>
            <a:ext cx="5120640" cy="2606039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>
              <a:spcAft>
                <a:spcPts val="1800"/>
              </a:spcAft>
            </a:pPr>
            <a:r>
              <a:rPr sz="1000" b="0">
                <a:solidFill>
                  <a:srgbClr val="FFED00"/>
                </a:solidFill>
                <a:latin typeface="Calibri"/>
              </a:rPr>
              <a:t>■  </a:t>
            </a:r>
            <a:r>
              <a:rPr sz="1700" b="0">
                <a:solidFill>
                  <a:srgbClr val="FFFFFF"/>
                </a:solidFill>
                <a:latin typeface="Calibri"/>
              </a:rPr>
              <a:t>В тепло, снять мокрую одежду, укутать</a:t>
            </a:r>
          </a:p>
          <a:p>
            <a:pPr algn="l">
              <a:spcAft>
                <a:spcPts val="1800"/>
              </a:spcAft>
            </a:pPr>
            <a:r>
              <a:rPr sz="1000" b="0">
                <a:solidFill>
                  <a:srgbClr val="FFED00"/>
                </a:solidFill>
                <a:latin typeface="Calibri"/>
              </a:rPr>
              <a:t>■  </a:t>
            </a:r>
            <a:r>
              <a:rPr sz="1700" b="0">
                <a:solidFill>
                  <a:srgbClr val="FFFFFF"/>
                </a:solidFill>
                <a:latin typeface="Calibri"/>
              </a:rPr>
              <a:t>Тёплое сладкое питьё, если человек в сознании</a:t>
            </a:r>
          </a:p>
          <a:p>
            <a:pPr algn="l">
              <a:spcAft>
                <a:spcPts val="1800"/>
              </a:spcAft>
            </a:pPr>
            <a:r>
              <a:rPr sz="1000" b="0">
                <a:solidFill>
                  <a:srgbClr val="FFED00"/>
                </a:solidFill>
                <a:latin typeface="Calibri"/>
              </a:rPr>
              <a:t>■  </a:t>
            </a:r>
            <a:r>
              <a:rPr sz="1700" b="0">
                <a:solidFill>
                  <a:srgbClr val="FFFFFF"/>
                </a:solidFill>
                <a:latin typeface="Calibri"/>
              </a:rPr>
              <a:t>Не давать алкоголь, не растирать</a:t>
            </a:r>
          </a:p>
          <a:p>
            <a:pPr algn="l">
              <a:spcAft>
                <a:spcPts val="1800"/>
              </a:spcAft>
            </a:pPr>
            <a:r>
              <a:rPr sz="1000" b="0">
                <a:solidFill>
                  <a:srgbClr val="FFED00"/>
                </a:solidFill>
                <a:latin typeface="Calibri"/>
              </a:rPr>
              <a:t>■  </a:t>
            </a:r>
            <a:r>
              <a:rPr sz="1700" b="0">
                <a:solidFill>
                  <a:srgbClr val="FFFFFF"/>
                </a:solidFill>
                <a:latin typeface="Calibri"/>
              </a:rPr>
              <a:t>Если сознание нарушено — срочно вызвать помощь</a:t>
            </a:r>
          </a:p>
        </p:txBody>
      </p:sp>
      <p:sp>
        <p:nvSpPr>
          <p:cNvPr id="32" name="Отморожение"/>
          <p:cNvSpPr/>
          <p:nvPr/>
        </p:nvSpPr>
        <p:spPr>
          <a:xfrm>
            <a:off x="6217920" y="1783080"/>
            <a:ext cx="5394960" cy="3246120"/>
          </a:xfrm>
          <a:prstGeom prst="roundRect">
            <a:avLst>
              <a:gd name="adj" fmla="val 8000"/>
            </a:avLst>
          </a:prstGeom>
          <a:solidFill>
            <a:srgbClr val="4B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1892807"/>
            <a:ext cx="5120640" cy="365760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/>
            <a:r>
              <a:rPr sz="1600" b="1">
                <a:solidFill>
                  <a:srgbClr val="FFED00"/>
                </a:solidFill>
                <a:latin typeface="Calibri"/>
              </a:rPr>
              <a:t>Отморожение</a:t>
            </a:r>
          </a:p>
        </p:txBody>
      </p:sp>
      <p:sp>
        <p:nvSpPr>
          <p:cNvPr id="34" name="Отморожение список"/>
          <p:cNvSpPr txBox="1"/>
          <p:nvPr/>
        </p:nvSpPr>
        <p:spPr>
          <a:xfrm>
            <a:off x="6355080" y="2350008"/>
            <a:ext cx="5120640" cy="2606039"/>
          </a:xfrm>
          <a:prstGeom prst="rect">
            <a:avLst/>
          </a:prstGeom>
          <a:noFill/>
        </p:spPr>
        <p:txBody>
          <a:bodyPr wrap="square" anchor="t" lIns="18288" rIns="18288" tIns="27432" bIns="27432">
            <a:spAutoFit/>
          </a:bodyPr>
          <a:lstStyle/>
          <a:p>
            <a:pPr algn="l">
              <a:spcAft>
                <a:spcPts val="1800"/>
              </a:spcAft>
            </a:pPr>
            <a:r>
              <a:rPr sz="1000" b="0">
                <a:solidFill>
                  <a:srgbClr val="FFED00"/>
                </a:solidFill>
                <a:latin typeface="Calibri"/>
              </a:rPr>
              <a:t>■  </a:t>
            </a:r>
            <a:r>
              <a:rPr sz="1700" b="0">
                <a:solidFill>
                  <a:srgbClr val="FFFFFF"/>
                </a:solidFill>
                <a:latin typeface="Calibri"/>
              </a:rPr>
              <a:t>Уйти в тепло, снять кольца и тесную обувь</a:t>
            </a:r>
          </a:p>
          <a:p>
            <a:pPr algn="l">
              <a:spcAft>
                <a:spcPts val="1800"/>
              </a:spcAft>
            </a:pPr>
            <a:r>
              <a:rPr sz="1000" b="0">
                <a:solidFill>
                  <a:srgbClr val="FFED00"/>
                </a:solidFill>
                <a:latin typeface="Calibri"/>
              </a:rPr>
              <a:t>■  </a:t>
            </a:r>
            <a:r>
              <a:rPr sz="1700" b="0">
                <a:solidFill>
                  <a:srgbClr val="FFFFFF"/>
                </a:solidFill>
                <a:latin typeface="Calibri"/>
              </a:rPr>
              <a:t>Не растирать снегом, не греть у огня</a:t>
            </a:r>
          </a:p>
          <a:p>
            <a:pPr algn="l">
              <a:spcAft>
                <a:spcPts val="1800"/>
              </a:spcAft>
            </a:pPr>
            <a:r>
              <a:rPr sz="1000" b="0">
                <a:solidFill>
                  <a:srgbClr val="FFED00"/>
                </a:solidFill>
                <a:latin typeface="Calibri"/>
              </a:rPr>
              <a:t>■  </a:t>
            </a:r>
            <a:r>
              <a:rPr sz="1700" b="0">
                <a:solidFill>
                  <a:srgbClr val="FFFFFF"/>
                </a:solidFill>
                <a:latin typeface="Calibri"/>
              </a:rPr>
              <a:t>Согреть тёплой, не горячей водой, сухая повязка</a:t>
            </a:r>
          </a:p>
          <a:p>
            <a:pPr algn="l">
              <a:spcAft>
                <a:spcPts val="1800"/>
              </a:spcAft>
            </a:pPr>
            <a:r>
              <a:rPr sz="1000" b="0">
                <a:solidFill>
                  <a:srgbClr val="FFED00"/>
                </a:solidFill>
                <a:latin typeface="Calibri"/>
              </a:rPr>
              <a:t>■  </a:t>
            </a:r>
            <a:r>
              <a:rPr sz="1700" b="0">
                <a:solidFill>
                  <a:srgbClr val="FFFFFF"/>
                </a:solidFill>
                <a:latin typeface="Calibri"/>
              </a:rPr>
              <a:t>Показать врачу, даже если боль прошла</a:t>
            </a:r>
          </a:p>
        </p:txBody>
      </p:sp>
      <p:sp>
        <p:nvSpPr>
          <p:cNvPr id="35" name="Вызов помощи"/>
          <p:cNvSpPr/>
          <p:nvPr/>
        </p:nvSpPr>
        <p:spPr>
          <a:xfrm>
            <a:off x="594360" y="5257800"/>
            <a:ext cx="11018520" cy="960120"/>
          </a:xfrm>
          <a:prstGeom prst="roundRect">
            <a:avLst>
              <a:gd name="adj" fmla="val 8000"/>
            </a:avLst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600" b="1">
                <a:solidFill>
                  <a:srgbClr val="2B2B2B"/>
                </a:solidFill>
                <a:latin typeface="Calibri"/>
              </a:rPr>
              <a:t>Вызов помощи: 112. </a:t>
            </a:r>
            <a:r>
              <a:rPr sz="1600" b="0">
                <a:solidFill>
                  <a:srgbClr val="2B2B2B"/>
                </a:solidFill>
                <a:latin typeface="Calibri"/>
              </a:rPr>
              <a:t>Не оставляйте пострадавшего одного и сообщите точное место и время холодового воздействия</a:t>
            </a:r>
          </a:p>
        </p:txBody>
      </p:sp>
    </p:spTree>
    <p:extLst>
      <p:ext uri="{BB962C8B-B14F-4D97-AF65-F5344CB8AC3E}">
        <p14:creationId xmlns:p14="http://schemas.microsoft.com/office/powerpoint/2010/main" val="1123883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97165" y="2978931"/>
            <a:ext cx="4907902" cy="990698"/>
          </a:xfrm>
        </p:spPr>
        <p:txBody>
          <a:bodyPr>
            <a:normAutofit/>
          </a:bodyPr>
          <a:lstStyle/>
          <a:p>
            <a:pPr algn="l"/>
            <a:r>
              <a:rPr lang="ru-RU" sz="4000" dirty="0">
                <a:latin typeface="Druk Wide Cyr" pitchFamily="50" charset="-52"/>
              </a:rPr>
              <a:t>Выводы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65589" y="5437059"/>
            <a:ext cx="4447592" cy="652722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latin typeface="Mabry Pro" panose="020D0503040002040303" pitchFamily="34" charset="0"/>
              </a:rPr>
              <a:t>Север не прощает ошибок: готовьтесь заранее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748" y="461707"/>
            <a:ext cx="5185009" cy="198913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318504" y="1060704"/>
            <a:ext cx="438912" cy="438912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>
                <a:solidFill>
                  <a:srgbClr val="2B2B2B"/>
                </a:solidFill>
                <a:latin typeface="Calibri"/>
              </a:rPr>
              <a:t>1</a:t>
            </a:r>
          </a:p>
        </p:txBody>
      </p:sp>
      <p:sp>
        <p:nvSpPr>
          <p:cNvPr id="6" name="Вывод 1"/>
          <p:cNvSpPr txBox="1"/>
          <p:nvPr/>
        </p:nvSpPr>
        <p:spPr>
          <a:xfrm>
            <a:off x="6903720" y="914400"/>
            <a:ext cx="4754880" cy="77724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Calibri"/>
              </a:rPr>
              <a:t>Знайте зону: от неё зависят холод, ночь и нормы</a:t>
            </a:r>
          </a:p>
        </p:txBody>
      </p:sp>
      <p:sp>
        <p:nvSpPr>
          <p:cNvPr id="7" name="Oval 6"/>
          <p:cNvSpPr/>
          <p:nvPr/>
        </p:nvSpPr>
        <p:spPr>
          <a:xfrm>
            <a:off x="6318504" y="2066543"/>
            <a:ext cx="438912" cy="438912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>
                <a:solidFill>
                  <a:srgbClr val="2B2B2B"/>
                </a:solidFill>
                <a:latin typeface="Calibri"/>
              </a:rPr>
              <a:t>2</a:t>
            </a:r>
          </a:p>
        </p:txBody>
      </p:sp>
      <p:sp>
        <p:nvSpPr>
          <p:cNvPr id="8" name="Вывод 2"/>
          <p:cNvSpPr txBox="1"/>
          <p:nvPr/>
        </p:nvSpPr>
        <p:spPr>
          <a:xfrm>
            <a:off x="6903720" y="1920240"/>
            <a:ext cx="4754880" cy="77724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Calibri"/>
              </a:rPr>
              <a:t>Холод плюс ветер опаснее, чем показывает термометр</a:t>
            </a:r>
          </a:p>
        </p:txBody>
      </p:sp>
      <p:sp>
        <p:nvSpPr>
          <p:cNvPr id="9" name="Oval 8"/>
          <p:cNvSpPr/>
          <p:nvPr/>
        </p:nvSpPr>
        <p:spPr>
          <a:xfrm>
            <a:off x="6318504" y="3072384"/>
            <a:ext cx="438912" cy="438912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>
                <a:solidFill>
                  <a:srgbClr val="2B2B2B"/>
                </a:solidFill>
                <a:latin typeface="Calibri"/>
              </a:rPr>
              <a:t>3</a:t>
            </a:r>
          </a:p>
        </p:txBody>
      </p:sp>
      <p:sp>
        <p:nvSpPr>
          <p:cNvPr id="10" name="Вывод 3"/>
          <p:cNvSpPr txBox="1"/>
          <p:nvPr/>
        </p:nvSpPr>
        <p:spPr>
          <a:xfrm>
            <a:off x="6903720" y="2926080"/>
            <a:ext cx="4754880" cy="77724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Calibri"/>
              </a:rPr>
              <a:t>Одевайтесь слоями и держите тело сухим</a:t>
            </a:r>
          </a:p>
        </p:txBody>
      </p:sp>
      <p:sp>
        <p:nvSpPr>
          <p:cNvPr id="11" name="Oval 10"/>
          <p:cNvSpPr/>
          <p:nvPr/>
        </p:nvSpPr>
        <p:spPr>
          <a:xfrm>
            <a:off x="6318504" y="4078224"/>
            <a:ext cx="438912" cy="438912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>
                <a:solidFill>
                  <a:srgbClr val="2B2B2B"/>
                </a:solidFill>
                <a:latin typeface="Calibri"/>
              </a:rPr>
              <a:t>4</a:t>
            </a:r>
          </a:p>
        </p:txBody>
      </p:sp>
      <p:sp>
        <p:nvSpPr>
          <p:cNvPr id="12" name="Вывод 4"/>
          <p:cNvSpPr txBox="1"/>
          <p:nvPr/>
        </p:nvSpPr>
        <p:spPr>
          <a:xfrm>
            <a:off x="6903720" y="3931920"/>
            <a:ext cx="4754880" cy="77724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Calibri"/>
              </a:rPr>
              <a:t>Работайте по графику с обогревом и в паре</a:t>
            </a:r>
          </a:p>
        </p:txBody>
      </p:sp>
      <p:sp>
        <p:nvSpPr>
          <p:cNvPr id="13" name="Oval 12"/>
          <p:cNvSpPr/>
          <p:nvPr/>
        </p:nvSpPr>
        <p:spPr>
          <a:xfrm>
            <a:off x="6318504" y="5084064"/>
            <a:ext cx="438912" cy="438912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>
                <a:solidFill>
                  <a:srgbClr val="2B2B2B"/>
                </a:solidFill>
                <a:latin typeface="Calibri"/>
              </a:rPr>
              <a:t>5</a:t>
            </a:r>
          </a:p>
        </p:txBody>
      </p:sp>
      <p:sp>
        <p:nvSpPr>
          <p:cNvPr id="14" name="Вывод 5"/>
          <p:cNvSpPr txBox="1"/>
          <p:nvPr/>
        </p:nvSpPr>
        <p:spPr>
          <a:xfrm>
            <a:off x="6903720" y="4937760"/>
            <a:ext cx="4754880" cy="77724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Calibri"/>
              </a:rPr>
              <a:t>В полярную ночь и в изоляции: свет, режим, связь, запас</a:t>
            </a:r>
          </a:p>
        </p:txBody>
      </p:sp>
    </p:spTree>
    <p:extLst>
      <p:ext uri="{BB962C8B-B14F-4D97-AF65-F5344CB8AC3E}">
        <p14:creationId xmlns:p14="http://schemas.microsoft.com/office/powerpoint/2010/main" val="3686358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7988" y="765175"/>
            <a:ext cx="10515600" cy="681885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Источники и нормативная база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330738" y="132112"/>
            <a:ext cx="34733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ru-RU" sz="1600" b="1" dirty="0">
                <a:solidFill>
                  <a:schemeClr val="bg1"/>
                </a:solidFill>
              </a:rPr>
              <a:t>БЕЗОПАСНОСТЬ НА СЕВЕРЕ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-2992"/>
            <a:ext cx="12192000" cy="57140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95" y="141442"/>
            <a:ext cx="3185962" cy="351041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03504" y="1856232"/>
            <a:ext cx="438912" cy="438912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500" b="1">
                <a:solidFill>
                  <a:srgbClr val="2B2B2B"/>
                </a:solidFill>
                <a:latin typeface="Calibri"/>
              </a:rPr>
              <a:t>1</a:t>
            </a:r>
          </a:p>
        </p:txBody>
      </p:sp>
      <p:sp>
        <p:nvSpPr>
          <p:cNvPr id="11" name="Источник 1"/>
          <p:cNvSpPr txBox="1"/>
          <p:nvPr/>
        </p:nvSpPr>
        <p:spPr>
          <a:xfrm>
            <a:off x="1234440" y="1737360"/>
            <a:ext cx="10332720" cy="77724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Calibri"/>
              </a:rPr>
              <a:t>Трудовой кодекс РФ: гарантии для работающих в районах Крайнего Севера (гл. 50), ст. 109 (перерывы для обогревания и отдыха)</a:t>
            </a:r>
          </a:p>
        </p:txBody>
      </p:sp>
      <p:sp>
        <p:nvSpPr>
          <p:cNvPr id="12" name="Oval 11"/>
          <p:cNvSpPr/>
          <p:nvPr/>
        </p:nvSpPr>
        <p:spPr>
          <a:xfrm>
            <a:off x="603504" y="2724911"/>
            <a:ext cx="438912" cy="438912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500" b="1">
                <a:solidFill>
                  <a:srgbClr val="2B2B2B"/>
                </a:solidFill>
                <a:latin typeface="Calibri"/>
              </a:rPr>
              <a:t>2</a:t>
            </a:r>
          </a:p>
        </p:txBody>
      </p:sp>
      <p:sp>
        <p:nvSpPr>
          <p:cNvPr id="13" name="Источник 2"/>
          <p:cNvSpPr txBox="1"/>
          <p:nvPr/>
        </p:nvSpPr>
        <p:spPr>
          <a:xfrm>
            <a:off x="1234440" y="2606039"/>
            <a:ext cx="10332720" cy="77724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Calibri"/>
              </a:rPr>
              <a:t>МР 2.2.7.2129-06 «Режимы труда и отдыха работающих в холодное время года на открытой территории или в неотапливаемых помещениях»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" y="3593591"/>
            <a:ext cx="438912" cy="438912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500" b="1">
                <a:solidFill>
                  <a:srgbClr val="2B2B2B"/>
                </a:solidFill>
                <a:latin typeface="Calibri"/>
              </a:rPr>
              <a:t>3</a:t>
            </a:r>
          </a:p>
        </p:txBody>
      </p:sp>
      <p:sp>
        <p:nvSpPr>
          <p:cNvPr id="15" name="Источник 3"/>
          <p:cNvSpPr txBox="1"/>
          <p:nvPr/>
        </p:nvSpPr>
        <p:spPr>
          <a:xfrm>
            <a:off x="1234440" y="3474720"/>
            <a:ext cx="10332720" cy="77724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Calibri"/>
              </a:rPr>
              <a:t>Перечень районов Крайнего Севера и приравненных к ним местностей (постановление Совмина СССР № 1029 от 10.11.1967 с изменениями)</a:t>
            </a:r>
          </a:p>
        </p:txBody>
      </p:sp>
      <p:sp>
        <p:nvSpPr>
          <p:cNvPr id="16" name="Oval 15"/>
          <p:cNvSpPr/>
          <p:nvPr/>
        </p:nvSpPr>
        <p:spPr>
          <a:xfrm>
            <a:off x="603504" y="4462272"/>
            <a:ext cx="438912" cy="438912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500" b="1">
                <a:solidFill>
                  <a:srgbClr val="2B2B2B"/>
                </a:solidFill>
                <a:latin typeface="Calibri"/>
              </a:rPr>
              <a:t>4</a:t>
            </a:r>
          </a:p>
        </p:txBody>
      </p:sp>
      <p:sp>
        <p:nvSpPr>
          <p:cNvPr id="17" name="Источник 4"/>
          <p:cNvSpPr txBox="1"/>
          <p:nvPr/>
        </p:nvSpPr>
        <p:spPr>
          <a:xfrm>
            <a:off x="1234440" y="4343400"/>
            <a:ext cx="10332720" cy="77724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Calibri"/>
              </a:rPr>
              <a:t>Индекс ветро-холодового охлаждения JAG/TI (Environment Canada, NWS, 2001)</a:t>
            </a:r>
          </a:p>
        </p:txBody>
      </p:sp>
      <p:sp>
        <p:nvSpPr>
          <p:cNvPr id="18" name="Oval 17"/>
          <p:cNvSpPr/>
          <p:nvPr/>
        </p:nvSpPr>
        <p:spPr>
          <a:xfrm>
            <a:off x="603504" y="5330951"/>
            <a:ext cx="438912" cy="438912"/>
          </a:xfrm>
          <a:prstGeom prst="ellipse">
            <a:avLst/>
          </a:prstGeom>
          <a:solidFill>
            <a:srgbClr val="FFE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500" b="1">
                <a:solidFill>
                  <a:srgbClr val="2B2B2B"/>
                </a:solidFill>
                <a:latin typeface="Calibri"/>
              </a:rPr>
              <a:t>5</a:t>
            </a:r>
          </a:p>
        </p:txBody>
      </p:sp>
      <p:sp>
        <p:nvSpPr>
          <p:cNvPr id="19" name="Источник 5"/>
          <p:cNvSpPr txBox="1"/>
          <p:nvPr/>
        </p:nvSpPr>
        <p:spPr>
          <a:xfrm>
            <a:off x="1234440" y="5212079"/>
            <a:ext cx="10332720" cy="77724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l"/>
            <a:r>
              <a:rPr sz="1800" b="0">
                <a:solidFill>
                  <a:srgbClr val="2B2B2B"/>
                </a:solidFill>
                <a:latin typeface="Calibri"/>
              </a:rPr>
              <a:t>Данные Росгидромета о климате Оймякона, Норильска, Мурманска</a:t>
            </a:r>
          </a:p>
        </p:txBody>
      </p:sp>
      <p:sp>
        <p:nvSpPr>
          <p:cNvPr id="20" name="Оговорка"/>
          <p:cNvSpPr txBox="1"/>
          <p:nvPr/>
        </p:nvSpPr>
        <p:spPr>
          <a:xfrm>
            <a:off x="594360" y="608076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</a:rPr>
              <a:t>Числовые режимы на плакате — ориентир; перед применением сверяйте с действующими нормами и локальными актами.</a:t>
            </a:r>
          </a:p>
        </p:txBody>
      </p:sp>
    </p:spTree>
    <p:extLst>
      <p:ext uri="{BB962C8B-B14F-4D97-AF65-F5344CB8AC3E}">
        <p14:creationId xmlns:p14="http://schemas.microsoft.com/office/powerpoint/2010/main" val="5275131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331E3F"/>
      </a:dk1>
      <a:lt1>
        <a:srgbClr val="FFFAF3"/>
      </a:lt1>
      <a:dk2>
        <a:srgbClr val="C5144C"/>
      </a:dk2>
      <a:lt2>
        <a:srgbClr val="FF7140"/>
      </a:lt2>
      <a:accent1>
        <a:srgbClr val="FFB0BF"/>
      </a:accent1>
      <a:accent2>
        <a:srgbClr val="FF8E9E"/>
      </a:accent2>
      <a:accent3>
        <a:srgbClr val="FFA39A"/>
      </a:accent3>
      <a:accent4>
        <a:srgbClr val="FFD6C8"/>
      </a:accent4>
      <a:accent5>
        <a:srgbClr val="6E0A2A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337</Words>
  <Application>Microsoft Office PowerPoint</Application>
  <PresentationFormat>Широкоэкранный</PresentationFormat>
  <Paragraphs>85</Paragraphs>
  <Slides>21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21</vt:i4>
      </vt:variant>
    </vt:vector>
  </HeadingPairs>
  <TitlesOfParts>
    <vt:vector size="33" baseType="lpstr">
      <vt:lpstr>Amatic SC</vt:lpstr>
      <vt:lpstr>Arial</vt:lpstr>
      <vt:lpstr>Calibri</vt:lpstr>
      <vt:lpstr>Calibri Light</vt:lpstr>
      <vt:lpstr>Druk Wide Cyr</vt:lpstr>
      <vt:lpstr>Mabry Pro</vt:lpstr>
      <vt:lpstr>Proxima Nova</vt:lpstr>
      <vt:lpstr>Roboto Medium</vt:lpstr>
      <vt:lpstr>Times New Roman</vt:lpstr>
      <vt:lpstr>Wingdings</vt:lpstr>
      <vt:lpstr>Тема Office</vt:lpstr>
      <vt:lpstr>Slidesgo Final Pages</vt:lpstr>
      <vt:lpstr>Презентация PowerPoint</vt:lpstr>
      <vt:lpstr>Название слайда</vt:lpstr>
      <vt:lpstr>Презентация PowerPoint</vt:lpstr>
      <vt:lpstr>Презентация PowerPoint</vt:lpstr>
      <vt:lpstr>Слайд</vt:lpstr>
      <vt:lpstr>Заголовок</vt:lpstr>
      <vt:lpstr>Слайд</vt:lpstr>
      <vt:lpstr>Слайд</vt:lpstr>
      <vt:lpstr>Use our editable graphic resources...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...and our sets of editable icons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</dc:title>
  <dc:creator>Щекатурова Екатерина Юрьевна</dc:creator>
  <cp:lastModifiedBy>Алексей</cp:lastModifiedBy>
  <cp:revision>7</cp:revision>
  <dcterms:created xsi:type="dcterms:W3CDTF">2024-06-07T11:08:18Z</dcterms:created>
  <dcterms:modified xsi:type="dcterms:W3CDTF">2025-08-29T11:14:13Z</dcterms:modified>
</cp:coreProperties>
</file>